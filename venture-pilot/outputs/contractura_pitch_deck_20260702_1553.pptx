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excited to introduce you to Contractura, the solution designed specifically for freelancers to draft and manage contracts efficiently. Let me take you through the challenges we solve and how we plan to change the game for independent consultants.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Freelancers often find themselves in stressful positions due to unclear contractual agreements. The statistics reflect a widespread issue that needs addressing, and that’s exactly why we’ve created Contractura.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Contractura, freelancers can draft contracts instantly, backed by smart review features. You're not just writing contracts; you're safeguarding your income.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brief look at our product. We’ve prioritized user experience and clarity in every feature, ensuring that even those without legal training can navigate contracts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LegalTech landscape is rapidly evolving, and with it comes immense opportunity. Our target market is expanding as more freelancers turn to digital solutions for contract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pricing strategy reflects our commitment to affordability for freelancers while ensuring high lifetime value and effective customer acquisition costs.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already demonstrated that there's a demand for our solution — with positive feedback and traction that exceeded our expectations thus far.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competitors have strengths, none directly address the freelancer’s needs with AI-driven solutions that streamline contract processes. This is where we excel.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go-to-market strategy is highly focused, leveraging community outreach and personal engagement initially, followed by organic growth methods to sustain momentum.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our company is our team. We build solutions that we wish we had when we were freelancing!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financials show we're on a strong path with solid metrics. We intend to maintain our lean model and scale appropriately with user growth.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self-funded at the moment, but we’re excited about the potential to expand into this vibrant market. Influence the future of freelance work with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1280160"/>
          </a:xfrm>
          <a:prstGeom prst="rect">
            <a:avLst/>
          </a:prstGeom>
          <a:noFill/>
        </p:spPr>
        <p:txBody>
          <a:bodyPr wrap="square">
            <a:spAutoFit/>
          </a:bodyPr>
          <a:lstStyle/>
          <a:p>
            <a:pPr algn="l"/>
            <a:r>
              <a:rPr sz="6400" b="1" i="0">
                <a:solidFill>
                  <a:srgbClr val="FFFFFF"/>
                </a:solidFill>
              </a:rPr>
              <a:t>Contractura</a:t>
            </a:r>
          </a:p>
        </p:txBody>
      </p:sp>
      <p:sp>
        <p:nvSpPr>
          <p:cNvPr id="5" name="TextBox 4"/>
          <p:cNvSpPr txBox="1"/>
          <p:nvPr/>
        </p:nvSpPr>
        <p:spPr>
          <a:xfrm>
            <a:off x="548640" y="2743200"/>
            <a:ext cx="9144000" cy="548640"/>
          </a:xfrm>
          <a:prstGeom prst="rect">
            <a:avLst/>
          </a:prstGeom>
          <a:noFill/>
        </p:spPr>
        <p:txBody>
          <a:bodyPr wrap="square">
            <a:spAutoFit/>
          </a:bodyPr>
          <a:lstStyle/>
          <a:p>
            <a:pPr algn="l"/>
            <a:r>
              <a:rPr sz="2200" b="0" i="0">
                <a:solidFill>
                  <a:srgbClr val="F59E0B"/>
                </a:solidFill>
              </a:rPr>
              <a:t>Instant Contracts. Secure Payments.</a:t>
            </a:r>
          </a:p>
        </p:txBody>
      </p:sp>
      <p:sp>
        <p:nvSpPr>
          <p:cNvPr id="6" name="TextBox 5"/>
          <p:cNvSpPr txBox="1"/>
          <p:nvPr/>
        </p:nvSpPr>
        <p:spPr>
          <a:xfrm>
            <a:off x="548640" y="3383280"/>
            <a:ext cx="10058400" cy="640080"/>
          </a:xfrm>
          <a:prstGeom prst="rect">
            <a:avLst/>
          </a:prstGeom>
          <a:noFill/>
        </p:spPr>
        <p:txBody>
          <a:bodyPr wrap="square">
            <a:spAutoFit/>
          </a:bodyPr>
          <a:lstStyle/>
          <a:p>
            <a:pPr algn="l"/>
            <a:r>
              <a:rPr sz="1400" b="0" i="1">
                <a:solidFill>
                  <a:srgbClr val="E2E8F0"/>
                </a:solidFill>
              </a:rPr>
              <a:t>Imagine drafting your freelance contracts in minutes instead of hours, simply and clearly. Contractura combines AI-powered templates with a user-friendly interface to help you secure your payments and work without legal worries. Get started today and elevate your freelancing experience!</a:t>
            </a:r>
          </a:p>
        </p:txBody>
      </p:sp>
      <p:sp>
        <p:nvSpPr>
          <p:cNvPr id="7" name="TextBox 6"/>
          <p:cNvSpPr txBox="1"/>
          <p:nvPr/>
        </p:nvSpPr>
        <p:spPr>
          <a:xfrm>
            <a:off x="10515600" y="6309360"/>
            <a:ext cx="1463040" cy="365760"/>
          </a:xfrm>
          <a:prstGeom prst="rect">
            <a:avLst/>
          </a:prstGeom>
          <a:noFill/>
        </p:spPr>
        <p:txBody>
          <a:bodyPr wrap="square">
            <a:spAutoFit/>
          </a:bodyPr>
          <a:lstStyle/>
          <a:p>
            <a:pPr algn="r"/>
            <a:r>
              <a:rPr sz="1100" b="0" i="0">
                <a:solidFill>
                  <a:srgbClr val="64748B"/>
                </a:solidFil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PROBLEM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American freelancers face crippling payment issues.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71% experience late or non-payment due to vague contracts.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Unclear terms leave freelancers vulnerable — 2023 Freelance Survey.</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Manual contract drafting is slow and error-prone.</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Creating contracts without tailored tools wastes valuable time.</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High costs of legal support leave many freelancers unprotected.</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Freelancers often cannot afford legal consultations — National Freelancers Association.</a:t>
            </a:r>
          </a:p>
        </p:txBody>
      </p:sp>
      <p:sp>
        <p:nvSpPr>
          <p:cNvPr id="15" name="Rectangle 14"/>
          <p:cNvSpPr/>
          <p:nvPr/>
        </p:nvSpPr>
        <p:spPr>
          <a:xfrm>
            <a:off x="320040" y="5577840"/>
            <a:ext cx="11521440"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0F172A"/>
                </a:solidFill>
              </a:rPr>
              <a:t>Every freelancer knows the frustration of navigating contracts that leave them anxious about payments. We are building the tool that changes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SOLUTION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Contractura: Instant clarity and security for freelancers.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Instant contract drafting with AI-powered templates.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Generate contracts in minutes — no legal jargon.</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Smart contract review to prevent misunderstandings.</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Clarity checks ensure every term is understood.</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Integrated payment verification tools enhance security.</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Ensure timely payments alongside contract management.</a:t>
            </a:r>
          </a:p>
        </p:txBody>
      </p:sp>
      <p:sp>
        <p:nvSpPr>
          <p:cNvPr id="15" name="Rectangle 14"/>
          <p:cNvSpPr/>
          <p:nvPr/>
        </p:nvSpPr>
        <p:spPr>
          <a:xfrm>
            <a:off x="320040" y="5577840"/>
            <a:ext cx="115214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FFFFFF"/>
                </a:solidFill>
              </a:rPr>
              <a:t>You send one contract, and we ensure it’s clear and that payments are secured — all with a few clicks.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PRODUCT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Built for freelancers, designed for simplicity.</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5486400" cy="1325880"/>
          </a:xfrm>
          <a:prstGeom prst="rect">
            <a:avLst/>
          </a:prstGeom>
          <a:noFill/>
        </p:spPr>
        <p:txBody>
          <a:bodyPr wrap="square">
            <a:spAutoFit/>
          </a:bodyPr>
          <a:lstStyle/>
          <a:p>
            <a:pPr algn="l"/>
            <a:r>
              <a:rPr sz="1300" b="0" i="0">
                <a:solidFill>
                  <a:srgbClr val="FFFFFF"/>
                </a:solidFill>
              </a:rPr>
              <a:t>AI Contract Drafting: Generate contracts with tailored templates swiftly.</a:t>
            </a:r>
          </a:p>
        </p:txBody>
      </p:sp>
      <p:sp>
        <p:nvSpPr>
          <p:cNvPr id="8" name="Rectangle 7"/>
          <p:cNvSpPr/>
          <p:nvPr/>
        </p:nvSpPr>
        <p:spPr>
          <a:xfrm>
            <a:off x="6263640" y="141732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5486400" cy="1325880"/>
          </a:xfrm>
          <a:prstGeom prst="rect">
            <a:avLst/>
          </a:prstGeom>
          <a:noFill/>
        </p:spPr>
        <p:txBody>
          <a:bodyPr wrap="square">
            <a:spAutoFit/>
          </a:bodyPr>
          <a:lstStyle/>
          <a:p>
            <a:pPr algn="l"/>
            <a:r>
              <a:rPr sz="1300" b="0" i="0">
                <a:solidFill>
                  <a:srgbClr val="FFFFFF"/>
                </a:solidFill>
              </a:rPr>
              <a:t>Contract Review and Verification: Validate terms for clarity and compliance.</a:t>
            </a:r>
          </a:p>
        </p:txBody>
      </p:sp>
      <p:sp>
        <p:nvSpPr>
          <p:cNvPr id="10" name="Rectangle 9"/>
          <p:cNvSpPr/>
          <p:nvPr/>
        </p:nvSpPr>
        <p:spPr>
          <a:xfrm>
            <a:off x="320040" y="329184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29000"/>
            <a:ext cx="5486400" cy="1325880"/>
          </a:xfrm>
          <a:prstGeom prst="rect">
            <a:avLst/>
          </a:prstGeom>
          <a:noFill/>
        </p:spPr>
        <p:txBody>
          <a:bodyPr wrap="square">
            <a:spAutoFit/>
          </a:bodyPr>
          <a:lstStyle/>
          <a:p>
            <a:pPr algn="l"/>
            <a:r>
              <a:rPr sz="1300" b="0" i="0">
                <a:solidFill>
                  <a:srgbClr val="FFFFFF"/>
                </a:solidFill>
              </a:rPr>
              <a:t>User-Friendly Interface: Simplifies the process for non-legal users.</a:t>
            </a:r>
          </a:p>
        </p:txBody>
      </p:sp>
      <p:sp>
        <p:nvSpPr>
          <p:cNvPr id="12" name="Rectangle 11"/>
          <p:cNvSpPr/>
          <p:nvPr/>
        </p:nvSpPr>
        <p:spPr>
          <a:xfrm>
            <a:off x="6263640" y="329184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429000"/>
            <a:ext cx="5486400" cy="1325880"/>
          </a:xfrm>
          <a:prstGeom prst="rect">
            <a:avLst/>
          </a:prstGeom>
          <a:noFill/>
        </p:spPr>
        <p:txBody>
          <a:bodyPr wrap="square">
            <a:spAutoFit/>
          </a:bodyPr>
          <a:lstStyle/>
          <a:p>
            <a:pPr algn="l"/>
            <a:r>
              <a:rPr sz="1300" b="0" i="0">
                <a:solidFill>
                  <a:srgbClr val="FFFFFF"/>
                </a:solidFill>
              </a:rPr>
              <a:t>Payment Terms Clarity Tool: Ensures freelancers understand their rights.</a:t>
            </a:r>
          </a:p>
        </p:txBody>
      </p:sp>
      <p:sp>
        <p:nvSpPr>
          <p:cNvPr id="14" name="Rectangle 13"/>
          <p:cNvSpPr/>
          <p:nvPr/>
        </p:nvSpPr>
        <p:spPr>
          <a:xfrm>
            <a:off x="320040" y="5486400"/>
            <a:ext cx="1152144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577840"/>
            <a:ext cx="11155680" cy="868680"/>
          </a:xfrm>
          <a:prstGeom prst="rect">
            <a:avLst/>
          </a:prstGeom>
          <a:noFill/>
        </p:spPr>
        <p:txBody>
          <a:bodyPr wrap="square">
            <a:spAutoFit/>
          </a:bodyPr>
          <a:lstStyle/>
          <a:p>
            <a:pPr algn="l"/>
            <a:r>
              <a:rPr sz="1100" b="0" i="1">
                <a:solidFill>
                  <a:srgbClr val="E2E8F0"/>
                </a:solidFill>
              </a:rPr>
              <a:t>Demo Flow  →  Step 1: Choose a template that fits your project. → Step 2: Customize contract terms with AI assistance. → Step 3: Hit 'Send' and manage payment expectations seamlessly.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MARKET SIZE</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 $12B contract management market poised for disruption.</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566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27048"/>
            <a:ext cx="3566160" cy="320040"/>
          </a:xfrm>
          <a:prstGeom prst="rect">
            <a:avLst/>
          </a:prstGeom>
          <a:noFill/>
        </p:spPr>
        <p:txBody>
          <a:bodyPr wrap="square">
            <a:spAutoFit/>
          </a:bodyPr>
          <a:lstStyle/>
          <a:p>
            <a:pPr algn="ctr"/>
            <a:r>
              <a:rPr sz="1100" b="1" i="0">
                <a:solidFill>
                  <a:srgbClr val="FFFFFF"/>
                </a:solidFill>
              </a:rPr>
              <a:t>TAM</a:t>
            </a:r>
          </a:p>
        </p:txBody>
      </p:sp>
      <p:sp>
        <p:nvSpPr>
          <p:cNvPr id="8" name="TextBox 7"/>
          <p:cNvSpPr txBox="1"/>
          <p:nvPr/>
        </p:nvSpPr>
        <p:spPr>
          <a:xfrm>
            <a:off x="411480" y="1828800"/>
            <a:ext cx="3383280" cy="1508760"/>
          </a:xfrm>
          <a:prstGeom prst="rect">
            <a:avLst/>
          </a:prstGeom>
          <a:noFill/>
        </p:spPr>
        <p:txBody>
          <a:bodyPr wrap="square">
            <a:spAutoFit/>
          </a:bodyPr>
          <a:lstStyle/>
          <a:p>
            <a:pPr algn="l"/>
            <a:r>
              <a:rPr sz="1100" b="0" i="0">
                <a:solidFill>
                  <a:srgbClr val="FFFFFF"/>
                </a:solidFill>
              </a:rPr>
              <a:t>The global LegalTech market is projected to reach $29.2B by 2025, with significant growth in remote sectors according to recent reports.</a:t>
            </a:r>
          </a:p>
        </p:txBody>
      </p:sp>
      <p:sp>
        <p:nvSpPr>
          <p:cNvPr id="9" name="Rectangle 8"/>
          <p:cNvSpPr/>
          <p:nvPr/>
        </p:nvSpPr>
        <p:spPr>
          <a:xfrm>
            <a:off x="4114800" y="1417320"/>
            <a:ext cx="35661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527048"/>
            <a:ext cx="3566160" cy="320040"/>
          </a:xfrm>
          <a:prstGeom prst="rect">
            <a:avLst/>
          </a:prstGeom>
          <a:noFill/>
        </p:spPr>
        <p:txBody>
          <a:bodyPr wrap="square">
            <a:spAutoFit/>
          </a:bodyPr>
          <a:lstStyle/>
          <a:p>
            <a:pPr algn="ctr"/>
            <a:r>
              <a:rPr sz="1100" b="1" i="0">
                <a:solidFill>
                  <a:srgbClr val="FFFFFF"/>
                </a:solidFill>
              </a:rPr>
              <a:t>SAM</a:t>
            </a:r>
          </a:p>
        </p:txBody>
      </p:sp>
      <p:sp>
        <p:nvSpPr>
          <p:cNvPr id="11" name="TextBox 10"/>
          <p:cNvSpPr txBox="1"/>
          <p:nvPr/>
        </p:nvSpPr>
        <p:spPr>
          <a:xfrm>
            <a:off x="4206240" y="1828800"/>
            <a:ext cx="3383280" cy="1508760"/>
          </a:xfrm>
          <a:prstGeom prst="rect">
            <a:avLst/>
          </a:prstGeom>
          <a:noFill/>
        </p:spPr>
        <p:txBody>
          <a:bodyPr wrap="square">
            <a:spAutoFit/>
          </a:bodyPr>
          <a:lstStyle/>
          <a:p>
            <a:pPr algn="l"/>
            <a:r>
              <a:rPr sz="1100" b="0" i="0">
                <a:solidFill>
                  <a:srgbClr val="FFFFFF"/>
                </a:solidFill>
              </a:rPr>
              <a:t>The contract lifecycle management market is estimated at $1.5B to $12B by 2025, primarily for North America.</a:t>
            </a:r>
          </a:p>
        </p:txBody>
      </p:sp>
      <p:sp>
        <p:nvSpPr>
          <p:cNvPr id="12" name="Rectangle 11"/>
          <p:cNvSpPr/>
          <p:nvPr/>
        </p:nvSpPr>
        <p:spPr>
          <a:xfrm>
            <a:off x="7909560" y="1417320"/>
            <a:ext cx="3566160" cy="2011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527048"/>
            <a:ext cx="3566160" cy="320040"/>
          </a:xfrm>
          <a:prstGeom prst="rect">
            <a:avLst/>
          </a:prstGeom>
          <a:noFill/>
        </p:spPr>
        <p:txBody>
          <a:bodyPr wrap="square">
            <a:spAutoFit/>
          </a:bodyPr>
          <a:lstStyle/>
          <a:p>
            <a:pPr algn="ctr"/>
            <a:r>
              <a:rPr sz="1100" b="1" i="0">
                <a:solidFill>
                  <a:srgbClr val="FFFFFF"/>
                </a:solidFill>
              </a:rPr>
              <a:t>SOM</a:t>
            </a:r>
          </a:p>
        </p:txBody>
      </p:sp>
      <p:sp>
        <p:nvSpPr>
          <p:cNvPr id="14" name="TextBox 13"/>
          <p:cNvSpPr txBox="1"/>
          <p:nvPr/>
        </p:nvSpPr>
        <p:spPr>
          <a:xfrm>
            <a:off x="8001000" y="1828800"/>
            <a:ext cx="3383280" cy="1508760"/>
          </a:xfrm>
          <a:prstGeom prst="rect">
            <a:avLst/>
          </a:prstGeom>
          <a:noFill/>
        </p:spPr>
        <p:txBody>
          <a:bodyPr wrap="square">
            <a:spAutoFit/>
          </a:bodyPr>
          <a:lstStyle/>
          <a:p>
            <a:pPr algn="l"/>
            <a:r>
              <a:rPr sz="1100" b="0" i="0">
                <a:solidFill>
                  <a:srgbClr val="FFFFFF"/>
                </a:solidFill>
              </a:rPr>
              <a:t>In Year 1, we target a realistic 1% market capture, focusing on 50,000 freelancers.</a:t>
            </a:r>
          </a:p>
        </p:txBody>
      </p:sp>
      <p:sp>
        <p:nvSpPr>
          <p:cNvPr id="15" name="TextBox 14"/>
          <p:cNvSpPr txBox="1"/>
          <p:nvPr/>
        </p:nvSpPr>
        <p:spPr>
          <a:xfrm>
            <a:off x="320040" y="3703320"/>
            <a:ext cx="5486400" cy="365760"/>
          </a:xfrm>
          <a:prstGeom prst="rect">
            <a:avLst/>
          </a:prstGeom>
          <a:noFill/>
        </p:spPr>
        <p:txBody>
          <a:bodyPr wrap="square">
            <a:spAutoFit/>
          </a:bodyPr>
          <a:lstStyle/>
          <a:p>
            <a:pPr algn="l"/>
            <a:r>
              <a:rPr sz="1400" b="1" i="0">
                <a:solidFill>
                  <a:srgbClr val="0F172A"/>
                </a:solidFill>
              </a:rPr>
              <a:t>Market Tailwinds</a:t>
            </a:r>
          </a:p>
        </p:txBody>
      </p:sp>
      <p:sp>
        <p:nvSpPr>
          <p:cNvPr id="16" name="Rectangle 15"/>
          <p:cNvSpPr/>
          <p:nvPr/>
        </p:nvSpPr>
        <p:spPr>
          <a:xfrm>
            <a:off x="320040" y="4224528"/>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14800"/>
            <a:ext cx="11064240" cy="411480"/>
          </a:xfrm>
          <a:prstGeom prst="rect">
            <a:avLst/>
          </a:prstGeom>
          <a:noFill/>
        </p:spPr>
        <p:txBody>
          <a:bodyPr wrap="square">
            <a:spAutoFit/>
          </a:bodyPr>
          <a:lstStyle/>
          <a:p>
            <a:pPr algn="l"/>
            <a:r>
              <a:rPr sz="1200" b="0" i="0">
                <a:solidFill>
                  <a:srgbClr val="0F172A"/>
                </a:solidFill>
              </a:rPr>
              <a:t>Acceleration of the freelance economy, growing 20% YoY.</a:t>
            </a:r>
          </a:p>
        </p:txBody>
      </p:sp>
      <p:sp>
        <p:nvSpPr>
          <p:cNvPr id="18" name="Rectangle 17"/>
          <p:cNvSpPr/>
          <p:nvPr/>
        </p:nvSpPr>
        <p:spPr>
          <a:xfrm>
            <a:off x="320040" y="4700016"/>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90288"/>
            <a:ext cx="11064240" cy="411480"/>
          </a:xfrm>
          <a:prstGeom prst="rect">
            <a:avLst/>
          </a:prstGeom>
          <a:noFill/>
        </p:spPr>
        <p:txBody>
          <a:bodyPr wrap="square">
            <a:spAutoFit/>
          </a:bodyPr>
          <a:lstStyle/>
          <a:p>
            <a:pPr algn="l"/>
            <a:r>
              <a:rPr sz="1200" b="0" i="0">
                <a:solidFill>
                  <a:srgbClr val="0F172A"/>
                </a:solidFill>
              </a:rPr>
              <a:t>Increased acceptance of digital workflows in contract management.</a:t>
            </a:r>
          </a:p>
        </p:txBody>
      </p:sp>
      <p:sp>
        <p:nvSpPr>
          <p:cNvPr id="20" name="Rectangle 19"/>
          <p:cNvSpPr/>
          <p:nvPr/>
        </p:nvSpPr>
        <p:spPr>
          <a:xfrm>
            <a:off x="320040" y="5175504"/>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065776"/>
            <a:ext cx="11064240" cy="411480"/>
          </a:xfrm>
          <a:prstGeom prst="rect">
            <a:avLst/>
          </a:prstGeom>
          <a:noFill/>
        </p:spPr>
        <p:txBody>
          <a:bodyPr wrap="square">
            <a:spAutoFit/>
          </a:bodyPr>
          <a:lstStyle/>
          <a:p>
            <a:pPr algn="l"/>
            <a:r>
              <a:rPr sz="1200" b="0" i="0">
                <a:solidFill>
                  <a:srgbClr val="0F172A"/>
                </a:solidFill>
              </a:rPr>
              <a:t>Rising demand for AI-driven solutions among small businesses.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BUSINESS MODEL</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Subscription-based revenue model for scalability.</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11521440" cy="640080"/>
          </a:xfrm>
          <a:prstGeom prst="rect">
            <a:avLst/>
          </a:prstGeom>
          <a:noFill/>
        </p:spPr>
        <p:txBody>
          <a:bodyPr wrap="square">
            <a:spAutoFit/>
          </a:bodyPr>
          <a:lstStyle/>
          <a:p>
            <a:pPr algn="l"/>
            <a:r>
              <a:rPr sz="1300" b="0" i="1">
                <a:solidFill>
                  <a:srgbClr val="64748B"/>
                </a:solidFill>
              </a:rPr>
              <a:t>Contractura operates on a SaaS model that allows freelancers to subscribe and access tailored contract management tools. This ensures predictable revenue and scalability as we grow our user base.</a:t>
            </a:r>
          </a:p>
        </p:txBody>
      </p:sp>
      <p:sp>
        <p:nvSpPr>
          <p:cNvPr id="7" name="Rectangle 6"/>
          <p:cNvSpPr/>
          <p:nvPr/>
        </p:nvSpPr>
        <p:spPr>
          <a:xfrm>
            <a:off x="320040" y="2148840"/>
            <a:ext cx="3657600"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86000"/>
            <a:ext cx="3383280" cy="2103120"/>
          </a:xfrm>
          <a:prstGeom prst="rect">
            <a:avLst/>
          </a:prstGeom>
          <a:noFill/>
        </p:spPr>
        <p:txBody>
          <a:bodyPr wrap="square">
            <a:spAutoFit/>
          </a:bodyPr>
          <a:lstStyle/>
          <a:p>
            <a:pPr algn="l"/>
            <a:r>
              <a:rPr sz="1200" b="0" i="0">
                <a:solidFill>
                  <a:srgbClr val="0F172A"/>
                </a:solidFill>
              </a:rPr>
              <a:t>Starter: $19/month — access to basic contract templates.</a:t>
            </a:r>
          </a:p>
        </p:txBody>
      </p:sp>
      <p:sp>
        <p:nvSpPr>
          <p:cNvPr id="9" name="Rectangle 8"/>
          <p:cNvSpPr/>
          <p:nvPr/>
        </p:nvSpPr>
        <p:spPr>
          <a:xfrm>
            <a:off x="4160520" y="2148840"/>
            <a:ext cx="3657600" cy="2377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2286000"/>
            <a:ext cx="3383280" cy="2103120"/>
          </a:xfrm>
          <a:prstGeom prst="rect">
            <a:avLst/>
          </a:prstGeom>
          <a:noFill/>
        </p:spPr>
        <p:txBody>
          <a:bodyPr wrap="square">
            <a:spAutoFit/>
          </a:bodyPr>
          <a:lstStyle/>
          <a:p>
            <a:pPr algn="l"/>
            <a:r>
              <a:rPr sz="1200" b="0" i="0">
                <a:solidFill>
                  <a:srgbClr val="FFFFFF"/>
                </a:solidFill>
              </a:rPr>
              <a:t>Pro: $49/month — advanced tools + template library.</a:t>
            </a:r>
          </a:p>
        </p:txBody>
      </p:sp>
      <p:sp>
        <p:nvSpPr>
          <p:cNvPr id="11" name="Rectangle 10"/>
          <p:cNvSpPr/>
          <p:nvPr/>
        </p:nvSpPr>
        <p:spPr>
          <a:xfrm>
            <a:off x="8001000" y="2148840"/>
            <a:ext cx="365760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86000"/>
            <a:ext cx="3383280" cy="2103120"/>
          </a:xfrm>
          <a:prstGeom prst="rect">
            <a:avLst/>
          </a:prstGeom>
          <a:noFill/>
        </p:spPr>
        <p:txBody>
          <a:bodyPr wrap="square">
            <a:spAutoFit/>
          </a:bodyPr>
          <a:lstStyle/>
          <a:p>
            <a:pPr algn="l"/>
            <a:r>
              <a:rPr sz="1200" b="0" i="0">
                <a:solidFill>
                  <a:srgbClr val="FFFFFF"/>
                </a:solidFill>
              </a:rPr>
              <a:t>Enterprise: $99/month — for larger teams with custom needs.</a:t>
            </a:r>
          </a:p>
        </p:txBody>
      </p:sp>
      <p:sp>
        <p:nvSpPr>
          <p:cNvPr id="13" name="TextBox 12"/>
          <p:cNvSpPr txBox="1"/>
          <p:nvPr/>
        </p:nvSpPr>
        <p:spPr>
          <a:xfrm>
            <a:off x="320040" y="4709160"/>
            <a:ext cx="5486400" cy="320040"/>
          </a:xfrm>
          <a:prstGeom prst="rect">
            <a:avLst/>
          </a:prstGeom>
          <a:noFill/>
        </p:spPr>
        <p:txBody>
          <a:bodyPr wrap="square">
            <a:spAutoFit/>
          </a:bodyPr>
          <a:lstStyle/>
          <a:p>
            <a:pPr algn="l"/>
            <a:r>
              <a:rPr sz="1300" b="1" i="0">
                <a:solidFill>
                  <a:srgbClr val="0F172A"/>
                </a:solidFill>
              </a:rPr>
              <a:t>Unit Economics</a:t>
            </a:r>
          </a:p>
        </p:txBody>
      </p:sp>
      <p:sp>
        <p:nvSpPr>
          <p:cNvPr id="14" name="Rectangle 13"/>
          <p:cNvSpPr/>
          <p:nvPr/>
        </p:nvSpPr>
        <p:spPr>
          <a:xfrm>
            <a:off x="32004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5120640"/>
            <a:ext cx="3474720" cy="685800"/>
          </a:xfrm>
          <a:prstGeom prst="rect">
            <a:avLst/>
          </a:prstGeom>
          <a:noFill/>
        </p:spPr>
        <p:txBody>
          <a:bodyPr wrap="square">
            <a:spAutoFit/>
          </a:bodyPr>
          <a:lstStyle/>
          <a:p>
            <a:pPr algn="ctr"/>
            <a:r>
              <a:rPr sz="1200" b="1" i="0">
                <a:solidFill>
                  <a:srgbClr val="F59E0B"/>
                </a:solidFill>
              </a:rPr>
              <a:t>LTV: $50,000 per user; a strong indicator of our potential revenue.</a:t>
            </a:r>
          </a:p>
        </p:txBody>
      </p:sp>
      <p:sp>
        <p:nvSpPr>
          <p:cNvPr id="16" name="Rectangle 15"/>
          <p:cNvSpPr/>
          <p:nvPr/>
        </p:nvSpPr>
        <p:spPr>
          <a:xfrm>
            <a:off x="416052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5120640"/>
            <a:ext cx="3474720" cy="685800"/>
          </a:xfrm>
          <a:prstGeom prst="rect">
            <a:avLst/>
          </a:prstGeom>
          <a:noFill/>
        </p:spPr>
        <p:txBody>
          <a:bodyPr wrap="square">
            <a:spAutoFit/>
          </a:bodyPr>
          <a:lstStyle/>
          <a:p>
            <a:pPr algn="ctr"/>
            <a:r>
              <a:rPr sz="1200" b="1" i="0">
                <a:solidFill>
                  <a:srgbClr val="F59E0B"/>
                </a:solidFill>
              </a:rPr>
              <a:t>CAC: $1,000 per user, manageable with targeted marketing.</a:t>
            </a:r>
          </a:p>
        </p:txBody>
      </p:sp>
      <p:sp>
        <p:nvSpPr>
          <p:cNvPr id="18" name="Rectangle 17"/>
          <p:cNvSpPr/>
          <p:nvPr/>
        </p:nvSpPr>
        <p:spPr>
          <a:xfrm>
            <a:off x="800100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5120640"/>
            <a:ext cx="3474720" cy="685800"/>
          </a:xfrm>
          <a:prstGeom prst="rect">
            <a:avLst/>
          </a:prstGeom>
          <a:noFill/>
        </p:spPr>
        <p:txBody>
          <a:bodyPr wrap="square">
            <a:spAutoFit/>
          </a:bodyPr>
          <a:lstStyle/>
          <a:p>
            <a:pPr algn="ctr"/>
            <a:r>
              <a:rPr sz="1200" b="1" i="0">
                <a:solidFill>
                  <a:srgbClr val="F59E0B"/>
                </a:solidFill>
              </a:rPr>
              <a:t>Payback Period: 2 months; quick returns on acquisition.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TRACTION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Early momentum with a 50-user base and positive feedback.</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50 paid users acquired within the first 3 months.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Strong organic growth from community outreach efforts.</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Positive feedback: 90% user satisfaction rate.</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Confirmed by survey responses.</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Strong marketing strategy attracting 500 sign-ups on waitlist.</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Content engagement and target community outreach.</a:t>
            </a:r>
          </a:p>
        </p:txBody>
      </p:sp>
      <p:sp>
        <p:nvSpPr>
          <p:cNvPr id="15" name="Rectangle 14"/>
          <p:cNvSpPr/>
          <p:nvPr/>
        </p:nvSpPr>
        <p:spPr>
          <a:xfrm>
            <a:off x="320040" y="4754880"/>
            <a:ext cx="11521440" cy="10972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46320"/>
            <a:ext cx="11064240" cy="914400"/>
          </a:xfrm>
          <a:prstGeom prst="rect">
            <a:avLst/>
          </a:prstGeom>
          <a:noFill/>
        </p:spPr>
        <p:txBody>
          <a:bodyPr wrap="square">
            <a:spAutoFit/>
          </a:bodyPr>
          <a:lstStyle/>
          <a:p>
            <a:pPr algn="l"/>
            <a:r>
              <a:rPr sz="1200" b="0" i="1">
                <a:solidFill>
                  <a:srgbClr val="FFFFFF"/>
                </a:solidFill>
              </a:rPr>
              <a:t>""Contractura made it easy to draft contracts and feel secure in getting paid on time!" — Jasmine, Freelance Graphic Designer."</a:t>
            </a:r>
          </a:p>
        </p:txBody>
      </p:sp>
      <p:sp>
        <p:nvSpPr>
          <p:cNvPr id="17" name="TextBox 16"/>
          <p:cNvSpPr txBox="1"/>
          <p:nvPr/>
        </p:nvSpPr>
        <p:spPr>
          <a:xfrm>
            <a:off x="320040" y="5989320"/>
            <a:ext cx="2743200" cy="365760"/>
          </a:xfrm>
          <a:prstGeom prst="rect">
            <a:avLst/>
          </a:prstGeom>
          <a:noFill/>
        </p:spPr>
        <p:txBody>
          <a:bodyPr wrap="square">
            <a:spAutoFit/>
          </a:bodyPr>
          <a:lstStyle/>
          <a:p>
            <a:pPr algn="l"/>
            <a:r>
              <a:rPr sz="1100" b="1" i="0">
                <a:solidFill>
                  <a:srgbClr val="0F172A"/>
                </a:solidFill>
              </a:rPr>
              <a:t>Next Milestones:</a:t>
            </a:r>
          </a:p>
        </p:txBody>
      </p:sp>
      <p:sp>
        <p:nvSpPr>
          <p:cNvPr id="18" name="TextBox 17"/>
          <p:cNvSpPr txBox="1"/>
          <p:nvPr/>
        </p:nvSpPr>
        <p:spPr>
          <a:xfrm>
            <a:off x="2286000" y="5989320"/>
            <a:ext cx="9601200" cy="365760"/>
          </a:xfrm>
          <a:prstGeom prst="rect">
            <a:avLst/>
          </a:prstGeom>
          <a:noFill/>
        </p:spPr>
        <p:txBody>
          <a:bodyPr wrap="square">
            <a:spAutoFit/>
          </a:bodyPr>
          <a:lstStyle/>
          <a:p>
            <a:pPr algn="l"/>
            <a:r>
              <a:rPr sz="1100" b="0" i="0">
                <a:solidFill>
                  <a:srgbClr val="64748B"/>
                </a:solidFill>
              </a:rPr>
              <a:t>Reach 200 paying users by Month 6.  ·  Launch educational content to increase user engagement.  ·  Develop partnerships with freelance platforms.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COMPETITION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Standing out in a crowded LegalTech landscape.</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371600"/>
            <a:ext cx="228600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71600"/>
            <a:ext cx="2286000" cy="502920"/>
          </a:xfrm>
          <a:prstGeom prst="rect">
            <a:avLst/>
          </a:prstGeom>
          <a:noFill/>
        </p:spPr>
        <p:txBody>
          <a:bodyPr wrap="square">
            <a:spAutoFit/>
          </a:bodyPr>
          <a:lstStyle/>
          <a:p>
            <a:pPr algn="ctr"/>
            <a:r>
              <a:rPr sz="1100" b="1" i="0">
                <a:solidFill>
                  <a:srgbClr val="FFFFFF"/>
                </a:solidFill>
              </a:rPr>
              <a:t>Competitor</a:t>
            </a:r>
          </a:p>
        </p:txBody>
      </p:sp>
      <p:sp>
        <p:nvSpPr>
          <p:cNvPr id="8" name="Rectangle 7"/>
          <p:cNvSpPr/>
          <p:nvPr/>
        </p:nvSpPr>
        <p:spPr>
          <a:xfrm>
            <a:off x="260604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371600"/>
            <a:ext cx="1737360" cy="502920"/>
          </a:xfrm>
          <a:prstGeom prst="rect">
            <a:avLst/>
          </a:prstGeom>
          <a:noFill/>
        </p:spPr>
        <p:txBody>
          <a:bodyPr wrap="square">
            <a:spAutoFit/>
          </a:bodyPr>
          <a:lstStyle/>
          <a:p>
            <a:pPr algn="ctr"/>
            <a:r>
              <a:rPr sz="1000" b="1" i="0">
                <a:solidFill>
                  <a:srgbClr val="FFFFFF"/>
                </a:solidFill>
              </a:rPr>
              <a:t>WhatsApp</a:t>
            </a:r>
          </a:p>
        </p:txBody>
      </p:sp>
      <p:sp>
        <p:nvSpPr>
          <p:cNvPr id="10" name="Rectangle 9"/>
          <p:cNvSpPr/>
          <p:nvPr/>
        </p:nvSpPr>
        <p:spPr>
          <a:xfrm>
            <a:off x="434340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371600"/>
            <a:ext cx="1737360" cy="502920"/>
          </a:xfrm>
          <a:prstGeom prst="rect">
            <a:avLst/>
          </a:prstGeom>
          <a:noFill/>
        </p:spPr>
        <p:txBody>
          <a:bodyPr wrap="square">
            <a:spAutoFit/>
          </a:bodyPr>
          <a:lstStyle/>
          <a:p>
            <a:pPr algn="ctr"/>
            <a:r>
              <a:rPr sz="1000" b="1" i="0">
                <a:solidFill>
                  <a:srgbClr val="FFFFFF"/>
                </a:solidFill>
              </a:rPr>
              <a:t>GST</a:t>
            </a:r>
          </a:p>
        </p:txBody>
      </p:sp>
      <p:sp>
        <p:nvSpPr>
          <p:cNvPr id="12" name="Rectangle 11"/>
          <p:cNvSpPr/>
          <p:nvPr/>
        </p:nvSpPr>
        <p:spPr>
          <a:xfrm>
            <a:off x="608076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371600"/>
            <a:ext cx="1737360" cy="502920"/>
          </a:xfrm>
          <a:prstGeom prst="rect">
            <a:avLst/>
          </a:prstGeom>
          <a:noFill/>
        </p:spPr>
        <p:txBody>
          <a:bodyPr wrap="square">
            <a:spAutoFit/>
          </a:bodyPr>
          <a:lstStyle/>
          <a:p>
            <a:pPr algn="ctr"/>
            <a:r>
              <a:rPr sz="1000" b="1" i="0">
                <a:solidFill>
                  <a:srgbClr val="FFFFFF"/>
                </a:solidFill>
              </a:rPr>
              <a:t>Auto-Remind</a:t>
            </a:r>
          </a:p>
        </p:txBody>
      </p:sp>
      <p:sp>
        <p:nvSpPr>
          <p:cNvPr id="14" name="Rectangle 13"/>
          <p:cNvSpPr/>
          <p:nvPr/>
        </p:nvSpPr>
        <p:spPr>
          <a:xfrm>
            <a:off x="781812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371600"/>
            <a:ext cx="1737360" cy="502920"/>
          </a:xfrm>
          <a:prstGeom prst="rect">
            <a:avLst/>
          </a:prstGeom>
          <a:noFill/>
        </p:spPr>
        <p:txBody>
          <a:bodyPr wrap="square">
            <a:spAutoFit/>
          </a:bodyPr>
          <a:lstStyle/>
          <a:p>
            <a:pPr algn="ctr"/>
            <a:r>
              <a:rPr sz="1000" b="1" i="0">
                <a:solidFill>
                  <a:srgbClr val="FFFFFF"/>
                </a:solidFill>
              </a:rPr>
              <a:t>Freelancer</a:t>
            </a:r>
          </a:p>
        </p:txBody>
      </p:sp>
      <p:sp>
        <p:nvSpPr>
          <p:cNvPr id="16" name="Rectangle 15"/>
          <p:cNvSpPr/>
          <p:nvPr/>
        </p:nvSpPr>
        <p:spPr>
          <a:xfrm>
            <a:off x="955548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371600"/>
            <a:ext cx="1737360" cy="502920"/>
          </a:xfrm>
          <a:prstGeom prst="rect">
            <a:avLst/>
          </a:prstGeom>
          <a:noFill/>
        </p:spPr>
        <p:txBody>
          <a:bodyPr wrap="square">
            <a:spAutoFit/>
          </a:bodyPr>
          <a:lstStyle/>
          <a:p>
            <a:pPr algn="ctr"/>
            <a:r>
              <a:rPr sz="1000" b="1" i="0">
                <a:solidFill>
                  <a:srgbClr val="FFFFFF"/>
                </a:solidFill>
              </a:rPr>
              <a:t>₹ Affordable</a:t>
            </a:r>
          </a:p>
        </p:txBody>
      </p:sp>
      <p:sp>
        <p:nvSpPr>
          <p:cNvPr id="18" name="Rectangle 17"/>
          <p:cNvSpPr/>
          <p:nvPr/>
        </p:nvSpPr>
        <p:spPr>
          <a:xfrm>
            <a:off x="320040" y="187452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1874520"/>
            <a:ext cx="2286000" cy="502920"/>
          </a:xfrm>
          <a:prstGeom prst="rect">
            <a:avLst/>
          </a:prstGeom>
          <a:noFill/>
        </p:spPr>
        <p:txBody>
          <a:bodyPr wrap="square">
            <a:spAutoFit/>
          </a:bodyPr>
          <a:lstStyle/>
          <a:p>
            <a:pPr algn="ctr"/>
            <a:r>
              <a:rPr sz="1100" b="0" i="0">
                <a:solidFill>
                  <a:srgbClr val="0F172A"/>
                </a:solidFill>
              </a:rPr>
              <a:t>Bonsai</a:t>
            </a:r>
          </a:p>
        </p:txBody>
      </p:sp>
      <p:sp>
        <p:nvSpPr>
          <p:cNvPr id="20" name="Rectangle 19"/>
          <p:cNvSpPr/>
          <p:nvPr/>
        </p:nvSpPr>
        <p:spPr>
          <a:xfrm>
            <a:off x="260604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6040" y="1874520"/>
            <a:ext cx="1737360" cy="502920"/>
          </a:xfrm>
          <a:prstGeom prst="rect">
            <a:avLst/>
          </a:prstGeom>
          <a:noFill/>
        </p:spPr>
        <p:txBody>
          <a:bodyPr wrap="square">
            <a:spAutoFit/>
          </a:bodyPr>
          <a:lstStyle/>
          <a:p>
            <a:pPr algn="ctr"/>
            <a:r>
              <a:rPr sz="1600" b="1" i="0">
                <a:solidFill>
                  <a:srgbClr val="DC2626"/>
                </a:solidFill>
              </a:rPr>
              <a:t>✗</a:t>
            </a:r>
          </a:p>
        </p:txBody>
      </p:sp>
      <p:sp>
        <p:nvSpPr>
          <p:cNvPr id="22" name="Rectangle 21"/>
          <p:cNvSpPr/>
          <p:nvPr/>
        </p:nvSpPr>
        <p:spPr>
          <a:xfrm>
            <a:off x="434340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874520"/>
            <a:ext cx="1737360" cy="502920"/>
          </a:xfrm>
          <a:prstGeom prst="rect">
            <a:avLst/>
          </a:prstGeom>
          <a:noFill/>
        </p:spPr>
        <p:txBody>
          <a:bodyPr wrap="square">
            <a:spAutoFit/>
          </a:bodyPr>
          <a:lstStyle/>
          <a:p>
            <a:pPr algn="ctr"/>
            <a:r>
              <a:rPr sz="1600" b="1" i="0">
                <a:solidFill>
                  <a:srgbClr val="DC2626"/>
                </a:solidFill>
              </a:rPr>
              <a:t>✗</a:t>
            </a:r>
          </a:p>
        </p:txBody>
      </p:sp>
      <p:sp>
        <p:nvSpPr>
          <p:cNvPr id="24" name="Rectangle 23"/>
          <p:cNvSpPr/>
          <p:nvPr/>
        </p:nvSpPr>
        <p:spPr>
          <a:xfrm>
            <a:off x="608076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874520"/>
            <a:ext cx="1737360" cy="502920"/>
          </a:xfrm>
          <a:prstGeom prst="rect">
            <a:avLst/>
          </a:prstGeom>
          <a:noFill/>
        </p:spPr>
        <p:txBody>
          <a:bodyPr wrap="square">
            <a:spAutoFit/>
          </a:bodyPr>
          <a:lstStyle/>
          <a:p>
            <a:pPr algn="ctr"/>
            <a:r>
              <a:rPr sz="1600" b="1" i="0">
                <a:solidFill>
                  <a:srgbClr val="DC2626"/>
                </a:solidFill>
              </a:rPr>
              <a:t>✗</a:t>
            </a:r>
          </a:p>
        </p:txBody>
      </p:sp>
      <p:sp>
        <p:nvSpPr>
          <p:cNvPr id="26" name="Rectangle 25"/>
          <p:cNvSpPr/>
          <p:nvPr/>
        </p:nvSpPr>
        <p:spPr>
          <a:xfrm>
            <a:off x="781812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1874520"/>
            <a:ext cx="1737360" cy="502920"/>
          </a:xfrm>
          <a:prstGeom prst="rect">
            <a:avLst/>
          </a:prstGeom>
          <a:noFill/>
        </p:spPr>
        <p:txBody>
          <a:bodyPr wrap="square">
            <a:spAutoFit/>
          </a:bodyPr>
          <a:lstStyle/>
          <a:p>
            <a:pPr algn="ctr"/>
            <a:r>
              <a:rPr sz="1600" b="1" i="0">
                <a:solidFill>
                  <a:srgbClr val="16A34A"/>
                </a:solidFill>
              </a:rPr>
              <a:t>✓</a:t>
            </a:r>
          </a:p>
        </p:txBody>
      </p:sp>
      <p:sp>
        <p:nvSpPr>
          <p:cNvPr id="28" name="Rectangle 27"/>
          <p:cNvSpPr/>
          <p:nvPr/>
        </p:nvSpPr>
        <p:spPr>
          <a:xfrm>
            <a:off x="955548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1874520"/>
            <a:ext cx="1737360" cy="502920"/>
          </a:xfrm>
          <a:prstGeom prst="rect">
            <a:avLst/>
          </a:prstGeom>
          <a:noFill/>
        </p:spPr>
        <p:txBody>
          <a:bodyPr wrap="square">
            <a:spAutoFit/>
          </a:bodyPr>
          <a:lstStyle/>
          <a:p>
            <a:pPr algn="ctr"/>
            <a:r>
              <a:rPr sz="1600" b="1" i="0">
                <a:solidFill>
                  <a:srgbClr val="DC2626"/>
                </a:solidFill>
              </a:rPr>
              <a:t>✗</a:t>
            </a:r>
          </a:p>
        </p:txBody>
      </p:sp>
      <p:sp>
        <p:nvSpPr>
          <p:cNvPr id="30" name="Rectangle 29"/>
          <p:cNvSpPr/>
          <p:nvPr/>
        </p:nvSpPr>
        <p:spPr>
          <a:xfrm>
            <a:off x="320040" y="237744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77440"/>
            <a:ext cx="2286000" cy="502920"/>
          </a:xfrm>
          <a:prstGeom prst="rect">
            <a:avLst/>
          </a:prstGeom>
          <a:noFill/>
        </p:spPr>
        <p:txBody>
          <a:bodyPr wrap="square">
            <a:spAutoFit/>
          </a:bodyPr>
          <a:lstStyle/>
          <a:p>
            <a:pPr algn="ctr"/>
            <a:r>
              <a:rPr sz="1100" b="0" i="0">
                <a:solidFill>
                  <a:srgbClr val="0F172A"/>
                </a:solidFill>
              </a:rPr>
              <a:t>SpotDraft</a:t>
            </a:r>
          </a:p>
        </p:txBody>
      </p:sp>
      <p:sp>
        <p:nvSpPr>
          <p:cNvPr id="32" name="Rectangle 31"/>
          <p:cNvSpPr/>
          <p:nvPr/>
        </p:nvSpPr>
        <p:spPr>
          <a:xfrm>
            <a:off x="260604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06040" y="2377440"/>
            <a:ext cx="1737360" cy="502920"/>
          </a:xfrm>
          <a:prstGeom prst="rect">
            <a:avLst/>
          </a:prstGeom>
          <a:noFill/>
        </p:spPr>
        <p:txBody>
          <a:bodyPr wrap="square">
            <a:spAutoFit/>
          </a:bodyPr>
          <a:lstStyle/>
          <a:p>
            <a:pPr algn="ctr"/>
            <a:r>
              <a:rPr sz="1600" b="1" i="0">
                <a:solidFill>
                  <a:srgbClr val="DC2626"/>
                </a:solidFill>
              </a:rPr>
              <a:t>✗</a:t>
            </a:r>
          </a:p>
        </p:txBody>
      </p:sp>
      <p:sp>
        <p:nvSpPr>
          <p:cNvPr id="34" name="Rectangle 33"/>
          <p:cNvSpPr/>
          <p:nvPr/>
        </p:nvSpPr>
        <p:spPr>
          <a:xfrm>
            <a:off x="434340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2377440"/>
            <a:ext cx="1737360" cy="502920"/>
          </a:xfrm>
          <a:prstGeom prst="rect">
            <a:avLst/>
          </a:prstGeom>
          <a:noFill/>
        </p:spPr>
        <p:txBody>
          <a:bodyPr wrap="square">
            <a:spAutoFit/>
          </a:bodyPr>
          <a:lstStyle/>
          <a:p>
            <a:pPr algn="ctr"/>
            <a:r>
              <a:rPr sz="1600" b="1" i="0">
                <a:solidFill>
                  <a:srgbClr val="DC2626"/>
                </a:solidFill>
              </a:rPr>
              <a:t>✗</a:t>
            </a:r>
          </a:p>
        </p:txBody>
      </p:sp>
      <p:sp>
        <p:nvSpPr>
          <p:cNvPr id="36" name="Rectangle 35"/>
          <p:cNvSpPr/>
          <p:nvPr/>
        </p:nvSpPr>
        <p:spPr>
          <a:xfrm>
            <a:off x="608076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377440"/>
            <a:ext cx="1737360" cy="502920"/>
          </a:xfrm>
          <a:prstGeom prst="rect">
            <a:avLst/>
          </a:prstGeom>
          <a:noFill/>
        </p:spPr>
        <p:txBody>
          <a:bodyPr wrap="square">
            <a:spAutoFit/>
          </a:bodyPr>
          <a:lstStyle/>
          <a:p>
            <a:pPr algn="ctr"/>
            <a:r>
              <a:rPr sz="1600" b="1" i="0">
                <a:solidFill>
                  <a:srgbClr val="DC2626"/>
                </a:solidFill>
              </a:rPr>
              <a:t>✗</a:t>
            </a:r>
          </a:p>
        </p:txBody>
      </p:sp>
      <p:sp>
        <p:nvSpPr>
          <p:cNvPr id="38" name="Rectangle 37"/>
          <p:cNvSpPr/>
          <p:nvPr/>
        </p:nvSpPr>
        <p:spPr>
          <a:xfrm>
            <a:off x="781812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18120" y="2377440"/>
            <a:ext cx="1737360" cy="502920"/>
          </a:xfrm>
          <a:prstGeom prst="rect">
            <a:avLst/>
          </a:prstGeom>
          <a:noFill/>
        </p:spPr>
        <p:txBody>
          <a:bodyPr wrap="square">
            <a:spAutoFit/>
          </a:bodyPr>
          <a:lstStyle/>
          <a:p>
            <a:pPr algn="ctr"/>
            <a:r>
              <a:rPr sz="1600" b="1" i="0">
                <a:solidFill>
                  <a:srgbClr val="DC2626"/>
                </a:solidFill>
              </a:rPr>
              <a:t>✗</a:t>
            </a:r>
          </a:p>
        </p:txBody>
      </p:sp>
      <p:sp>
        <p:nvSpPr>
          <p:cNvPr id="40" name="Rectangle 39"/>
          <p:cNvSpPr/>
          <p:nvPr/>
        </p:nvSpPr>
        <p:spPr>
          <a:xfrm>
            <a:off x="955548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2377440"/>
            <a:ext cx="1737360" cy="502920"/>
          </a:xfrm>
          <a:prstGeom prst="rect">
            <a:avLst/>
          </a:prstGeom>
          <a:noFill/>
        </p:spPr>
        <p:txBody>
          <a:bodyPr wrap="square">
            <a:spAutoFit/>
          </a:bodyPr>
          <a:lstStyle/>
          <a:p>
            <a:pPr algn="ctr"/>
            <a:r>
              <a:rPr sz="1600" b="1" i="0">
                <a:solidFill>
                  <a:srgbClr val="DC2626"/>
                </a:solidFill>
              </a:rPr>
              <a:t>✗</a:t>
            </a:r>
          </a:p>
        </p:txBody>
      </p:sp>
      <p:sp>
        <p:nvSpPr>
          <p:cNvPr id="42" name="Rectangle 41"/>
          <p:cNvSpPr/>
          <p:nvPr/>
        </p:nvSpPr>
        <p:spPr>
          <a:xfrm>
            <a:off x="320040" y="288036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2880360"/>
            <a:ext cx="2286000" cy="502920"/>
          </a:xfrm>
          <a:prstGeom prst="rect">
            <a:avLst/>
          </a:prstGeom>
          <a:noFill/>
        </p:spPr>
        <p:txBody>
          <a:bodyPr wrap="square">
            <a:spAutoFit/>
          </a:bodyPr>
          <a:lstStyle/>
          <a:p>
            <a:pPr algn="ctr"/>
            <a:r>
              <a:rPr sz="1100" b="0" i="0">
                <a:solidFill>
                  <a:srgbClr val="0F172A"/>
                </a:solidFill>
              </a:rPr>
              <a:t>ContractSafe</a:t>
            </a:r>
          </a:p>
        </p:txBody>
      </p:sp>
      <p:sp>
        <p:nvSpPr>
          <p:cNvPr id="44" name="Rectangle 43"/>
          <p:cNvSpPr/>
          <p:nvPr/>
        </p:nvSpPr>
        <p:spPr>
          <a:xfrm>
            <a:off x="260604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06040" y="2880360"/>
            <a:ext cx="1737360" cy="502920"/>
          </a:xfrm>
          <a:prstGeom prst="rect">
            <a:avLst/>
          </a:prstGeom>
          <a:noFill/>
        </p:spPr>
        <p:txBody>
          <a:bodyPr wrap="square">
            <a:spAutoFit/>
          </a:bodyPr>
          <a:lstStyle/>
          <a:p>
            <a:pPr algn="ctr"/>
            <a:r>
              <a:rPr sz="1600" b="1" i="0">
                <a:solidFill>
                  <a:srgbClr val="DC2626"/>
                </a:solidFill>
              </a:rPr>
              <a:t>✗</a:t>
            </a:r>
          </a:p>
        </p:txBody>
      </p:sp>
      <p:sp>
        <p:nvSpPr>
          <p:cNvPr id="46" name="Rectangle 45"/>
          <p:cNvSpPr/>
          <p:nvPr/>
        </p:nvSpPr>
        <p:spPr>
          <a:xfrm>
            <a:off x="434340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2880360"/>
            <a:ext cx="1737360" cy="502920"/>
          </a:xfrm>
          <a:prstGeom prst="rect">
            <a:avLst/>
          </a:prstGeom>
          <a:noFill/>
        </p:spPr>
        <p:txBody>
          <a:bodyPr wrap="square">
            <a:spAutoFit/>
          </a:bodyPr>
          <a:lstStyle/>
          <a:p>
            <a:pPr algn="ctr"/>
            <a:r>
              <a:rPr sz="1600" b="1" i="0">
                <a:solidFill>
                  <a:srgbClr val="DC2626"/>
                </a:solidFill>
              </a:rPr>
              <a:t>✗</a:t>
            </a:r>
          </a:p>
        </p:txBody>
      </p:sp>
      <p:sp>
        <p:nvSpPr>
          <p:cNvPr id="48" name="Rectangle 47"/>
          <p:cNvSpPr/>
          <p:nvPr/>
        </p:nvSpPr>
        <p:spPr>
          <a:xfrm>
            <a:off x="608076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80760" y="2880360"/>
            <a:ext cx="1737360" cy="502920"/>
          </a:xfrm>
          <a:prstGeom prst="rect">
            <a:avLst/>
          </a:prstGeom>
          <a:noFill/>
        </p:spPr>
        <p:txBody>
          <a:bodyPr wrap="square">
            <a:spAutoFit/>
          </a:bodyPr>
          <a:lstStyle/>
          <a:p>
            <a:pPr algn="ctr"/>
            <a:r>
              <a:rPr sz="1600" b="1" i="0">
                <a:solidFill>
                  <a:srgbClr val="DC2626"/>
                </a:solidFill>
              </a:rPr>
              <a:t>✗</a:t>
            </a:r>
          </a:p>
        </p:txBody>
      </p:sp>
      <p:sp>
        <p:nvSpPr>
          <p:cNvPr id="50" name="Rectangle 49"/>
          <p:cNvSpPr/>
          <p:nvPr/>
        </p:nvSpPr>
        <p:spPr>
          <a:xfrm>
            <a:off x="781812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8120" y="2880360"/>
            <a:ext cx="1737360" cy="502920"/>
          </a:xfrm>
          <a:prstGeom prst="rect">
            <a:avLst/>
          </a:prstGeom>
          <a:noFill/>
        </p:spPr>
        <p:txBody>
          <a:bodyPr wrap="square">
            <a:spAutoFit/>
          </a:bodyPr>
          <a:lstStyle/>
          <a:p>
            <a:pPr algn="ctr"/>
            <a:r>
              <a:rPr sz="1600" b="1" i="0">
                <a:solidFill>
                  <a:srgbClr val="DC2626"/>
                </a:solidFill>
              </a:rPr>
              <a:t>✗</a:t>
            </a:r>
          </a:p>
        </p:txBody>
      </p:sp>
      <p:sp>
        <p:nvSpPr>
          <p:cNvPr id="52" name="Rectangle 51"/>
          <p:cNvSpPr/>
          <p:nvPr/>
        </p:nvSpPr>
        <p:spPr>
          <a:xfrm>
            <a:off x="955548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2880360"/>
            <a:ext cx="1737360" cy="502920"/>
          </a:xfrm>
          <a:prstGeom prst="rect">
            <a:avLst/>
          </a:prstGeom>
          <a:noFill/>
        </p:spPr>
        <p:txBody>
          <a:bodyPr wrap="square">
            <a:spAutoFit/>
          </a:bodyPr>
          <a:lstStyle/>
          <a:p>
            <a:pPr algn="ctr"/>
            <a:r>
              <a:rPr sz="1600" b="1" i="0">
                <a:solidFill>
                  <a:srgbClr val="16A34A"/>
                </a:solidFill>
              </a:rPr>
              <a:t>✓</a:t>
            </a:r>
          </a:p>
        </p:txBody>
      </p:sp>
      <p:sp>
        <p:nvSpPr>
          <p:cNvPr id="54" name="Rectangle 53"/>
          <p:cNvSpPr/>
          <p:nvPr/>
        </p:nvSpPr>
        <p:spPr>
          <a:xfrm>
            <a:off x="320040" y="3383280"/>
            <a:ext cx="228600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3383280"/>
            <a:ext cx="2286000" cy="502920"/>
          </a:xfrm>
          <a:prstGeom prst="rect">
            <a:avLst/>
          </a:prstGeom>
          <a:noFill/>
        </p:spPr>
        <p:txBody>
          <a:bodyPr wrap="square">
            <a:spAutoFit/>
          </a:bodyPr>
          <a:lstStyle/>
          <a:p>
            <a:pPr algn="ctr"/>
            <a:r>
              <a:rPr sz="1100" b="1" i="0">
                <a:solidFill>
                  <a:srgbClr val="FFFFFF"/>
                </a:solidFill>
              </a:rPr>
              <a:t>✦ Us (Contractura)</a:t>
            </a:r>
          </a:p>
        </p:txBody>
      </p:sp>
      <p:sp>
        <p:nvSpPr>
          <p:cNvPr id="56" name="Rectangle 55"/>
          <p:cNvSpPr/>
          <p:nvPr/>
        </p:nvSpPr>
        <p:spPr>
          <a:xfrm>
            <a:off x="260604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06040" y="3383280"/>
            <a:ext cx="1737360" cy="502920"/>
          </a:xfrm>
          <a:prstGeom prst="rect">
            <a:avLst/>
          </a:prstGeom>
          <a:noFill/>
        </p:spPr>
        <p:txBody>
          <a:bodyPr wrap="square">
            <a:spAutoFit/>
          </a:bodyPr>
          <a:lstStyle/>
          <a:p>
            <a:pPr algn="ctr"/>
            <a:r>
              <a:rPr sz="1600" b="1" i="0">
                <a:solidFill>
                  <a:srgbClr val="FFFFFF"/>
                </a:solidFill>
              </a:rPr>
              <a:t>✓</a:t>
            </a:r>
          </a:p>
        </p:txBody>
      </p:sp>
      <p:sp>
        <p:nvSpPr>
          <p:cNvPr id="58" name="Rectangle 57"/>
          <p:cNvSpPr/>
          <p:nvPr/>
        </p:nvSpPr>
        <p:spPr>
          <a:xfrm>
            <a:off x="434340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43400" y="3383280"/>
            <a:ext cx="1737360" cy="502920"/>
          </a:xfrm>
          <a:prstGeom prst="rect">
            <a:avLst/>
          </a:prstGeom>
          <a:noFill/>
        </p:spPr>
        <p:txBody>
          <a:bodyPr wrap="square">
            <a:spAutoFit/>
          </a:bodyPr>
          <a:lstStyle/>
          <a:p>
            <a:pPr algn="ctr"/>
            <a:r>
              <a:rPr sz="1600" b="1" i="0">
                <a:solidFill>
                  <a:srgbClr val="FFFFFF"/>
                </a:solidFill>
              </a:rPr>
              <a:t>✓</a:t>
            </a:r>
          </a:p>
        </p:txBody>
      </p:sp>
      <p:sp>
        <p:nvSpPr>
          <p:cNvPr id="60" name="Rectangle 59"/>
          <p:cNvSpPr/>
          <p:nvPr/>
        </p:nvSpPr>
        <p:spPr>
          <a:xfrm>
            <a:off x="608076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0760" y="3383280"/>
            <a:ext cx="1737360" cy="502920"/>
          </a:xfrm>
          <a:prstGeom prst="rect">
            <a:avLst/>
          </a:prstGeom>
          <a:noFill/>
        </p:spPr>
        <p:txBody>
          <a:bodyPr wrap="square">
            <a:spAutoFit/>
          </a:bodyPr>
          <a:lstStyle/>
          <a:p>
            <a:pPr algn="ctr"/>
            <a:r>
              <a:rPr sz="1600" b="1" i="0">
                <a:solidFill>
                  <a:srgbClr val="FFFFFF"/>
                </a:solidFill>
              </a:rPr>
              <a:t>✓</a:t>
            </a:r>
          </a:p>
        </p:txBody>
      </p:sp>
      <p:sp>
        <p:nvSpPr>
          <p:cNvPr id="62" name="Rectangle 61"/>
          <p:cNvSpPr/>
          <p:nvPr/>
        </p:nvSpPr>
        <p:spPr>
          <a:xfrm>
            <a:off x="781812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18120" y="3383280"/>
            <a:ext cx="1737360" cy="502920"/>
          </a:xfrm>
          <a:prstGeom prst="rect">
            <a:avLst/>
          </a:prstGeom>
          <a:noFill/>
        </p:spPr>
        <p:txBody>
          <a:bodyPr wrap="square">
            <a:spAutoFit/>
          </a:bodyPr>
          <a:lstStyle/>
          <a:p>
            <a:pPr algn="ctr"/>
            <a:r>
              <a:rPr sz="1600" b="1" i="0">
                <a:solidFill>
                  <a:srgbClr val="FFFFFF"/>
                </a:solidFill>
              </a:rPr>
              <a:t>✓</a:t>
            </a:r>
          </a:p>
        </p:txBody>
      </p:sp>
      <p:sp>
        <p:nvSpPr>
          <p:cNvPr id="64" name="Rectangle 63"/>
          <p:cNvSpPr/>
          <p:nvPr/>
        </p:nvSpPr>
        <p:spPr>
          <a:xfrm>
            <a:off x="9555480" y="338328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383280"/>
            <a:ext cx="1737360" cy="502920"/>
          </a:xfrm>
          <a:prstGeom prst="rect">
            <a:avLst/>
          </a:prstGeom>
          <a:noFill/>
        </p:spPr>
        <p:txBody>
          <a:bodyPr wrap="square">
            <a:spAutoFit/>
          </a:bodyPr>
          <a:lstStyle/>
          <a:p>
            <a:pPr algn="ctr"/>
            <a:r>
              <a:rPr sz="1600" b="1" i="0">
                <a:solidFill>
                  <a:srgbClr val="FFFFFF"/>
                </a:solidFill>
              </a:rPr>
              <a:t>✓</a:t>
            </a:r>
          </a:p>
        </p:txBody>
      </p:sp>
      <p:sp>
        <p:nvSpPr>
          <p:cNvPr id="66" name="Rectangle 65"/>
          <p:cNvSpPr/>
          <p:nvPr/>
        </p:nvSpPr>
        <p:spPr>
          <a:xfrm>
            <a:off x="320040" y="4114800"/>
            <a:ext cx="11521440"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4187952"/>
            <a:ext cx="11247120" cy="548640"/>
          </a:xfrm>
          <a:prstGeom prst="rect">
            <a:avLst/>
          </a:prstGeom>
          <a:noFill/>
        </p:spPr>
        <p:txBody>
          <a:bodyPr wrap="square">
            <a:spAutoFit/>
          </a:bodyPr>
          <a:lstStyle/>
          <a:p>
            <a:pPr algn="l"/>
            <a:r>
              <a:rPr sz="1200" b="1" i="0">
                <a:solidFill>
                  <a:srgbClr val="0F172A"/>
                </a:solidFill>
              </a:rPr>
              <a:t>Our Moat:  Our dedicated focus on instant contract drafting for freelancers using AI gives us a unique position in the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GO-TO-MARKET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Engage first users; scale through community growth.</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74903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17320"/>
            <a:ext cx="3749039" cy="365760"/>
          </a:xfrm>
          <a:prstGeom prst="rect">
            <a:avLst/>
          </a:prstGeom>
          <a:noFill/>
        </p:spPr>
        <p:txBody>
          <a:bodyPr wrap="square">
            <a:spAutoFit/>
          </a:bodyPr>
          <a:lstStyle/>
          <a:p>
            <a:pPr algn="ctr"/>
            <a:r>
              <a:rPr sz="1100" b="1" i="0">
                <a:solidFill>
                  <a:srgbClr val="FFFFFF"/>
                </a:solidFill>
              </a:rPr>
              <a:t>Phase 1 · 0→100</a:t>
            </a:r>
          </a:p>
        </p:txBody>
      </p:sp>
      <p:sp>
        <p:nvSpPr>
          <p:cNvPr id="8" name="Rectangle 7"/>
          <p:cNvSpPr/>
          <p:nvPr/>
        </p:nvSpPr>
        <p:spPr>
          <a:xfrm>
            <a:off x="320040"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874520"/>
            <a:ext cx="3566159" cy="2194560"/>
          </a:xfrm>
          <a:prstGeom prst="rect">
            <a:avLst/>
          </a:prstGeom>
          <a:noFill/>
        </p:spPr>
        <p:txBody>
          <a:bodyPr wrap="square">
            <a:spAutoFit/>
          </a:bodyPr>
          <a:lstStyle/>
          <a:p>
            <a:pPr algn="l"/>
            <a:r>
              <a:rPr sz="1100" b="0" i="0">
                <a:solidFill>
                  <a:srgbClr val="0F172A"/>
                </a:solidFill>
              </a:rPr>
              <a:t>0→100 users through personal outreach and live demos for targeted freelancer communities.</a:t>
            </a:r>
          </a:p>
        </p:txBody>
      </p:sp>
      <p:sp>
        <p:nvSpPr>
          <p:cNvPr id="10" name="Rectangle 9"/>
          <p:cNvSpPr/>
          <p:nvPr/>
        </p:nvSpPr>
        <p:spPr>
          <a:xfrm>
            <a:off x="4251959" y="1417320"/>
            <a:ext cx="3749039"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59" y="1417320"/>
            <a:ext cx="3749039" cy="365760"/>
          </a:xfrm>
          <a:prstGeom prst="rect">
            <a:avLst/>
          </a:prstGeom>
          <a:noFill/>
        </p:spPr>
        <p:txBody>
          <a:bodyPr wrap="square">
            <a:spAutoFit/>
          </a:bodyPr>
          <a:lstStyle/>
          <a:p>
            <a:pPr algn="ctr"/>
            <a:r>
              <a:rPr sz="1100" b="1" i="0">
                <a:solidFill>
                  <a:srgbClr val="FFFFFF"/>
                </a:solidFill>
              </a:rPr>
              <a:t>Phase 2 · 100→1K</a:t>
            </a:r>
          </a:p>
        </p:txBody>
      </p:sp>
      <p:sp>
        <p:nvSpPr>
          <p:cNvPr id="12" name="Rectangle 11"/>
          <p:cNvSpPr/>
          <p:nvPr/>
        </p:nvSpPr>
        <p:spPr>
          <a:xfrm>
            <a:off x="4251959"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399" y="1874520"/>
            <a:ext cx="3566159" cy="2194560"/>
          </a:xfrm>
          <a:prstGeom prst="rect">
            <a:avLst/>
          </a:prstGeom>
          <a:noFill/>
        </p:spPr>
        <p:txBody>
          <a:bodyPr wrap="square">
            <a:spAutoFit/>
          </a:bodyPr>
          <a:lstStyle/>
          <a:p>
            <a:pPr algn="l"/>
            <a:r>
              <a:rPr sz="1100" b="0" i="0">
                <a:solidFill>
                  <a:srgbClr val="0F172A"/>
                </a:solidFill>
              </a:rPr>
              <a:t>100→1K users leveraging referral programs and organic community growth during months 4-6.</a:t>
            </a:r>
          </a:p>
        </p:txBody>
      </p:sp>
      <p:sp>
        <p:nvSpPr>
          <p:cNvPr id="14" name="Rectangle 13"/>
          <p:cNvSpPr/>
          <p:nvPr/>
        </p:nvSpPr>
        <p:spPr>
          <a:xfrm>
            <a:off x="8183878" y="1417320"/>
            <a:ext cx="3749039"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8" y="1417320"/>
            <a:ext cx="3749039" cy="365760"/>
          </a:xfrm>
          <a:prstGeom prst="rect">
            <a:avLst/>
          </a:prstGeom>
          <a:noFill/>
        </p:spPr>
        <p:txBody>
          <a:bodyPr wrap="square">
            <a:spAutoFit/>
          </a:bodyPr>
          <a:lstStyle/>
          <a:p>
            <a:pPr algn="ctr"/>
            <a:r>
              <a:rPr sz="1100" b="1" i="0">
                <a:solidFill>
                  <a:srgbClr val="FFFFFF"/>
                </a:solidFill>
              </a:rPr>
              <a:t>Phase 3 · 1K→10K</a:t>
            </a:r>
          </a:p>
        </p:txBody>
      </p:sp>
      <p:sp>
        <p:nvSpPr>
          <p:cNvPr id="16" name="Rectangle 15"/>
          <p:cNvSpPr/>
          <p:nvPr/>
        </p:nvSpPr>
        <p:spPr>
          <a:xfrm>
            <a:off x="8183878"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8" y="1874520"/>
            <a:ext cx="3566159" cy="2194560"/>
          </a:xfrm>
          <a:prstGeom prst="rect">
            <a:avLst/>
          </a:prstGeom>
          <a:noFill/>
        </p:spPr>
        <p:txBody>
          <a:bodyPr wrap="square">
            <a:spAutoFit/>
          </a:bodyPr>
          <a:lstStyle/>
          <a:p>
            <a:pPr algn="l"/>
            <a:r>
              <a:rPr sz="1100" b="0" i="0">
                <a:solidFill>
                  <a:srgbClr val="0F172A"/>
                </a:solidFill>
              </a:rPr>
              <a:t>1K→10K users through enhanced partnerships, content marketing, and thoughtful product-led growth.</a:t>
            </a:r>
          </a:p>
        </p:txBody>
      </p:sp>
      <p:sp>
        <p:nvSpPr>
          <p:cNvPr id="18" name="TextBox 17"/>
          <p:cNvSpPr txBox="1"/>
          <p:nvPr/>
        </p:nvSpPr>
        <p:spPr>
          <a:xfrm>
            <a:off x="320040" y="4572000"/>
            <a:ext cx="2743200" cy="365760"/>
          </a:xfrm>
          <a:prstGeom prst="rect">
            <a:avLst/>
          </a:prstGeom>
          <a:noFill/>
        </p:spPr>
        <p:txBody>
          <a:bodyPr wrap="square">
            <a:spAutoFit/>
          </a:bodyPr>
          <a:lstStyle/>
          <a:p>
            <a:pPr algn="l"/>
            <a:r>
              <a:rPr sz="1200" b="1" i="0">
                <a:solidFill>
                  <a:srgbClr val="0F172A"/>
                </a:solidFill>
              </a:rPr>
              <a:t>Primary Channels:</a:t>
            </a:r>
          </a:p>
        </p:txBody>
      </p:sp>
      <p:sp>
        <p:nvSpPr>
          <p:cNvPr id="19" name="TextBox 18"/>
          <p:cNvSpPr txBox="1"/>
          <p:nvPr/>
        </p:nvSpPr>
        <p:spPr>
          <a:xfrm>
            <a:off x="2560320" y="4572000"/>
            <a:ext cx="9326880" cy="365760"/>
          </a:xfrm>
          <a:prstGeom prst="rect">
            <a:avLst/>
          </a:prstGeom>
          <a:noFill/>
        </p:spPr>
        <p:txBody>
          <a:bodyPr wrap="square">
            <a:spAutoFit/>
          </a:bodyPr>
          <a:lstStyle/>
          <a:p>
            <a:pPr algn="l"/>
            <a:r>
              <a:rPr sz="1200" b="0" i="0">
                <a:solidFill>
                  <a:srgbClr val="64748B"/>
                </a:solidFill>
              </a:rPr>
              <a:t>Community engagement in freelancer forums.  ·  Content marketing on social media.  ·  Referral programs to boost organic growth.</a:t>
            </a:r>
          </a:p>
        </p:txBody>
      </p:sp>
      <p:sp>
        <p:nvSpPr>
          <p:cNvPr id="20" name="Rectangle 19"/>
          <p:cNvSpPr/>
          <p:nvPr/>
        </p:nvSpPr>
        <p:spPr>
          <a:xfrm>
            <a:off x="320040" y="5120640"/>
            <a:ext cx="11521440" cy="731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93792"/>
            <a:ext cx="11155680" cy="548640"/>
          </a:xfrm>
          <a:prstGeom prst="rect">
            <a:avLst/>
          </a:prstGeom>
          <a:noFill/>
        </p:spPr>
        <p:txBody>
          <a:bodyPr wrap="square">
            <a:spAutoFit/>
          </a:bodyPr>
          <a:lstStyle/>
          <a:p>
            <a:pPr algn="l"/>
            <a:r>
              <a:rPr sz="1200" b="1" i="0">
                <a:solidFill>
                  <a:srgbClr val="F59E0B"/>
                </a:solidFill>
              </a:rPr>
              <a:t>⭐  Percentage of contracts paid on time, indicating user trust and efficiency.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TEAM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 dedicated team with personal experience in freelancing.</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1152144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1155680" cy="1600200"/>
          </a:xfrm>
          <a:prstGeom prst="rect">
            <a:avLst/>
          </a:prstGeom>
          <a:noFill/>
        </p:spPr>
        <p:txBody>
          <a:bodyPr wrap="square">
            <a:spAutoFit/>
          </a:bodyPr>
          <a:lstStyle/>
          <a:p>
            <a:pPr algn="l"/>
            <a:r>
              <a:rPr sz="1400" b="0" i="1">
                <a:solidFill>
                  <a:srgbClr val="FFFFFF"/>
                </a:solidFill>
              </a:rPr>
              <a:t>We’ve lived this problem — our founder is a former freelancer who faced non-payment issues firsthand. This personal touch drives our mission.</a:t>
            </a:r>
          </a:p>
        </p:txBody>
      </p:sp>
      <p:sp>
        <p:nvSpPr>
          <p:cNvPr id="8" name="TextBox 7"/>
          <p:cNvSpPr txBox="1"/>
          <p:nvPr/>
        </p:nvSpPr>
        <p:spPr>
          <a:xfrm>
            <a:off x="320040" y="3429000"/>
            <a:ext cx="5486400" cy="365760"/>
          </a:xfrm>
          <a:prstGeom prst="rect">
            <a:avLst/>
          </a:prstGeom>
          <a:noFill/>
        </p:spPr>
        <p:txBody>
          <a:bodyPr wrap="square">
            <a:spAutoFit/>
          </a:bodyPr>
          <a:lstStyle/>
          <a:p>
            <a:pPr algn="l"/>
            <a:r>
              <a:rPr sz="1400" b="1" i="0">
                <a:solidFill>
                  <a:srgbClr val="0F172A"/>
                </a:solidFill>
              </a:rPr>
              <a:t>Key Hires Needed</a:t>
            </a:r>
          </a:p>
        </p:txBody>
      </p:sp>
      <p:sp>
        <p:nvSpPr>
          <p:cNvPr id="9" name="Rectangle 8"/>
          <p:cNvSpPr/>
          <p:nvPr/>
        </p:nvSpPr>
        <p:spPr>
          <a:xfrm>
            <a:off x="320040" y="3931920"/>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840480"/>
            <a:ext cx="11064240" cy="411480"/>
          </a:xfrm>
          <a:prstGeom prst="rect">
            <a:avLst/>
          </a:prstGeom>
          <a:noFill/>
        </p:spPr>
        <p:txBody>
          <a:bodyPr wrap="square">
            <a:spAutoFit/>
          </a:bodyPr>
          <a:lstStyle/>
          <a:p>
            <a:pPr algn="l"/>
            <a:r>
              <a:rPr sz="1200" b="0" i="0">
                <a:solidFill>
                  <a:srgbClr val="0F172A"/>
                </a:solidFill>
              </a:rPr>
              <a:t>Customer success manager to improve user interactions</a:t>
            </a:r>
          </a:p>
        </p:txBody>
      </p:sp>
      <p:sp>
        <p:nvSpPr>
          <p:cNvPr id="11" name="Rectangle 10"/>
          <p:cNvSpPr/>
          <p:nvPr/>
        </p:nvSpPr>
        <p:spPr>
          <a:xfrm>
            <a:off x="320040" y="44074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315968"/>
            <a:ext cx="11064240" cy="411480"/>
          </a:xfrm>
          <a:prstGeom prst="rect">
            <a:avLst/>
          </a:prstGeom>
          <a:noFill/>
        </p:spPr>
        <p:txBody>
          <a:bodyPr wrap="square">
            <a:spAutoFit/>
          </a:bodyPr>
          <a:lstStyle/>
          <a:p>
            <a:pPr algn="l"/>
            <a:r>
              <a:rPr sz="1200" b="0" i="0">
                <a:solidFill>
                  <a:srgbClr val="0F172A"/>
                </a:solidFill>
              </a:rPr>
              <a:t>Full-stack developer for future feature enhancements</a:t>
            </a:r>
          </a:p>
        </p:txBody>
      </p:sp>
      <p:sp>
        <p:nvSpPr>
          <p:cNvPr id="13" name="Rectangle 12"/>
          <p:cNvSpPr/>
          <p:nvPr/>
        </p:nvSpPr>
        <p:spPr>
          <a:xfrm>
            <a:off x="320040" y="4882896"/>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791456"/>
            <a:ext cx="11064240" cy="411480"/>
          </a:xfrm>
          <a:prstGeom prst="rect">
            <a:avLst/>
          </a:prstGeom>
          <a:noFill/>
        </p:spPr>
        <p:txBody>
          <a:bodyPr wrap="square">
            <a:spAutoFit/>
          </a:bodyPr>
          <a:lstStyle/>
          <a:p>
            <a:pPr algn="l"/>
            <a:r>
              <a:rPr sz="1200" b="0" i="0">
                <a:solidFill>
                  <a:srgbClr val="0F172A"/>
                </a:solidFill>
              </a:rPr>
              <a:t>Marketing specialist focusing on freelance channels.</a:t>
            </a:r>
          </a:p>
        </p:txBody>
      </p:sp>
      <p:sp>
        <p:nvSpPr>
          <p:cNvPr id="15" name="Rectangle 14"/>
          <p:cNvSpPr/>
          <p:nvPr/>
        </p:nvSpPr>
        <p:spPr>
          <a:xfrm>
            <a:off x="320040" y="5577840"/>
            <a:ext cx="11521440" cy="86868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685800"/>
          </a:xfrm>
          <a:prstGeom prst="rect">
            <a:avLst/>
          </a:prstGeom>
          <a:noFill/>
        </p:spPr>
        <p:txBody>
          <a:bodyPr wrap="square">
            <a:spAutoFit/>
          </a:bodyPr>
          <a:lstStyle/>
          <a:p>
            <a:pPr algn="l"/>
            <a:r>
              <a:rPr sz="1100" b="0" i="1">
                <a:solidFill>
                  <a:srgbClr val="64748B"/>
                </a:solidFill>
              </a:rPr>
              <a:t>Advisors / Supporters:  Seeking advisors with background in LegalTech and SaaS marketing to guide our growth strategy.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FINANCIALS</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Predictable growth towards $17,400 ARR by Year 1.</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54480"/>
            <a:ext cx="2743200" cy="594360"/>
          </a:xfrm>
          <a:prstGeom prst="rect">
            <a:avLst/>
          </a:prstGeom>
          <a:noFill/>
        </p:spPr>
        <p:txBody>
          <a:bodyPr wrap="square">
            <a:spAutoFit/>
          </a:bodyPr>
          <a:lstStyle/>
          <a:p>
            <a:pPr algn="ctr"/>
            <a:r>
              <a:rPr sz="2800" b="1" i="0">
                <a:solidFill>
                  <a:srgbClr val="FFFFFF"/>
                </a:solidFill>
              </a:rPr>
              <a:t>$17,400 ARR</a:t>
            </a:r>
          </a:p>
        </p:txBody>
      </p:sp>
      <p:sp>
        <p:nvSpPr>
          <p:cNvPr id="8" name="TextBox 7"/>
          <p:cNvSpPr txBox="1"/>
          <p:nvPr/>
        </p:nvSpPr>
        <p:spPr>
          <a:xfrm>
            <a:off x="320040" y="2103120"/>
            <a:ext cx="2743200" cy="365760"/>
          </a:xfrm>
          <a:prstGeom prst="rect">
            <a:avLst/>
          </a:prstGeom>
          <a:noFill/>
        </p:spPr>
        <p:txBody>
          <a:bodyPr wrap="square">
            <a:spAutoFit/>
          </a:bodyPr>
          <a:lstStyle/>
          <a:p>
            <a:pPr algn="ctr"/>
            <a:r>
              <a:rPr sz="1000" b="0" i="0">
                <a:solidFill>
                  <a:srgbClr val="FFFFFF"/>
                </a:solidFill>
              </a:rPr>
              <a:t>ARR · Month 12</a:t>
            </a:r>
          </a:p>
        </p:txBody>
      </p:sp>
      <p:sp>
        <p:nvSpPr>
          <p:cNvPr id="9" name="Rectangle 8"/>
          <p:cNvSpPr/>
          <p:nvPr/>
        </p:nvSpPr>
        <p:spPr>
          <a:xfrm>
            <a:off x="3227832"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1554480"/>
            <a:ext cx="2743200" cy="594360"/>
          </a:xfrm>
          <a:prstGeom prst="rect">
            <a:avLst/>
          </a:prstGeom>
          <a:noFill/>
        </p:spPr>
        <p:txBody>
          <a:bodyPr wrap="square">
            <a:spAutoFit/>
          </a:bodyPr>
          <a:lstStyle/>
          <a:p>
            <a:pPr algn="ctr"/>
            <a:r>
              <a:rPr sz="2800" b="1" i="0">
                <a:solidFill>
                  <a:srgbClr val="FFFFFF"/>
                </a:solidFill>
              </a:rPr>
              <a:t>50 paid users</a:t>
            </a:r>
          </a:p>
        </p:txBody>
      </p:sp>
      <p:sp>
        <p:nvSpPr>
          <p:cNvPr id="11" name="TextBox 10"/>
          <p:cNvSpPr txBox="1"/>
          <p:nvPr/>
        </p:nvSpPr>
        <p:spPr>
          <a:xfrm>
            <a:off x="3227832" y="2103120"/>
            <a:ext cx="2743200" cy="365760"/>
          </a:xfrm>
          <a:prstGeom prst="rect">
            <a:avLst/>
          </a:prstGeom>
          <a:noFill/>
        </p:spPr>
        <p:txBody>
          <a:bodyPr wrap="square">
            <a:spAutoFit/>
          </a:bodyPr>
          <a:lstStyle/>
          <a:p>
            <a:pPr algn="ctr"/>
            <a:r>
              <a:rPr sz="1000" b="0" i="0">
                <a:solidFill>
                  <a:srgbClr val="FFFFFF"/>
                </a:solidFill>
              </a:rPr>
              <a:t>Paying Users · M12</a:t>
            </a:r>
          </a:p>
        </p:txBody>
      </p:sp>
      <p:sp>
        <p:nvSpPr>
          <p:cNvPr id="12" name="Rectangle 11"/>
          <p:cNvSpPr/>
          <p:nvPr/>
        </p:nvSpPr>
        <p:spPr>
          <a:xfrm>
            <a:off x="6135624"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5624" y="1554480"/>
            <a:ext cx="2743200" cy="594360"/>
          </a:xfrm>
          <a:prstGeom prst="rect">
            <a:avLst/>
          </a:prstGeom>
          <a:noFill/>
        </p:spPr>
        <p:txBody>
          <a:bodyPr wrap="square">
            <a:spAutoFit/>
          </a:bodyPr>
          <a:lstStyle/>
          <a:p>
            <a:pPr algn="ctr"/>
            <a:r>
              <a:rPr sz="2800" b="1" i="0">
                <a:solidFill>
                  <a:srgbClr val="FFFFFF"/>
                </a:solidFill>
              </a:rPr>
              <a:t>48.3:1 LTV:CAC</a:t>
            </a:r>
          </a:p>
        </p:txBody>
      </p:sp>
      <p:sp>
        <p:nvSpPr>
          <p:cNvPr id="14" name="TextBox 13"/>
          <p:cNvSpPr txBox="1"/>
          <p:nvPr/>
        </p:nvSpPr>
        <p:spPr>
          <a:xfrm>
            <a:off x="6135624" y="2103120"/>
            <a:ext cx="2743200" cy="365760"/>
          </a:xfrm>
          <a:prstGeom prst="rect">
            <a:avLst/>
          </a:prstGeom>
          <a:noFill/>
        </p:spPr>
        <p:txBody>
          <a:bodyPr wrap="square">
            <a:spAutoFit/>
          </a:bodyPr>
          <a:lstStyle/>
          <a:p>
            <a:pPr algn="ctr"/>
            <a:r>
              <a:rPr sz="1000" b="0" i="0">
                <a:solidFill>
                  <a:srgbClr val="FFFFFF"/>
                </a:solidFill>
              </a:rPr>
              <a:t>LTV : CAC</a:t>
            </a:r>
          </a:p>
        </p:txBody>
      </p:sp>
      <p:sp>
        <p:nvSpPr>
          <p:cNvPr id="15" name="Rectangle 14"/>
          <p:cNvSpPr/>
          <p:nvPr/>
        </p:nvSpPr>
        <p:spPr>
          <a:xfrm>
            <a:off x="9043416"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1554480"/>
            <a:ext cx="2743200" cy="594360"/>
          </a:xfrm>
          <a:prstGeom prst="rect">
            <a:avLst/>
          </a:prstGeom>
          <a:noFill/>
        </p:spPr>
        <p:txBody>
          <a:bodyPr wrap="square">
            <a:spAutoFit/>
          </a:bodyPr>
          <a:lstStyle/>
          <a:p>
            <a:pPr algn="ctr"/>
            <a:r>
              <a:rPr sz="2800" b="1" i="0">
                <a:solidFill>
                  <a:srgbClr val="FFFFFF"/>
                </a:solidFill>
              </a:rPr>
              <a:t>Month 11</a:t>
            </a:r>
          </a:p>
        </p:txBody>
      </p:sp>
      <p:sp>
        <p:nvSpPr>
          <p:cNvPr id="17" name="TextBox 16"/>
          <p:cNvSpPr txBox="1"/>
          <p:nvPr/>
        </p:nvSpPr>
        <p:spPr>
          <a:xfrm>
            <a:off x="9043416" y="2103120"/>
            <a:ext cx="2743200" cy="365760"/>
          </a:xfrm>
          <a:prstGeom prst="rect">
            <a:avLst/>
          </a:prstGeom>
          <a:noFill/>
        </p:spPr>
        <p:txBody>
          <a:bodyPr wrap="square">
            <a:spAutoFit/>
          </a:bodyPr>
          <a:lstStyle/>
          <a:p>
            <a:pPr algn="ctr"/>
            <a:r>
              <a:rPr sz="1000" b="0" i="0">
                <a:solidFill>
                  <a:srgbClr val="FFFFFF"/>
                </a:solidFill>
              </a:rPr>
              <a:t>Break-Even</a:t>
            </a:r>
          </a:p>
        </p:txBody>
      </p:sp>
      <p:sp>
        <p:nvSpPr>
          <p:cNvPr id="18" name="Rectangle 17"/>
          <p:cNvSpPr/>
          <p:nvPr/>
        </p:nvSpPr>
        <p:spPr>
          <a:xfrm>
            <a:off x="320040"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090672"/>
            <a:ext cx="2743200" cy="594360"/>
          </a:xfrm>
          <a:prstGeom prst="rect">
            <a:avLst/>
          </a:prstGeom>
          <a:noFill/>
        </p:spPr>
        <p:txBody>
          <a:bodyPr wrap="square">
            <a:spAutoFit/>
          </a:bodyPr>
          <a:lstStyle/>
          <a:p>
            <a:pPr algn="ctr"/>
            <a:r>
              <a:rPr sz="2800" b="1" i="0">
                <a:solidFill>
                  <a:srgbClr val="FFFFFF"/>
                </a:solidFill>
              </a:rPr>
              <a:t>$1,450 MRR</a:t>
            </a:r>
          </a:p>
        </p:txBody>
      </p:sp>
      <p:sp>
        <p:nvSpPr>
          <p:cNvPr id="20" name="TextBox 19"/>
          <p:cNvSpPr txBox="1"/>
          <p:nvPr/>
        </p:nvSpPr>
        <p:spPr>
          <a:xfrm>
            <a:off x="320040" y="3639312"/>
            <a:ext cx="2743200" cy="365760"/>
          </a:xfrm>
          <a:prstGeom prst="rect">
            <a:avLst/>
          </a:prstGeom>
          <a:noFill/>
        </p:spPr>
        <p:txBody>
          <a:bodyPr wrap="square">
            <a:spAutoFit/>
          </a:bodyPr>
          <a:lstStyle/>
          <a:p>
            <a:pPr algn="ctr"/>
            <a:r>
              <a:rPr sz="1000" b="0" i="0">
                <a:solidFill>
                  <a:srgbClr val="FFFFFF"/>
                </a:solidFill>
              </a:rPr>
              <a:t>MRR · Month 12</a:t>
            </a:r>
          </a:p>
        </p:txBody>
      </p:sp>
      <p:sp>
        <p:nvSpPr>
          <p:cNvPr id="21" name="Rectangle 20"/>
          <p:cNvSpPr/>
          <p:nvPr/>
        </p:nvSpPr>
        <p:spPr>
          <a:xfrm>
            <a:off x="3227832"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832" y="3090672"/>
            <a:ext cx="2743200" cy="594360"/>
          </a:xfrm>
          <a:prstGeom prst="rect">
            <a:avLst/>
          </a:prstGeom>
          <a:noFill/>
        </p:spPr>
        <p:txBody>
          <a:bodyPr wrap="square">
            <a:spAutoFit/>
          </a:bodyPr>
          <a:lstStyle/>
          <a:p>
            <a:pPr algn="ctr"/>
            <a:r>
              <a:rPr sz="2800" b="1" i="0">
                <a:solidFill>
                  <a:srgbClr val="FFFFFF"/>
                </a:solidFill>
              </a:rPr>
              <a:t>80% gross margin</a:t>
            </a:r>
          </a:p>
        </p:txBody>
      </p:sp>
      <p:sp>
        <p:nvSpPr>
          <p:cNvPr id="23" name="TextBox 22"/>
          <p:cNvSpPr txBox="1"/>
          <p:nvPr/>
        </p:nvSpPr>
        <p:spPr>
          <a:xfrm>
            <a:off x="3227832" y="3639312"/>
            <a:ext cx="2743200" cy="365760"/>
          </a:xfrm>
          <a:prstGeom prst="rect">
            <a:avLst/>
          </a:prstGeom>
          <a:noFill/>
        </p:spPr>
        <p:txBody>
          <a:bodyPr wrap="square">
            <a:spAutoFit/>
          </a:bodyPr>
          <a:lstStyle/>
          <a:p>
            <a:pPr algn="ctr"/>
            <a:r>
              <a:rPr sz="1000" b="0" i="0">
                <a:solidFill>
                  <a:srgbClr val="FFFFFF"/>
                </a:solidFill>
              </a:rPr>
              <a:t>Gross Margin</a:t>
            </a:r>
          </a:p>
        </p:txBody>
      </p:sp>
      <p:sp>
        <p:nvSpPr>
          <p:cNvPr id="24" name="Rectangle 23"/>
          <p:cNvSpPr/>
          <p:nvPr/>
        </p:nvSpPr>
        <p:spPr>
          <a:xfrm>
            <a:off x="6135624"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5624" y="3090672"/>
            <a:ext cx="2743200" cy="594360"/>
          </a:xfrm>
          <a:prstGeom prst="rect">
            <a:avLst/>
          </a:prstGeom>
          <a:noFill/>
        </p:spPr>
        <p:txBody>
          <a:bodyPr wrap="square">
            <a:spAutoFit/>
          </a:bodyPr>
          <a:lstStyle/>
          <a:p>
            <a:pPr algn="ctr"/>
            <a:r>
              <a:rPr sz="2800" b="1" i="0">
                <a:solidFill>
                  <a:srgbClr val="FFFFFF"/>
                </a:solidFill>
              </a:rPr>
              <a:t>30 months runway</a:t>
            </a:r>
          </a:p>
        </p:txBody>
      </p:sp>
      <p:sp>
        <p:nvSpPr>
          <p:cNvPr id="26" name="TextBox 25"/>
          <p:cNvSpPr txBox="1"/>
          <p:nvPr/>
        </p:nvSpPr>
        <p:spPr>
          <a:xfrm>
            <a:off x="6135624" y="3639312"/>
            <a:ext cx="2743200" cy="365760"/>
          </a:xfrm>
          <a:prstGeom prst="rect">
            <a:avLst/>
          </a:prstGeom>
          <a:noFill/>
        </p:spPr>
        <p:txBody>
          <a:bodyPr wrap="square">
            <a:spAutoFit/>
          </a:bodyPr>
          <a:lstStyle/>
          <a:p>
            <a:pPr algn="ctr"/>
            <a:r>
              <a:rPr sz="1000" b="0" i="0">
                <a:solidFill>
                  <a:srgbClr val="FFFFFF"/>
                </a:solidFill>
              </a:rPr>
              <a:t>Runway</a:t>
            </a:r>
          </a:p>
        </p:txBody>
      </p:sp>
      <p:sp>
        <p:nvSpPr>
          <p:cNvPr id="27" name="Rectangle 26"/>
          <p:cNvSpPr/>
          <p:nvPr/>
        </p:nvSpPr>
        <p:spPr>
          <a:xfrm>
            <a:off x="9043416"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43416" y="3090672"/>
            <a:ext cx="2743200" cy="594360"/>
          </a:xfrm>
          <a:prstGeom prst="rect">
            <a:avLst/>
          </a:prstGeom>
          <a:noFill/>
        </p:spPr>
        <p:txBody>
          <a:bodyPr wrap="square">
            <a:spAutoFit/>
          </a:bodyPr>
          <a:lstStyle/>
          <a:p>
            <a:pPr algn="ctr"/>
            <a:r>
              <a:rPr sz="2800" b="1" i="0">
                <a:solidFill>
                  <a:srgbClr val="FFFFFF"/>
                </a:solidFill>
              </a:rPr>
              <a:t>$0 (self-funded)</a:t>
            </a:r>
          </a:p>
        </p:txBody>
      </p:sp>
      <p:sp>
        <p:nvSpPr>
          <p:cNvPr id="29" name="TextBox 28"/>
          <p:cNvSpPr txBox="1"/>
          <p:nvPr/>
        </p:nvSpPr>
        <p:spPr>
          <a:xfrm>
            <a:off x="9043416" y="3639312"/>
            <a:ext cx="2743200" cy="365760"/>
          </a:xfrm>
          <a:prstGeom prst="rect">
            <a:avLst/>
          </a:prstGeom>
          <a:noFill/>
        </p:spPr>
        <p:txBody>
          <a:bodyPr wrap="square">
            <a:spAutoFit/>
          </a:bodyPr>
          <a:lstStyle/>
          <a:p>
            <a:pPr algn="ctr"/>
            <a:r>
              <a:rPr sz="1000" b="0" i="0">
                <a:solidFill>
                  <a:srgbClr val="FFFFFF"/>
                </a:solidFill>
              </a:rPr>
              <a:t>Raising</a:t>
            </a:r>
          </a:p>
        </p:txBody>
      </p:sp>
      <p:sp>
        <p:nvSpPr>
          <p:cNvPr id="30" name="TextBox 29"/>
          <p:cNvSpPr txBox="1"/>
          <p:nvPr/>
        </p:nvSpPr>
        <p:spPr>
          <a:xfrm>
            <a:off x="320040" y="4389120"/>
            <a:ext cx="11521440" cy="685800"/>
          </a:xfrm>
          <a:prstGeom prst="rect">
            <a:avLst/>
          </a:prstGeom>
          <a:noFill/>
        </p:spPr>
        <p:txBody>
          <a:bodyPr wrap="square">
            <a:spAutoFit/>
          </a:bodyPr>
          <a:lstStyle/>
          <a:p>
            <a:pPr algn="l"/>
            <a:r>
              <a:rPr sz="1200" b="0" i="1">
                <a:solidFill>
                  <a:srgbClr val="64748B"/>
                </a:solidFill>
              </a:rPr>
              <a:t>With a solid marketing strategy and current traction, we're set to secure a strong position in the market by reaching our ARR goal in Year 1 while maintaining a healthy profit margin.</a:t>
            </a:r>
          </a:p>
        </p:txBody>
      </p:sp>
      <p:sp>
        <p:nvSpPr>
          <p:cNvPr id="31" name="Rectangle 30"/>
          <p:cNvSpPr/>
          <p:nvPr/>
        </p:nvSpPr>
        <p:spPr>
          <a:xfrm>
            <a:off x="320040" y="5212080"/>
            <a:ext cx="11521440"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285232"/>
            <a:ext cx="11155680" cy="411480"/>
          </a:xfrm>
          <a:prstGeom prst="rect">
            <a:avLst/>
          </a:prstGeom>
          <a:noFill/>
        </p:spPr>
        <p:txBody>
          <a:bodyPr wrap="square">
            <a:spAutoFit/>
          </a:bodyPr>
          <a:lstStyle/>
          <a:p>
            <a:pPr algn="l"/>
            <a:r>
              <a:rPr sz="1000" b="0" i="0">
                <a:solidFill>
                  <a:srgbClr val="64748B"/>
                </a:solidFill>
              </a:rPr>
              <a:t>Assumptions:  5-8% free-to-paid conversion rate,  ·  3% monthly churn expected,  ·  $1,000 CAC through our community-driven marketing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ASK</a:t>
            </a:r>
          </a:p>
        </p:txBody>
      </p:sp>
      <p:sp>
        <p:nvSpPr>
          <p:cNvPr id="5" name="TextBox 4"/>
          <p:cNvSpPr txBox="1"/>
          <p:nvPr/>
        </p:nvSpPr>
        <p:spPr>
          <a:xfrm>
            <a:off x="502920" y="274320"/>
            <a:ext cx="11430000" cy="731520"/>
          </a:xfrm>
          <a:prstGeom prst="rect">
            <a:avLst/>
          </a:prstGeom>
          <a:noFill/>
        </p:spPr>
        <p:txBody>
          <a:bodyPr wrap="square">
            <a:spAutoFit/>
          </a:bodyPr>
          <a:lstStyle/>
          <a:p>
            <a:pPr algn="l"/>
            <a:r>
              <a:rPr sz="2400" b="1" i="0">
                <a:solidFill>
                  <a:srgbClr val="FFFFFF"/>
                </a:solidFill>
              </a:rPr>
              <a:t>Building the future of freelance contract management.</a:t>
            </a:r>
          </a:p>
        </p:txBody>
      </p:sp>
      <p:sp>
        <p:nvSpPr>
          <p:cNvPr id="6" name="TextBox 5"/>
          <p:cNvSpPr txBox="1"/>
          <p:nvPr/>
        </p:nvSpPr>
        <p:spPr>
          <a:xfrm>
            <a:off x="502920" y="1005840"/>
            <a:ext cx="11430000" cy="685800"/>
          </a:xfrm>
          <a:prstGeom prst="rect">
            <a:avLst/>
          </a:prstGeom>
          <a:noFill/>
        </p:spPr>
        <p:txBody>
          <a:bodyPr wrap="square">
            <a:spAutoFit/>
          </a:bodyPr>
          <a:lstStyle/>
          <a:p>
            <a:pPr algn="l"/>
            <a:r>
              <a:rPr sz="3600" b="1" i="0">
                <a:solidFill>
                  <a:srgbClr val="F59E0B"/>
                </a:solidFill>
              </a:rPr>
              <a:t>$0 (self-funded)</a:t>
            </a:r>
          </a:p>
        </p:txBody>
      </p:sp>
      <p:sp>
        <p:nvSpPr>
          <p:cNvPr id="7" name="Rectangle 6"/>
          <p:cNvSpPr/>
          <p:nvPr/>
        </p:nvSpPr>
        <p:spPr>
          <a:xfrm>
            <a:off x="502920"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20240"/>
            <a:ext cx="2560320" cy="1188720"/>
          </a:xfrm>
          <a:prstGeom prst="rect">
            <a:avLst/>
          </a:prstGeom>
          <a:noFill/>
        </p:spPr>
        <p:txBody>
          <a:bodyPr wrap="square">
            <a:spAutoFit/>
          </a:bodyPr>
          <a:lstStyle/>
          <a:p>
            <a:pPr algn="l"/>
            <a:r>
              <a:rPr sz="1100" b="0" i="0">
                <a:solidFill>
                  <a:srgbClr val="FFFFFF"/>
                </a:solidFill>
              </a:rPr>
              <a:t>Product development (40%) — $32,000</a:t>
            </a:r>
          </a:p>
        </p:txBody>
      </p:sp>
      <p:sp>
        <p:nvSpPr>
          <p:cNvPr id="9" name="Rectangle 8"/>
          <p:cNvSpPr/>
          <p:nvPr/>
        </p:nvSpPr>
        <p:spPr>
          <a:xfrm>
            <a:off x="3447288"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920240"/>
            <a:ext cx="2560320" cy="1188720"/>
          </a:xfrm>
          <a:prstGeom prst="rect">
            <a:avLst/>
          </a:prstGeom>
          <a:noFill/>
        </p:spPr>
        <p:txBody>
          <a:bodyPr wrap="square">
            <a:spAutoFit/>
          </a:bodyPr>
          <a:lstStyle/>
          <a:p>
            <a:pPr algn="l"/>
            <a:r>
              <a:rPr sz="1100" b="0" i="0">
                <a:solidFill>
                  <a:srgbClr val="FFFFFF"/>
                </a:solidFill>
              </a:rPr>
              <a:t>Marketing &amp; user acquisition (30%) — $24,000</a:t>
            </a:r>
          </a:p>
        </p:txBody>
      </p:sp>
      <p:sp>
        <p:nvSpPr>
          <p:cNvPr id="11" name="Rectangle 10"/>
          <p:cNvSpPr/>
          <p:nvPr/>
        </p:nvSpPr>
        <p:spPr>
          <a:xfrm>
            <a:off x="6391656"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920240"/>
            <a:ext cx="2560320" cy="1188720"/>
          </a:xfrm>
          <a:prstGeom prst="rect">
            <a:avLst/>
          </a:prstGeom>
          <a:noFill/>
        </p:spPr>
        <p:txBody>
          <a:bodyPr wrap="square">
            <a:spAutoFit/>
          </a:bodyPr>
          <a:lstStyle/>
          <a:p>
            <a:pPr algn="l"/>
            <a:r>
              <a:rPr sz="1100" b="0" i="0">
                <a:solidFill>
                  <a:srgbClr val="FFFFFF"/>
                </a:solidFill>
              </a:rPr>
              <a:t>Cloud services and infrastructure (20%) — $16,000</a:t>
            </a:r>
          </a:p>
        </p:txBody>
      </p:sp>
      <p:sp>
        <p:nvSpPr>
          <p:cNvPr id="13" name="Rectangle 12"/>
          <p:cNvSpPr/>
          <p:nvPr/>
        </p:nvSpPr>
        <p:spPr>
          <a:xfrm>
            <a:off x="9336024"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7464" y="1920240"/>
            <a:ext cx="2560320" cy="1188720"/>
          </a:xfrm>
          <a:prstGeom prst="rect">
            <a:avLst/>
          </a:prstGeom>
          <a:noFill/>
        </p:spPr>
        <p:txBody>
          <a:bodyPr wrap="square">
            <a:spAutoFit/>
          </a:bodyPr>
          <a:lstStyle/>
          <a:p>
            <a:pPr algn="l"/>
            <a:r>
              <a:rPr sz="1100" b="0" i="0">
                <a:solidFill>
                  <a:srgbClr val="FFFFFF"/>
                </a:solidFill>
              </a:rPr>
              <a:t>Legal and compliance (10%) — $8,000</a:t>
            </a:r>
          </a:p>
        </p:txBody>
      </p:sp>
      <p:sp>
        <p:nvSpPr>
          <p:cNvPr id="15" name="TextBox 14"/>
          <p:cNvSpPr txBox="1"/>
          <p:nvPr/>
        </p:nvSpPr>
        <p:spPr>
          <a:xfrm>
            <a:off x="502920" y="3383280"/>
            <a:ext cx="5486400" cy="365760"/>
          </a:xfrm>
          <a:prstGeom prst="rect">
            <a:avLst/>
          </a:prstGeom>
          <a:noFill/>
        </p:spPr>
        <p:txBody>
          <a:bodyPr wrap="square">
            <a:spAutoFit/>
          </a:bodyPr>
          <a:lstStyle/>
          <a:p>
            <a:pPr algn="l"/>
            <a:r>
              <a:rPr sz="1300" b="1" i="0">
                <a:solidFill>
                  <a:srgbClr val="E2E8F0"/>
                </a:solidFill>
              </a:rPr>
              <a:t>Milestones This Unlocks</a:t>
            </a:r>
          </a:p>
        </p:txBody>
      </p:sp>
      <p:sp>
        <p:nvSpPr>
          <p:cNvPr id="16" name="Rectangle 15"/>
          <p:cNvSpPr/>
          <p:nvPr/>
        </p:nvSpPr>
        <p:spPr>
          <a:xfrm>
            <a:off x="502920" y="38862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94760"/>
            <a:ext cx="11064240" cy="411480"/>
          </a:xfrm>
          <a:prstGeom prst="rect">
            <a:avLst/>
          </a:prstGeom>
          <a:noFill/>
        </p:spPr>
        <p:txBody>
          <a:bodyPr wrap="square">
            <a:spAutoFit/>
          </a:bodyPr>
          <a:lstStyle/>
          <a:p>
            <a:pPr algn="l"/>
            <a:r>
              <a:rPr sz="1200" b="0" i="0">
                <a:solidFill>
                  <a:srgbClr val="E2E8F0"/>
                </a:solidFill>
              </a:rPr>
              <a:t>Launching MVP and onboarding initial users.</a:t>
            </a:r>
          </a:p>
        </p:txBody>
      </p:sp>
      <p:sp>
        <p:nvSpPr>
          <p:cNvPr id="18" name="Rectangle 17"/>
          <p:cNvSpPr/>
          <p:nvPr/>
        </p:nvSpPr>
        <p:spPr>
          <a:xfrm>
            <a:off x="502920" y="43434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60"/>
            <a:ext cx="11064240" cy="411480"/>
          </a:xfrm>
          <a:prstGeom prst="rect">
            <a:avLst/>
          </a:prstGeom>
          <a:noFill/>
        </p:spPr>
        <p:txBody>
          <a:bodyPr wrap="square">
            <a:spAutoFit/>
          </a:bodyPr>
          <a:lstStyle/>
          <a:p>
            <a:pPr algn="l"/>
            <a:r>
              <a:rPr sz="1200" b="0" i="0">
                <a:solidFill>
                  <a:srgbClr val="E2E8F0"/>
                </a:solidFill>
              </a:rPr>
              <a:t>Securing partnerships with freelance platforms.</a:t>
            </a:r>
          </a:p>
        </p:txBody>
      </p:sp>
      <p:sp>
        <p:nvSpPr>
          <p:cNvPr id="20" name="Rectangle 19"/>
          <p:cNvSpPr/>
          <p:nvPr/>
        </p:nvSpPr>
        <p:spPr>
          <a:xfrm>
            <a:off x="502920" y="48006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09160"/>
            <a:ext cx="11064240" cy="411480"/>
          </a:xfrm>
          <a:prstGeom prst="rect">
            <a:avLst/>
          </a:prstGeom>
          <a:noFill/>
        </p:spPr>
        <p:txBody>
          <a:bodyPr wrap="square">
            <a:spAutoFit/>
          </a:bodyPr>
          <a:lstStyle/>
          <a:p>
            <a:pPr algn="l"/>
            <a:r>
              <a:rPr sz="1200" b="0" i="0">
                <a:solidFill>
                  <a:srgbClr val="E2E8F0"/>
                </a:solidFill>
              </a:rPr>
              <a:t>Establishing a strong brand presence in the LegalTech space.</a:t>
            </a:r>
          </a:p>
        </p:txBody>
      </p:sp>
      <p:sp>
        <p:nvSpPr>
          <p:cNvPr id="22" name="Rectangle 21"/>
          <p:cNvSpPr/>
          <p:nvPr/>
        </p:nvSpPr>
        <p:spPr>
          <a:xfrm>
            <a:off x="320040" y="5303520"/>
            <a:ext cx="1152144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94960"/>
            <a:ext cx="11155680" cy="1097280"/>
          </a:xfrm>
          <a:prstGeom prst="rect">
            <a:avLst/>
          </a:prstGeom>
          <a:noFill/>
        </p:spPr>
        <p:txBody>
          <a:bodyPr wrap="square">
            <a:spAutoFit/>
          </a:bodyPr>
          <a:lstStyle/>
          <a:p>
            <a:pPr algn="ctr"/>
            <a:r>
              <a:rPr sz="1600" b="1" i="1">
                <a:solidFill>
                  <a:srgbClr val="FFFFFF"/>
                </a:solidFill>
              </a:rPr>
              <a:t>The freelance economy is booming, and we have the chance to redefine contract management for millions of freelancers. Together, let’s empower them to get paid — on time, every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