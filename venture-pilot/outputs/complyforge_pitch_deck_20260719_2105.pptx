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I'm excited to share how ComplyForge is revolutionizing compliance reporting for fintech startups. Let's dive into the challenges we are addressing.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Fintech compliance teams are overwhelmed by manual processes, changing regulations, and the looming threats of penalties. These pain points create an urgent need for a tailored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ComplyForge directly addresses these core issues by automating report generation, providing real-time updates, and offering customized solutions — helping finance teams regain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how simple the user experience is with ComplyForge, designed for efficiency at every step—injust three steps, compliance reporting becomes seamless!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rapidly growing compliance tooling market and clear shifts in industry demands, ComplyForge is perfectly positioned to take a significant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pricing reflects our dedication to accessibility for startups while eventually moving towards more profitable metrics through enhanced user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positive response from our beta testers highlights the demand we've tapped into, validating our approach to the solution and market.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our competitors provide solid tools, the gaps in customization and support leave startups vulnerable. With ComplyForge, we aim to fill those gaps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planned a strategic approach to user acquisition that involves manual outreach first, gradually transitioning to scaled efforts through content and community.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 deeply experienced team that recognizes the pain points of compliance in fintech and is passionately committed to solving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believe in our financial model, which is built on realistic assumptions and growth strategies. Our goal is to reach profitability quickly.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invite you to be a part of this mission to reshape compliance automation for fintech. Together, we can build something extraordinary.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1280160"/>
          </a:xfrm>
          <a:prstGeom prst="rect">
            <a:avLst/>
          </a:prstGeom>
          <a:noFill/>
        </p:spPr>
        <p:txBody>
          <a:bodyPr wrap="square">
            <a:spAutoFit/>
          </a:bodyPr>
          <a:lstStyle/>
          <a:p>
            <a:pPr algn="l"/>
            <a:r>
              <a:rPr sz="6400" b="1" i="0">
                <a:solidFill>
                  <a:srgbClr val="FFFFFF"/>
                </a:solidFill>
              </a:rPr>
              <a:t>ComplyForge</a:t>
            </a:r>
          </a:p>
        </p:txBody>
      </p:sp>
      <p:sp>
        <p:nvSpPr>
          <p:cNvPr id="5" name="TextBox 4"/>
          <p:cNvSpPr txBox="1"/>
          <p:nvPr/>
        </p:nvSpPr>
        <p:spPr>
          <a:xfrm>
            <a:off x="548640" y="2743200"/>
            <a:ext cx="9144000" cy="548640"/>
          </a:xfrm>
          <a:prstGeom prst="rect">
            <a:avLst/>
          </a:prstGeom>
          <a:noFill/>
        </p:spPr>
        <p:txBody>
          <a:bodyPr wrap="square">
            <a:spAutoFit/>
          </a:bodyPr>
          <a:lstStyle/>
          <a:p>
            <a:pPr algn="l"/>
            <a:r>
              <a:rPr sz="2200" b="0" i="0">
                <a:solidFill>
                  <a:srgbClr val="F59E0B"/>
                </a:solidFill>
              </a:rPr>
              <a:t>Crafting Compliance with Precision</a:t>
            </a:r>
          </a:p>
        </p:txBody>
      </p:sp>
      <p:sp>
        <p:nvSpPr>
          <p:cNvPr id="6" name="TextBox 5"/>
          <p:cNvSpPr txBox="1"/>
          <p:nvPr/>
        </p:nvSpPr>
        <p:spPr>
          <a:xfrm>
            <a:off x="548640" y="3383280"/>
            <a:ext cx="10058400" cy="640080"/>
          </a:xfrm>
          <a:prstGeom prst="rect">
            <a:avLst/>
          </a:prstGeom>
          <a:noFill/>
        </p:spPr>
        <p:txBody>
          <a:bodyPr wrap="square">
            <a:spAutoFit/>
          </a:bodyPr>
          <a:lstStyle/>
          <a:p>
            <a:pPr algn="l"/>
            <a:r>
              <a:rPr sz="1400" b="0" i="1">
                <a:solidFill>
                  <a:srgbClr val="E2E8F0"/>
                </a:solidFill>
              </a:rPr>
              <a:t>ComplyForge empowers fintech startups to master their compliance reporting effortlessly. We automate tailored reports and keep you updated on the latest regulations, so you can focus on your growth without fear of penalties. Compliance, made easy.</a:t>
            </a:r>
          </a:p>
        </p:txBody>
      </p:sp>
      <p:sp>
        <p:nvSpPr>
          <p:cNvPr id="7" name="TextBox 6"/>
          <p:cNvSpPr txBox="1"/>
          <p:nvPr/>
        </p:nvSpPr>
        <p:spPr>
          <a:xfrm>
            <a:off x="10515600" y="6309360"/>
            <a:ext cx="1463040" cy="365760"/>
          </a:xfrm>
          <a:prstGeom prst="rect">
            <a:avLst/>
          </a:prstGeom>
          <a:noFill/>
        </p:spPr>
        <p:txBody>
          <a:bodyPr wrap="square">
            <a:spAutoFit/>
          </a:bodyPr>
          <a:lstStyle/>
          <a:p>
            <a:pPr algn="r"/>
            <a:r>
              <a:rPr sz="1100" b="0" i="0">
                <a:solidFill>
                  <a:srgbClr val="64748B"/>
                </a:solidFill>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PROBLEM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Indian freelancers lose months of income waiting to get paid.</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Manual reporting processes yield inefficiencies.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92% of compliance teams report spending too much time on manual report generation Tasks — Source: Compliance Week 2023.</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Pace of regulatory changes outstrips team capacity.</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Compliance teams in startups struggle to keep up with 64% of regulations that evolve within the quarter — Source: PwC 2023.</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High costs of compliance failures.</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Fintech startups face penalties averaging $1.2 million annually due to compliance failures — Source: Reuters 2023.</a:t>
            </a:r>
          </a:p>
        </p:txBody>
      </p:sp>
      <p:sp>
        <p:nvSpPr>
          <p:cNvPr id="15" name="Rectangle 14"/>
          <p:cNvSpPr/>
          <p:nvPr/>
        </p:nvSpPr>
        <p:spPr>
          <a:xfrm>
            <a:off x="320040" y="5577840"/>
            <a:ext cx="11521440" cy="960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0F172A"/>
                </a:solidFill>
              </a:rPr>
              <a:t>Every compliance analyst knows the stress of missed deadlines and impending fines. ComplyForge is here to help them breathe easier.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SOLUTION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ComplyForge: Automate Your Compliance Reporting.</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Automated report generation improves efficiency.</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Reduce manual efforts with automated, accurate reports.</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Real-time regulation tracking keeps you informed.</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Be proactive with instant updates on changing compliance requirements.</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Customizable templates fit your reporting needs.</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Easily adjust reports to ensure alignment with specific regulatory standards.</a:t>
            </a:r>
          </a:p>
        </p:txBody>
      </p:sp>
      <p:sp>
        <p:nvSpPr>
          <p:cNvPr id="15" name="Rectangle 14"/>
          <p:cNvSpPr/>
          <p:nvPr/>
        </p:nvSpPr>
        <p:spPr>
          <a:xfrm>
            <a:off x="320040" y="5577840"/>
            <a:ext cx="1152144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FFFFFF"/>
                </a:solidFill>
              </a:rPr>
              <a:t>With ComplyForge, you send one request, and we handle the rest—tailoring each compliance report to your operational reality.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PRODUCT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Streamlined Compliance Reporting — Built for Fintech Startups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5486400" cy="1325880"/>
          </a:xfrm>
          <a:prstGeom prst="rect">
            <a:avLst/>
          </a:prstGeom>
          <a:noFill/>
        </p:spPr>
        <p:txBody>
          <a:bodyPr wrap="square">
            <a:spAutoFit/>
          </a:bodyPr>
          <a:lstStyle/>
          <a:p>
            <a:pPr algn="l"/>
            <a:r>
              <a:rPr sz="1300" b="0" i="0">
                <a:solidFill>
                  <a:srgbClr val="FFFFFF"/>
                </a:solidFill>
              </a:rPr>
              <a:t>Automated Report Generation — reducing manual effort significantly.</a:t>
            </a:r>
          </a:p>
        </p:txBody>
      </p:sp>
      <p:sp>
        <p:nvSpPr>
          <p:cNvPr id="8" name="Rectangle 7"/>
          <p:cNvSpPr/>
          <p:nvPr/>
        </p:nvSpPr>
        <p:spPr>
          <a:xfrm>
            <a:off x="6263640" y="141732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5486400" cy="1325880"/>
          </a:xfrm>
          <a:prstGeom prst="rect">
            <a:avLst/>
          </a:prstGeom>
          <a:noFill/>
        </p:spPr>
        <p:txBody>
          <a:bodyPr wrap="square">
            <a:spAutoFit/>
          </a:bodyPr>
          <a:lstStyle/>
          <a:p>
            <a:pPr algn="l"/>
            <a:r>
              <a:rPr sz="1300" b="0" i="0">
                <a:solidFill>
                  <a:srgbClr val="FFFFFF"/>
                </a:solidFill>
              </a:rPr>
              <a:t>Regulation Tracking and Updates — stay informed on changing compliance requirements.</a:t>
            </a:r>
          </a:p>
        </p:txBody>
      </p:sp>
      <p:sp>
        <p:nvSpPr>
          <p:cNvPr id="10" name="Rectangle 9"/>
          <p:cNvSpPr/>
          <p:nvPr/>
        </p:nvSpPr>
        <p:spPr>
          <a:xfrm>
            <a:off x="320040" y="329184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29000"/>
            <a:ext cx="5486400" cy="1325880"/>
          </a:xfrm>
          <a:prstGeom prst="rect">
            <a:avLst/>
          </a:prstGeom>
          <a:noFill/>
        </p:spPr>
        <p:txBody>
          <a:bodyPr wrap="square">
            <a:spAutoFit/>
          </a:bodyPr>
          <a:lstStyle/>
          <a:p>
            <a:pPr algn="l"/>
            <a:r>
              <a:rPr sz="1300" b="0" i="0">
                <a:solidFill>
                  <a:srgbClr val="FFFFFF"/>
                </a:solidFill>
              </a:rPr>
              <a:t>Error Checking and Validation — minimize risks before submission.</a:t>
            </a:r>
          </a:p>
        </p:txBody>
      </p:sp>
      <p:sp>
        <p:nvSpPr>
          <p:cNvPr id="12" name="Rectangle 11"/>
          <p:cNvSpPr/>
          <p:nvPr/>
        </p:nvSpPr>
        <p:spPr>
          <a:xfrm>
            <a:off x="6263640" y="329184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429000"/>
            <a:ext cx="5486400" cy="1325880"/>
          </a:xfrm>
          <a:prstGeom prst="rect">
            <a:avLst/>
          </a:prstGeom>
          <a:noFill/>
        </p:spPr>
        <p:txBody>
          <a:bodyPr wrap="square">
            <a:spAutoFit/>
          </a:bodyPr>
          <a:lstStyle/>
          <a:p>
            <a:pPr algn="l"/>
            <a:r>
              <a:rPr sz="1300" b="0" i="0">
                <a:solidFill>
                  <a:srgbClr val="FFFFFF"/>
                </a:solidFill>
              </a:rPr>
              <a:t>Customizable Report Templates — tailored to meet specific regulatory needs.</a:t>
            </a:r>
          </a:p>
        </p:txBody>
      </p:sp>
      <p:sp>
        <p:nvSpPr>
          <p:cNvPr id="14" name="Rectangle 13"/>
          <p:cNvSpPr/>
          <p:nvPr/>
        </p:nvSpPr>
        <p:spPr>
          <a:xfrm>
            <a:off x="320040" y="5486400"/>
            <a:ext cx="1152144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577840"/>
            <a:ext cx="11155680" cy="868680"/>
          </a:xfrm>
          <a:prstGeom prst="rect">
            <a:avLst/>
          </a:prstGeom>
          <a:noFill/>
        </p:spPr>
        <p:txBody>
          <a:bodyPr wrap="square">
            <a:spAutoFit/>
          </a:bodyPr>
          <a:lstStyle/>
          <a:p>
            <a:pPr algn="l"/>
            <a:r>
              <a:rPr sz="1100" b="0" i="1">
                <a:solidFill>
                  <a:srgbClr val="E2E8F0"/>
                </a:solidFill>
              </a:rPr>
              <a:t>Demo Flow  →  Step 1: Input your operational data and compliance standards. → Step 2: ComplyForge generates your report instantly. → Step 3: Review, adjust, and submit — we handle the compliance context for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MARKET SIZE</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 $2.94 Billion Market with Massive Potential</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56616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27048"/>
            <a:ext cx="3566160" cy="320040"/>
          </a:xfrm>
          <a:prstGeom prst="rect">
            <a:avLst/>
          </a:prstGeom>
          <a:noFill/>
        </p:spPr>
        <p:txBody>
          <a:bodyPr wrap="square">
            <a:spAutoFit/>
          </a:bodyPr>
          <a:lstStyle/>
          <a:p>
            <a:pPr algn="ctr"/>
            <a:r>
              <a:rPr sz="1100" b="1" i="0">
                <a:solidFill>
                  <a:srgbClr val="FFFFFF"/>
                </a:solidFill>
              </a:rPr>
              <a:t>TAM</a:t>
            </a:r>
          </a:p>
        </p:txBody>
      </p:sp>
      <p:sp>
        <p:nvSpPr>
          <p:cNvPr id="8" name="TextBox 7"/>
          <p:cNvSpPr txBox="1"/>
          <p:nvPr/>
        </p:nvSpPr>
        <p:spPr>
          <a:xfrm>
            <a:off x="411480" y="1828800"/>
            <a:ext cx="3383280" cy="1508760"/>
          </a:xfrm>
          <a:prstGeom prst="rect">
            <a:avLst/>
          </a:prstGeom>
          <a:noFill/>
        </p:spPr>
        <p:txBody>
          <a:bodyPr wrap="square">
            <a:spAutoFit/>
          </a:bodyPr>
          <a:lstStyle/>
          <a:p>
            <a:pPr algn="l"/>
            <a:r>
              <a:rPr sz="1100" b="0" i="0">
                <a:solidFill>
                  <a:srgbClr val="FFFFFF"/>
                </a:solidFill>
              </a:rPr>
              <a:t>The global compliance automation tools market was valued at $2.53 billion in 2023 and projected to grow at a 19% CAGR through 2030.</a:t>
            </a:r>
          </a:p>
        </p:txBody>
      </p:sp>
      <p:sp>
        <p:nvSpPr>
          <p:cNvPr id="9" name="Rectangle 8"/>
          <p:cNvSpPr/>
          <p:nvPr/>
        </p:nvSpPr>
        <p:spPr>
          <a:xfrm>
            <a:off x="4114800" y="1417320"/>
            <a:ext cx="35661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527048"/>
            <a:ext cx="3566160" cy="320040"/>
          </a:xfrm>
          <a:prstGeom prst="rect">
            <a:avLst/>
          </a:prstGeom>
          <a:noFill/>
        </p:spPr>
        <p:txBody>
          <a:bodyPr wrap="square">
            <a:spAutoFit/>
          </a:bodyPr>
          <a:lstStyle/>
          <a:p>
            <a:pPr algn="ctr"/>
            <a:r>
              <a:rPr sz="1100" b="1" i="0">
                <a:solidFill>
                  <a:srgbClr val="FFFFFF"/>
                </a:solidFill>
              </a:rPr>
              <a:t>SAM</a:t>
            </a:r>
          </a:p>
        </p:txBody>
      </p:sp>
      <p:sp>
        <p:nvSpPr>
          <p:cNvPr id="11" name="TextBox 10"/>
          <p:cNvSpPr txBox="1"/>
          <p:nvPr/>
        </p:nvSpPr>
        <p:spPr>
          <a:xfrm>
            <a:off x="4206240" y="1828800"/>
            <a:ext cx="3383280" cy="1508760"/>
          </a:xfrm>
          <a:prstGeom prst="rect">
            <a:avLst/>
          </a:prstGeom>
          <a:noFill/>
        </p:spPr>
        <p:txBody>
          <a:bodyPr wrap="square">
            <a:spAutoFit/>
          </a:bodyPr>
          <a:lstStyle/>
          <a:p>
            <a:pPr algn="l"/>
            <a:r>
              <a:rPr sz="1100" b="0" i="0">
                <a:solidFill>
                  <a:srgbClr val="FFFFFF"/>
                </a:solidFill>
              </a:rPr>
              <a:t>Targeting fintech startups in North America costing around $1.5 billion in software solutions.</a:t>
            </a:r>
          </a:p>
        </p:txBody>
      </p:sp>
      <p:sp>
        <p:nvSpPr>
          <p:cNvPr id="12" name="Rectangle 11"/>
          <p:cNvSpPr/>
          <p:nvPr/>
        </p:nvSpPr>
        <p:spPr>
          <a:xfrm>
            <a:off x="7909560" y="1417320"/>
            <a:ext cx="3566160" cy="2011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527048"/>
            <a:ext cx="3566160" cy="320040"/>
          </a:xfrm>
          <a:prstGeom prst="rect">
            <a:avLst/>
          </a:prstGeom>
          <a:noFill/>
        </p:spPr>
        <p:txBody>
          <a:bodyPr wrap="square">
            <a:spAutoFit/>
          </a:bodyPr>
          <a:lstStyle/>
          <a:p>
            <a:pPr algn="ctr"/>
            <a:r>
              <a:rPr sz="1100" b="1" i="0">
                <a:solidFill>
                  <a:srgbClr val="FFFFFF"/>
                </a:solidFill>
              </a:rPr>
              <a:t>SOM</a:t>
            </a:r>
          </a:p>
        </p:txBody>
      </p:sp>
      <p:sp>
        <p:nvSpPr>
          <p:cNvPr id="14" name="TextBox 13"/>
          <p:cNvSpPr txBox="1"/>
          <p:nvPr/>
        </p:nvSpPr>
        <p:spPr>
          <a:xfrm>
            <a:off x="8001000" y="1828800"/>
            <a:ext cx="3383280" cy="1508760"/>
          </a:xfrm>
          <a:prstGeom prst="rect">
            <a:avLst/>
          </a:prstGeom>
          <a:noFill/>
        </p:spPr>
        <p:txBody>
          <a:bodyPr wrap="square">
            <a:spAutoFit/>
          </a:bodyPr>
          <a:lstStyle/>
          <a:p>
            <a:pPr algn="l"/>
            <a:r>
              <a:rPr sz="1100" b="0" i="0">
                <a:solidFill>
                  <a:srgbClr val="FFFFFF"/>
                </a:solidFill>
              </a:rPr>
              <a:t>Realistically, aiming for a $60 million capture within our first three years.</a:t>
            </a:r>
          </a:p>
        </p:txBody>
      </p:sp>
      <p:sp>
        <p:nvSpPr>
          <p:cNvPr id="15" name="TextBox 14"/>
          <p:cNvSpPr txBox="1"/>
          <p:nvPr/>
        </p:nvSpPr>
        <p:spPr>
          <a:xfrm>
            <a:off x="320040" y="3703320"/>
            <a:ext cx="5486400" cy="365760"/>
          </a:xfrm>
          <a:prstGeom prst="rect">
            <a:avLst/>
          </a:prstGeom>
          <a:noFill/>
        </p:spPr>
        <p:txBody>
          <a:bodyPr wrap="square">
            <a:spAutoFit/>
          </a:bodyPr>
          <a:lstStyle/>
          <a:p>
            <a:pPr algn="l"/>
            <a:r>
              <a:rPr sz="1400" b="1" i="0">
                <a:solidFill>
                  <a:srgbClr val="0F172A"/>
                </a:solidFill>
              </a:rPr>
              <a:t>Market Tailwinds</a:t>
            </a:r>
          </a:p>
        </p:txBody>
      </p:sp>
      <p:sp>
        <p:nvSpPr>
          <p:cNvPr id="16" name="Rectangle 15"/>
          <p:cNvSpPr/>
          <p:nvPr/>
        </p:nvSpPr>
        <p:spPr>
          <a:xfrm>
            <a:off x="320040" y="4224528"/>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114800"/>
            <a:ext cx="11064240" cy="411480"/>
          </a:xfrm>
          <a:prstGeom prst="rect">
            <a:avLst/>
          </a:prstGeom>
          <a:noFill/>
        </p:spPr>
        <p:txBody>
          <a:bodyPr wrap="square">
            <a:spAutoFit/>
          </a:bodyPr>
          <a:lstStyle/>
          <a:p>
            <a:pPr algn="l"/>
            <a:r>
              <a:rPr sz="1200" b="0" i="0">
                <a:solidFill>
                  <a:srgbClr val="0F172A"/>
                </a:solidFill>
              </a:rPr>
              <a:t>Increasing regulatory demands driving need for compliant solutions.</a:t>
            </a:r>
          </a:p>
        </p:txBody>
      </p:sp>
      <p:sp>
        <p:nvSpPr>
          <p:cNvPr id="18" name="Rectangle 17"/>
          <p:cNvSpPr/>
          <p:nvPr/>
        </p:nvSpPr>
        <p:spPr>
          <a:xfrm>
            <a:off x="320040" y="4700016"/>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90288"/>
            <a:ext cx="11064240" cy="411480"/>
          </a:xfrm>
          <a:prstGeom prst="rect">
            <a:avLst/>
          </a:prstGeom>
          <a:noFill/>
        </p:spPr>
        <p:txBody>
          <a:bodyPr wrap="square">
            <a:spAutoFit/>
          </a:bodyPr>
          <a:lstStyle/>
          <a:p>
            <a:pPr algn="l"/>
            <a:r>
              <a:rPr sz="1200" b="0" i="0">
                <a:solidFill>
                  <a:srgbClr val="0F172A"/>
                </a:solidFill>
              </a:rPr>
              <a:t>Emergence of AI for enhanced compliance automation.</a:t>
            </a:r>
          </a:p>
        </p:txBody>
      </p:sp>
      <p:sp>
        <p:nvSpPr>
          <p:cNvPr id="20" name="Rectangle 19"/>
          <p:cNvSpPr/>
          <p:nvPr/>
        </p:nvSpPr>
        <p:spPr>
          <a:xfrm>
            <a:off x="320040" y="5175504"/>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065776"/>
            <a:ext cx="11064240" cy="411480"/>
          </a:xfrm>
          <a:prstGeom prst="rect">
            <a:avLst/>
          </a:prstGeom>
          <a:noFill/>
        </p:spPr>
        <p:txBody>
          <a:bodyPr wrap="square">
            <a:spAutoFit/>
          </a:bodyPr>
          <a:lstStyle/>
          <a:p>
            <a:pPr algn="l"/>
            <a:r>
              <a:rPr sz="1200" b="0" i="0">
                <a:solidFill>
                  <a:srgbClr val="0F172A"/>
                </a:solidFill>
              </a:rPr>
              <a:t>Industry shift toward predictive compliance models to improve preparedness.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BUSINESS MODEL</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Subscription Based — Affordable &amp; Accessible for Startups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11521440" cy="640080"/>
          </a:xfrm>
          <a:prstGeom prst="rect">
            <a:avLst/>
          </a:prstGeom>
          <a:noFill/>
        </p:spPr>
        <p:txBody>
          <a:bodyPr wrap="square">
            <a:spAutoFit/>
          </a:bodyPr>
          <a:lstStyle/>
          <a:p>
            <a:pPr algn="l"/>
            <a:r>
              <a:rPr sz="1300" b="0" i="1">
                <a:solidFill>
                  <a:srgbClr val="64748B"/>
                </a:solidFill>
              </a:rPr>
              <a:t>We offer flexible subscriptions designed to meet the demands of emerging fintech startups while ensuring compliance teams can thrive without steep costs.</a:t>
            </a:r>
          </a:p>
        </p:txBody>
      </p:sp>
      <p:sp>
        <p:nvSpPr>
          <p:cNvPr id="7" name="Rectangle 6"/>
          <p:cNvSpPr/>
          <p:nvPr/>
        </p:nvSpPr>
        <p:spPr>
          <a:xfrm>
            <a:off x="320040" y="2148840"/>
            <a:ext cx="3657600"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86000"/>
            <a:ext cx="3383280" cy="2103120"/>
          </a:xfrm>
          <a:prstGeom prst="rect">
            <a:avLst/>
          </a:prstGeom>
          <a:noFill/>
        </p:spPr>
        <p:txBody>
          <a:bodyPr wrap="square">
            <a:spAutoFit/>
          </a:bodyPr>
          <a:lstStyle/>
          <a:p>
            <a:pPr algn="l"/>
            <a:r>
              <a:rPr sz="1200" b="0" i="0">
                <a:solidFill>
                  <a:srgbClr val="0F172A"/>
                </a:solidFill>
              </a:rPr>
              <a:t>Basic: $49/user/month — essential features for new startups.</a:t>
            </a:r>
          </a:p>
        </p:txBody>
      </p:sp>
      <p:sp>
        <p:nvSpPr>
          <p:cNvPr id="9" name="Rectangle 8"/>
          <p:cNvSpPr/>
          <p:nvPr/>
        </p:nvSpPr>
        <p:spPr>
          <a:xfrm>
            <a:off x="4160520" y="2148840"/>
            <a:ext cx="3657600" cy="2377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2286000"/>
            <a:ext cx="3383280" cy="2103120"/>
          </a:xfrm>
          <a:prstGeom prst="rect">
            <a:avLst/>
          </a:prstGeom>
          <a:noFill/>
        </p:spPr>
        <p:txBody>
          <a:bodyPr wrap="square">
            <a:spAutoFit/>
          </a:bodyPr>
          <a:lstStyle/>
          <a:p>
            <a:pPr algn="l"/>
            <a:r>
              <a:rPr sz="1200" b="0" i="0">
                <a:solidFill>
                  <a:srgbClr val="FFFFFF"/>
                </a:solidFill>
              </a:rPr>
              <a:t>Professional: $199/user/month — additional compliance tools and error checking.</a:t>
            </a:r>
          </a:p>
        </p:txBody>
      </p:sp>
      <p:sp>
        <p:nvSpPr>
          <p:cNvPr id="11" name="Rectangle 10"/>
          <p:cNvSpPr/>
          <p:nvPr/>
        </p:nvSpPr>
        <p:spPr>
          <a:xfrm>
            <a:off x="8001000" y="2148840"/>
            <a:ext cx="365760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286000"/>
            <a:ext cx="3383280" cy="2103120"/>
          </a:xfrm>
          <a:prstGeom prst="rect">
            <a:avLst/>
          </a:prstGeom>
          <a:noFill/>
        </p:spPr>
        <p:txBody>
          <a:bodyPr wrap="square">
            <a:spAutoFit/>
          </a:bodyPr>
          <a:lstStyle/>
          <a:p>
            <a:pPr algn="l"/>
            <a:r>
              <a:rPr sz="1200" b="0" i="0">
                <a:solidFill>
                  <a:srgbClr val="FFFFFF"/>
                </a:solidFill>
              </a:rPr>
              <a:t>Enterprise: Custom pricing for tailored integrations and collaboration tools.</a:t>
            </a:r>
          </a:p>
        </p:txBody>
      </p:sp>
      <p:sp>
        <p:nvSpPr>
          <p:cNvPr id="13" name="TextBox 12"/>
          <p:cNvSpPr txBox="1"/>
          <p:nvPr/>
        </p:nvSpPr>
        <p:spPr>
          <a:xfrm>
            <a:off x="320040" y="4709160"/>
            <a:ext cx="5486400" cy="320040"/>
          </a:xfrm>
          <a:prstGeom prst="rect">
            <a:avLst/>
          </a:prstGeom>
          <a:noFill/>
        </p:spPr>
        <p:txBody>
          <a:bodyPr wrap="square">
            <a:spAutoFit/>
          </a:bodyPr>
          <a:lstStyle/>
          <a:p>
            <a:pPr algn="l"/>
            <a:r>
              <a:rPr sz="1300" b="1" i="0">
                <a:solidFill>
                  <a:srgbClr val="0F172A"/>
                </a:solidFill>
              </a:rPr>
              <a:t>Unit Economics</a:t>
            </a:r>
          </a:p>
        </p:txBody>
      </p:sp>
      <p:sp>
        <p:nvSpPr>
          <p:cNvPr id="14" name="Rectangle 13"/>
          <p:cNvSpPr/>
          <p:nvPr/>
        </p:nvSpPr>
        <p:spPr>
          <a:xfrm>
            <a:off x="32004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5120640"/>
            <a:ext cx="3474720" cy="685800"/>
          </a:xfrm>
          <a:prstGeom prst="rect">
            <a:avLst/>
          </a:prstGeom>
          <a:noFill/>
        </p:spPr>
        <p:txBody>
          <a:bodyPr wrap="square">
            <a:spAutoFit/>
          </a:bodyPr>
          <a:lstStyle/>
          <a:p>
            <a:pPr algn="ctr"/>
            <a:r>
              <a:rPr sz="1200" b="1" i="0">
                <a:solidFill>
                  <a:srgbClr val="F59E0B"/>
                </a:solidFill>
              </a:rPr>
              <a:t>ARPU: $240/user/month</a:t>
            </a:r>
          </a:p>
        </p:txBody>
      </p:sp>
      <p:sp>
        <p:nvSpPr>
          <p:cNvPr id="16" name="Rectangle 15"/>
          <p:cNvSpPr/>
          <p:nvPr/>
        </p:nvSpPr>
        <p:spPr>
          <a:xfrm>
            <a:off x="416052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5120640"/>
            <a:ext cx="3474720" cy="685800"/>
          </a:xfrm>
          <a:prstGeom prst="rect">
            <a:avLst/>
          </a:prstGeom>
          <a:noFill/>
        </p:spPr>
        <p:txBody>
          <a:bodyPr wrap="square">
            <a:spAutoFit/>
          </a:bodyPr>
          <a:lstStyle/>
          <a:p>
            <a:pPr algn="ctr"/>
            <a:r>
              <a:rPr sz="1200" b="1" i="0">
                <a:solidFill>
                  <a:srgbClr val="F59E0B"/>
                </a:solidFill>
              </a:rPr>
              <a:t>LTV:CAC: 0.33:1, aiming for improvement post-MVP launch.</a:t>
            </a:r>
          </a:p>
        </p:txBody>
      </p:sp>
      <p:sp>
        <p:nvSpPr>
          <p:cNvPr id="18" name="Rectangle 17"/>
          <p:cNvSpPr/>
          <p:nvPr/>
        </p:nvSpPr>
        <p:spPr>
          <a:xfrm>
            <a:off x="800100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5120640"/>
            <a:ext cx="3474720" cy="685800"/>
          </a:xfrm>
          <a:prstGeom prst="rect">
            <a:avLst/>
          </a:prstGeom>
          <a:noFill/>
        </p:spPr>
        <p:txBody>
          <a:bodyPr wrap="square">
            <a:spAutoFit/>
          </a:bodyPr>
          <a:lstStyle/>
          <a:p>
            <a:pPr algn="ctr"/>
            <a:r>
              <a:rPr sz="1200" b="1" i="0">
                <a:solidFill>
                  <a:srgbClr val="F59E0B"/>
                </a:solidFill>
              </a:rPr>
              <a:t>Payback Period: 30 months diverse user engagement strategies.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TRACTION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Early signals of demand and validation</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100 users in our beta testing phase.</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Generated through targeted outreach and referrals.</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Positive feedback loop from early adopters.</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Over 85% satisfaction rate reported.</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Key partnerships in place for refined accuracy.</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Collaborating with Compliance Week and other industry leaders.</a:t>
            </a:r>
          </a:p>
        </p:txBody>
      </p:sp>
      <p:sp>
        <p:nvSpPr>
          <p:cNvPr id="15" name="Rectangle 14"/>
          <p:cNvSpPr/>
          <p:nvPr/>
        </p:nvSpPr>
        <p:spPr>
          <a:xfrm>
            <a:off x="320040" y="4754880"/>
            <a:ext cx="11521440" cy="10972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46320"/>
            <a:ext cx="11064240" cy="914400"/>
          </a:xfrm>
          <a:prstGeom prst="rect">
            <a:avLst/>
          </a:prstGeom>
          <a:noFill/>
        </p:spPr>
        <p:txBody>
          <a:bodyPr wrap="square">
            <a:spAutoFit/>
          </a:bodyPr>
          <a:lstStyle/>
          <a:p>
            <a:pPr algn="l"/>
            <a:r>
              <a:rPr sz="1200" b="0" i="1">
                <a:solidFill>
                  <a:srgbClr val="FFFFFF"/>
                </a:solidFill>
              </a:rPr>
              <a:t>""ComplyForge transformed our reporting process—what took us weeks now takes days. A game changer for compliance teams!" — Anna, Compliance Lead at Fintech Startup"</a:t>
            </a:r>
          </a:p>
        </p:txBody>
      </p:sp>
      <p:sp>
        <p:nvSpPr>
          <p:cNvPr id="17" name="TextBox 16"/>
          <p:cNvSpPr txBox="1"/>
          <p:nvPr/>
        </p:nvSpPr>
        <p:spPr>
          <a:xfrm>
            <a:off x="320040" y="5989320"/>
            <a:ext cx="2743200" cy="365760"/>
          </a:xfrm>
          <a:prstGeom prst="rect">
            <a:avLst/>
          </a:prstGeom>
          <a:noFill/>
        </p:spPr>
        <p:txBody>
          <a:bodyPr wrap="square">
            <a:spAutoFit/>
          </a:bodyPr>
          <a:lstStyle/>
          <a:p>
            <a:pPr algn="l"/>
            <a:r>
              <a:rPr sz="1100" b="1" i="0">
                <a:solidFill>
                  <a:srgbClr val="0F172A"/>
                </a:solidFill>
              </a:rPr>
              <a:t>Next Milestones:</a:t>
            </a:r>
          </a:p>
        </p:txBody>
      </p:sp>
      <p:sp>
        <p:nvSpPr>
          <p:cNvPr id="18" name="TextBox 17"/>
          <p:cNvSpPr txBox="1"/>
          <p:nvPr/>
        </p:nvSpPr>
        <p:spPr>
          <a:xfrm>
            <a:off x="2286000" y="5989320"/>
            <a:ext cx="9601200" cy="365760"/>
          </a:xfrm>
          <a:prstGeom prst="rect">
            <a:avLst/>
          </a:prstGeom>
          <a:noFill/>
        </p:spPr>
        <p:txBody>
          <a:bodyPr wrap="square">
            <a:spAutoFit/>
          </a:bodyPr>
          <a:lstStyle/>
          <a:p>
            <a:pPr algn="l"/>
            <a:r>
              <a:rPr sz="1100" b="0" i="0">
                <a:solidFill>
                  <a:srgbClr val="64748B"/>
                </a:solidFill>
              </a:rPr>
              <a:t>100 paying customers in next six months.  ·  Refinements based on beta user feedback will boost engagement.  ·  Launch of marketing initiatives aligned with user acquisition goals.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COMPETITION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Automated Compliance Solutions — Where We Stand</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371600"/>
            <a:ext cx="228600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71600"/>
            <a:ext cx="2286000" cy="502920"/>
          </a:xfrm>
          <a:prstGeom prst="rect">
            <a:avLst/>
          </a:prstGeom>
          <a:noFill/>
        </p:spPr>
        <p:txBody>
          <a:bodyPr wrap="square">
            <a:spAutoFit/>
          </a:bodyPr>
          <a:lstStyle/>
          <a:p>
            <a:pPr algn="ctr"/>
            <a:r>
              <a:rPr sz="1100" b="1" i="0">
                <a:solidFill>
                  <a:srgbClr val="FFFFFF"/>
                </a:solidFill>
              </a:rPr>
              <a:t>Competitor</a:t>
            </a:r>
          </a:p>
        </p:txBody>
      </p:sp>
      <p:sp>
        <p:nvSpPr>
          <p:cNvPr id="8" name="Rectangle 7"/>
          <p:cNvSpPr/>
          <p:nvPr/>
        </p:nvSpPr>
        <p:spPr>
          <a:xfrm>
            <a:off x="260604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1371600"/>
            <a:ext cx="1737360" cy="502920"/>
          </a:xfrm>
          <a:prstGeom prst="rect">
            <a:avLst/>
          </a:prstGeom>
          <a:noFill/>
        </p:spPr>
        <p:txBody>
          <a:bodyPr wrap="square">
            <a:spAutoFit/>
          </a:bodyPr>
          <a:lstStyle/>
          <a:p>
            <a:pPr algn="ctr"/>
            <a:r>
              <a:rPr sz="1000" b="1" i="0">
                <a:solidFill>
                  <a:srgbClr val="FFFFFF"/>
                </a:solidFill>
              </a:rPr>
              <a:t>WhatsApp</a:t>
            </a:r>
          </a:p>
        </p:txBody>
      </p:sp>
      <p:sp>
        <p:nvSpPr>
          <p:cNvPr id="10" name="Rectangle 9"/>
          <p:cNvSpPr/>
          <p:nvPr/>
        </p:nvSpPr>
        <p:spPr>
          <a:xfrm>
            <a:off x="434340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371600"/>
            <a:ext cx="1737360" cy="502920"/>
          </a:xfrm>
          <a:prstGeom prst="rect">
            <a:avLst/>
          </a:prstGeom>
          <a:noFill/>
        </p:spPr>
        <p:txBody>
          <a:bodyPr wrap="square">
            <a:spAutoFit/>
          </a:bodyPr>
          <a:lstStyle/>
          <a:p>
            <a:pPr algn="ctr"/>
            <a:r>
              <a:rPr sz="1000" b="1" i="0">
                <a:solidFill>
                  <a:srgbClr val="FFFFFF"/>
                </a:solidFill>
              </a:rPr>
              <a:t>GST</a:t>
            </a:r>
          </a:p>
        </p:txBody>
      </p:sp>
      <p:sp>
        <p:nvSpPr>
          <p:cNvPr id="12" name="Rectangle 11"/>
          <p:cNvSpPr/>
          <p:nvPr/>
        </p:nvSpPr>
        <p:spPr>
          <a:xfrm>
            <a:off x="608076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371600"/>
            <a:ext cx="1737360" cy="502920"/>
          </a:xfrm>
          <a:prstGeom prst="rect">
            <a:avLst/>
          </a:prstGeom>
          <a:noFill/>
        </p:spPr>
        <p:txBody>
          <a:bodyPr wrap="square">
            <a:spAutoFit/>
          </a:bodyPr>
          <a:lstStyle/>
          <a:p>
            <a:pPr algn="ctr"/>
            <a:r>
              <a:rPr sz="1000" b="1" i="0">
                <a:solidFill>
                  <a:srgbClr val="FFFFFF"/>
                </a:solidFill>
              </a:rPr>
              <a:t>Auto-Remind</a:t>
            </a:r>
          </a:p>
        </p:txBody>
      </p:sp>
      <p:sp>
        <p:nvSpPr>
          <p:cNvPr id="14" name="Rectangle 13"/>
          <p:cNvSpPr/>
          <p:nvPr/>
        </p:nvSpPr>
        <p:spPr>
          <a:xfrm>
            <a:off x="781812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1371600"/>
            <a:ext cx="1737360" cy="502920"/>
          </a:xfrm>
          <a:prstGeom prst="rect">
            <a:avLst/>
          </a:prstGeom>
          <a:noFill/>
        </p:spPr>
        <p:txBody>
          <a:bodyPr wrap="square">
            <a:spAutoFit/>
          </a:bodyPr>
          <a:lstStyle/>
          <a:p>
            <a:pPr algn="ctr"/>
            <a:r>
              <a:rPr sz="1000" b="1" i="0">
                <a:solidFill>
                  <a:srgbClr val="FFFFFF"/>
                </a:solidFill>
              </a:rPr>
              <a:t>Freelancer</a:t>
            </a:r>
          </a:p>
        </p:txBody>
      </p:sp>
      <p:sp>
        <p:nvSpPr>
          <p:cNvPr id="16" name="Rectangle 15"/>
          <p:cNvSpPr/>
          <p:nvPr/>
        </p:nvSpPr>
        <p:spPr>
          <a:xfrm>
            <a:off x="955548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371600"/>
            <a:ext cx="1737360" cy="502920"/>
          </a:xfrm>
          <a:prstGeom prst="rect">
            <a:avLst/>
          </a:prstGeom>
          <a:noFill/>
        </p:spPr>
        <p:txBody>
          <a:bodyPr wrap="square">
            <a:spAutoFit/>
          </a:bodyPr>
          <a:lstStyle/>
          <a:p>
            <a:pPr algn="ctr"/>
            <a:r>
              <a:rPr sz="1000" b="1" i="0">
                <a:solidFill>
                  <a:srgbClr val="FFFFFF"/>
                </a:solidFill>
              </a:rPr>
              <a:t>₹ Affordable</a:t>
            </a:r>
          </a:p>
        </p:txBody>
      </p:sp>
      <p:sp>
        <p:nvSpPr>
          <p:cNvPr id="18" name="Rectangle 17"/>
          <p:cNvSpPr/>
          <p:nvPr/>
        </p:nvSpPr>
        <p:spPr>
          <a:xfrm>
            <a:off x="320040" y="187452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1874520"/>
            <a:ext cx="2286000" cy="502920"/>
          </a:xfrm>
          <a:prstGeom prst="rect">
            <a:avLst/>
          </a:prstGeom>
          <a:noFill/>
        </p:spPr>
        <p:txBody>
          <a:bodyPr wrap="square">
            <a:spAutoFit/>
          </a:bodyPr>
          <a:lstStyle/>
          <a:p>
            <a:pPr algn="ctr"/>
            <a:r>
              <a:rPr sz="1100" b="0" i="0">
                <a:solidFill>
                  <a:srgbClr val="0F172A"/>
                </a:solidFill>
              </a:rPr>
              <a:t>Vanta</a:t>
            </a:r>
          </a:p>
        </p:txBody>
      </p:sp>
      <p:sp>
        <p:nvSpPr>
          <p:cNvPr id="20" name="Rectangle 19"/>
          <p:cNvSpPr/>
          <p:nvPr/>
        </p:nvSpPr>
        <p:spPr>
          <a:xfrm>
            <a:off x="260604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6040" y="1874520"/>
            <a:ext cx="1737360" cy="502920"/>
          </a:xfrm>
          <a:prstGeom prst="rect">
            <a:avLst/>
          </a:prstGeom>
          <a:noFill/>
        </p:spPr>
        <p:txBody>
          <a:bodyPr wrap="square">
            <a:spAutoFit/>
          </a:bodyPr>
          <a:lstStyle/>
          <a:p>
            <a:pPr algn="ctr"/>
            <a:r>
              <a:rPr sz="1600" b="1" i="0">
                <a:solidFill>
                  <a:srgbClr val="DC2626"/>
                </a:solidFill>
              </a:rPr>
              <a:t>✗</a:t>
            </a:r>
          </a:p>
        </p:txBody>
      </p:sp>
      <p:sp>
        <p:nvSpPr>
          <p:cNvPr id="22" name="Rectangle 21"/>
          <p:cNvSpPr/>
          <p:nvPr/>
        </p:nvSpPr>
        <p:spPr>
          <a:xfrm>
            <a:off x="434340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1874520"/>
            <a:ext cx="1737360" cy="502920"/>
          </a:xfrm>
          <a:prstGeom prst="rect">
            <a:avLst/>
          </a:prstGeom>
          <a:noFill/>
        </p:spPr>
        <p:txBody>
          <a:bodyPr wrap="square">
            <a:spAutoFit/>
          </a:bodyPr>
          <a:lstStyle/>
          <a:p>
            <a:pPr algn="ctr"/>
            <a:r>
              <a:rPr sz="1600" b="1" i="0">
                <a:solidFill>
                  <a:srgbClr val="DC2626"/>
                </a:solidFill>
              </a:rPr>
              <a:t>✗</a:t>
            </a:r>
          </a:p>
        </p:txBody>
      </p:sp>
      <p:sp>
        <p:nvSpPr>
          <p:cNvPr id="24" name="Rectangle 23"/>
          <p:cNvSpPr/>
          <p:nvPr/>
        </p:nvSpPr>
        <p:spPr>
          <a:xfrm>
            <a:off x="608076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874520"/>
            <a:ext cx="1737360" cy="502920"/>
          </a:xfrm>
          <a:prstGeom prst="rect">
            <a:avLst/>
          </a:prstGeom>
          <a:noFill/>
        </p:spPr>
        <p:txBody>
          <a:bodyPr wrap="square">
            <a:spAutoFit/>
          </a:bodyPr>
          <a:lstStyle/>
          <a:p>
            <a:pPr algn="ctr"/>
            <a:r>
              <a:rPr sz="1600" b="1" i="0">
                <a:solidFill>
                  <a:srgbClr val="DC2626"/>
                </a:solidFill>
              </a:rPr>
              <a:t>✗</a:t>
            </a:r>
          </a:p>
        </p:txBody>
      </p:sp>
      <p:sp>
        <p:nvSpPr>
          <p:cNvPr id="26" name="Rectangle 25"/>
          <p:cNvSpPr/>
          <p:nvPr/>
        </p:nvSpPr>
        <p:spPr>
          <a:xfrm>
            <a:off x="781812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1874520"/>
            <a:ext cx="1737360" cy="502920"/>
          </a:xfrm>
          <a:prstGeom prst="rect">
            <a:avLst/>
          </a:prstGeom>
          <a:noFill/>
        </p:spPr>
        <p:txBody>
          <a:bodyPr wrap="square">
            <a:spAutoFit/>
          </a:bodyPr>
          <a:lstStyle/>
          <a:p>
            <a:pPr algn="ctr"/>
            <a:r>
              <a:rPr sz="1600" b="1" i="0">
                <a:solidFill>
                  <a:srgbClr val="DC2626"/>
                </a:solidFill>
              </a:rPr>
              <a:t>✗</a:t>
            </a:r>
          </a:p>
        </p:txBody>
      </p:sp>
      <p:sp>
        <p:nvSpPr>
          <p:cNvPr id="28" name="Rectangle 27"/>
          <p:cNvSpPr/>
          <p:nvPr/>
        </p:nvSpPr>
        <p:spPr>
          <a:xfrm>
            <a:off x="955548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1874520"/>
            <a:ext cx="1737360" cy="502920"/>
          </a:xfrm>
          <a:prstGeom prst="rect">
            <a:avLst/>
          </a:prstGeom>
          <a:noFill/>
        </p:spPr>
        <p:txBody>
          <a:bodyPr wrap="square">
            <a:spAutoFit/>
          </a:bodyPr>
          <a:lstStyle/>
          <a:p>
            <a:pPr algn="ctr"/>
            <a:r>
              <a:rPr sz="1600" b="1" i="0">
                <a:solidFill>
                  <a:srgbClr val="DC2626"/>
                </a:solidFill>
              </a:rPr>
              <a:t>✗</a:t>
            </a:r>
          </a:p>
        </p:txBody>
      </p:sp>
      <p:sp>
        <p:nvSpPr>
          <p:cNvPr id="30" name="Rectangle 29"/>
          <p:cNvSpPr/>
          <p:nvPr/>
        </p:nvSpPr>
        <p:spPr>
          <a:xfrm>
            <a:off x="320040" y="2377440"/>
            <a:ext cx="228600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2377440"/>
            <a:ext cx="2286000" cy="502920"/>
          </a:xfrm>
          <a:prstGeom prst="rect">
            <a:avLst/>
          </a:prstGeom>
          <a:noFill/>
        </p:spPr>
        <p:txBody>
          <a:bodyPr wrap="square">
            <a:spAutoFit/>
          </a:bodyPr>
          <a:lstStyle/>
          <a:p>
            <a:pPr algn="ctr"/>
            <a:r>
              <a:rPr sz="1100" b="0" i="0">
                <a:solidFill>
                  <a:srgbClr val="0F172A"/>
                </a:solidFill>
              </a:rPr>
              <a:t>Greenboard</a:t>
            </a:r>
          </a:p>
        </p:txBody>
      </p:sp>
      <p:sp>
        <p:nvSpPr>
          <p:cNvPr id="32" name="Rectangle 31"/>
          <p:cNvSpPr/>
          <p:nvPr/>
        </p:nvSpPr>
        <p:spPr>
          <a:xfrm>
            <a:off x="260604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06040" y="2377440"/>
            <a:ext cx="1737360" cy="502920"/>
          </a:xfrm>
          <a:prstGeom prst="rect">
            <a:avLst/>
          </a:prstGeom>
          <a:noFill/>
        </p:spPr>
        <p:txBody>
          <a:bodyPr wrap="square">
            <a:spAutoFit/>
          </a:bodyPr>
          <a:lstStyle/>
          <a:p>
            <a:pPr algn="ctr"/>
            <a:r>
              <a:rPr sz="1600" b="1" i="0">
                <a:solidFill>
                  <a:srgbClr val="DC2626"/>
                </a:solidFill>
              </a:rPr>
              <a:t>✗</a:t>
            </a:r>
          </a:p>
        </p:txBody>
      </p:sp>
      <p:sp>
        <p:nvSpPr>
          <p:cNvPr id="34" name="Rectangle 33"/>
          <p:cNvSpPr/>
          <p:nvPr/>
        </p:nvSpPr>
        <p:spPr>
          <a:xfrm>
            <a:off x="434340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2377440"/>
            <a:ext cx="1737360" cy="502920"/>
          </a:xfrm>
          <a:prstGeom prst="rect">
            <a:avLst/>
          </a:prstGeom>
          <a:noFill/>
        </p:spPr>
        <p:txBody>
          <a:bodyPr wrap="square">
            <a:spAutoFit/>
          </a:bodyPr>
          <a:lstStyle/>
          <a:p>
            <a:pPr algn="ctr"/>
            <a:r>
              <a:rPr sz="1600" b="1" i="0">
                <a:solidFill>
                  <a:srgbClr val="DC2626"/>
                </a:solidFill>
              </a:rPr>
              <a:t>✗</a:t>
            </a:r>
          </a:p>
        </p:txBody>
      </p:sp>
      <p:sp>
        <p:nvSpPr>
          <p:cNvPr id="36" name="Rectangle 35"/>
          <p:cNvSpPr/>
          <p:nvPr/>
        </p:nvSpPr>
        <p:spPr>
          <a:xfrm>
            <a:off x="608076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2377440"/>
            <a:ext cx="1737360" cy="502920"/>
          </a:xfrm>
          <a:prstGeom prst="rect">
            <a:avLst/>
          </a:prstGeom>
          <a:noFill/>
        </p:spPr>
        <p:txBody>
          <a:bodyPr wrap="square">
            <a:spAutoFit/>
          </a:bodyPr>
          <a:lstStyle/>
          <a:p>
            <a:pPr algn="ctr"/>
            <a:r>
              <a:rPr sz="1600" b="1" i="0">
                <a:solidFill>
                  <a:srgbClr val="DC2626"/>
                </a:solidFill>
              </a:rPr>
              <a:t>✗</a:t>
            </a:r>
          </a:p>
        </p:txBody>
      </p:sp>
      <p:sp>
        <p:nvSpPr>
          <p:cNvPr id="38" name="Rectangle 37"/>
          <p:cNvSpPr/>
          <p:nvPr/>
        </p:nvSpPr>
        <p:spPr>
          <a:xfrm>
            <a:off x="781812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18120" y="2377440"/>
            <a:ext cx="1737360" cy="502920"/>
          </a:xfrm>
          <a:prstGeom prst="rect">
            <a:avLst/>
          </a:prstGeom>
          <a:noFill/>
        </p:spPr>
        <p:txBody>
          <a:bodyPr wrap="square">
            <a:spAutoFit/>
          </a:bodyPr>
          <a:lstStyle/>
          <a:p>
            <a:pPr algn="ctr"/>
            <a:r>
              <a:rPr sz="1600" b="1" i="0">
                <a:solidFill>
                  <a:srgbClr val="DC2626"/>
                </a:solidFill>
              </a:rPr>
              <a:t>✗</a:t>
            </a:r>
          </a:p>
        </p:txBody>
      </p:sp>
      <p:sp>
        <p:nvSpPr>
          <p:cNvPr id="40" name="Rectangle 39"/>
          <p:cNvSpPr/>
          <p:nvPr/>
        </p:nvSpPr>
        <p:spPr>
          <a:xfrm>
            <a:off x="955548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55480" y="2377440"/>
            <a:ext cx="1737360" cy="502920"/>
          </a:xfrm>
          <a:prstGeom prst="rect">
            <a:avLst/>
          </a:prstGeom>
          <a:noFill/>
        </p:spPr>
        <p:txBody>
          <a:bodyPr wrap="square">
            <a:spAutoFit/>
          </a:bodyPr>
          <a:lstStyle/>
          <a:p>
            <a:pPr algn="ctr"/>
            <a:r>
              <a:rPr sz="1600" b="1" i="0">
                <a:solidFill>
                  <a:srgbClr val="DC2626"/>
                </a:solidFill>
              </a:rPr>
              <a:t>✗</a:t>
            </a:r>
          </a:p>
        </p:txBody>
      </p:sp>
      <p:sp>
        <p:nvSpPr>
          <p:cNvPr id="42" name="Rectangle 41"/>
          <p:cNvSpPr/>
          <p:nvPr/>
        </p:nvSpPr>
        <p:spPr>
          <a:xfrm>
            <a:off x="320040" y="288036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2880360"/>
            <a:ext cx="2286000" cy="502920"/>
          </a:xfrm>
          <a:prstGeom prst="rect">
            <a:avLst/>
          </a:prstGeom>
          <a:noFill/>
        </p:spPr>
        <p:txBody>
          <a:bodyPr wrap="square">
            <a:spAutoFit/>
          </a:bodyPr>
          <a:lstStyle/>
          <a:p>
            <a:pPr algn="ctr"/>
            <a:r>
              <a:rPr sz="1100" b="0" i="0">
                <a:solidFill>
                  <a:srgbClr val="0F172A"/>
                </a:solidFill>
              </a:rPr>
              <a:t>Themis</a:t>
            </a:r>
          </a:p>
        </p:txBody>
      </p:sp>
      <p:sp>
        <p:nvSpPr>
          <p:cNvPr id="44" name="Rectangle 43"/>
          <p:cNvSpPr/>
          <p:nvPr/>
        </p:nvSpPr>
        <p:spPr>
          <a:xfrm>
            <a:off x="260604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06040" y="2880360"/>
            <a:ext cx="1737360" cy="502920"/>
          </a:xfrm>
          <a:prstGeom prst="rect">
            <a:avLst/>
          </a:prstGeom>
          <a:noFill/>
        </p:spPr>
        <p:txBody>
          <a:bodyPr wrap="square">
            <a:spAutoFit/>
          </a:bodyPr>
          <a:lstStyle/>
          <a:p>
            <a:pPr algn="ctr"/>
            <a:r>
              <a:rPr sz="1600" b="1" i="0">
                <a:solidFill>
                  <a:srgbClr val="DC2626"/>
                </a:solidFill>
              </a:rPr>
              <a:t>✗</a:t>
            </a:r>
          </a:p>
        </p:txBody>
      </p:sp>
      <p:sp>
        <p:nvSpPr>
          <p:cNvPr id="46" name="Rectangle 45"/>
          <p:cNvSpPr/>
          <p:nvPr/>
        </p:nvSpPr>
        <p:spPr>
          <a:xfrm>
            <a:off x="434340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43400" y="2880360"/>
            <a:ext cx="1737360" cy="502920"/>
          </a:xfrm>
          <a:prstGeom prst="rect">
            <a:avLst/>
          </a:prstGeom>
          <a:noFill/>
        </p:spPr>
        <p:txBody>
          <a:bodyPr wrap="square">
            <a:spAutoFit/>
          </a:bodyPr>
          <a:lstStyle/>
          <a:p>
            <a:pPr algn="ctr"/>
            <a:r>
              <a:rPr sz="1600" b="1" i="0">
                <a:solidFill>
                  <a:srgbClr val="DC2626"/>
                </a:solidFill>
              </a:rPr>
              <a:t>✗</a:t>
            </a:r>
          </a:p>
        </p:txBody>
      </p:sp>
      <p:sp>
        <p:nvSpPr>
          <p:cNvPr id="48" name="Rectangle 47"/>
          <p:cNvSpPr/>
          <p:nvPr/>
        </p:nvSpPr>
        <p:spPr>
          <a:xfrm>
            <a:off x="608076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80760" y="2880360"/>
            <a:ext cx="1737360" cy="502920"/>
          </a:xfrm>
          <a:prstGeom prst="rect">
            <a:avLst/>
          </a:prstGeom>
          <a:noFill/>
        </p:spPr>
        <p:txBody>
          <a:bodyPr wrap="square">
            <a:spAutoFit/>
          </a:bodyPr>
          <a:lstStyle/>
          <a:p>
            <a:pPr algn="ctr"/>
            <a:r>
              <a:rPr sz="1600" b="1" i="0">
                <a:solidFill>
                  <a:srgbClr val="DC2626"/>
                </a:solidFill>
              </a:rPr>
              <a:t>✗</a:t>
            </a:r>
          </a:p>
        </p:txBody>
      </p:sp>
      <p:sp>
        <p:nvSpPr>
          <p:cNvPr id="50" name="Rectangle 49"/>
          <p:cNvSpPr/>
          <p:nvPr/>
        </p:nvSpPr>
        <p:spPr>
          <a:xfrm>
            <a:off x="781812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8120" y="2880360"/>
            <a:ext cx="1737360" cy="502920"/>
          </a:xfrm>
          <a:prstGeom prst="rect">
            <a:avLst/>
          </a:prstGeom>
          <a:noFill/>
        </p:spPr>
        <p:txBody>
          <a:bodyPr wrap="square">
            <a:spAutoFit/>
          </a:bodyPr>
          <a:lstStyle/>
          <a:p>
            <a:pPr algn="ctr"/>
            <a:r>
              <a:rPr sz="1600" b="1" i="0">
                <a:solidFill>
                  <a:srgbClr val="DC2626"/>
                </a:solidFill>
              </a:rPr>
              <a:t>✗</a:t>
            </a:r>
          </a:p>
        </p:txBody>
      </p:sp>
      <p:sp>
        <p:nvSpPr>
          <p:cNvPr id="52" name="Rectangle 51"/>
          <p:cNvSpPr/>
          <p:nvPr/>
        </p:nvSpPr>
        <p:spPr>
          <a:xfrm>
            <a:off x="955548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55480" y="2880360"/>
            <a:ext cx="1737360" cy="502920"/>
          </a:xfrm>
          <a:prstGeom prst="rect">
            <a:avLst/>
          </a:prstGeom>
          <a:noFill/>
        </p:spPr>
        <p:txBody>
          <a:bodyPr wrap="square">
            <a:spAutoFit/>
          </a:bodyPr>
          <a:lstStyle/>
          <a:p>
            <a:pPr algn="ctr"/>
            <a:r>
              <a:rPr sz="1600" b="1" i="0">
                <a:solidFill>
                  <a:srgbClr val="DC2626"/>
                </a:solidFill>
              </a:rPr>
              <a:t>✗</a:t>
            </a:r>
          </a:p>
        </p:txBody>
      </p:sp>
      <p:sp>
        <p:nvSpPr>
          <p:cNvPr id="54" name="Rectangle 53"/>
          <p:cNvSpPr/>
          <p:nvPr/>
        </p:nvSpPr>
        <p:spPr>
          <a:xfrm>
            <a:off x="320040" y="3383280"/>
            <a:ext cx="228600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3383280"/>
            <a:ext cx="2286000" cy="502920"/>
          </a:xfrm>
          <a:prstGeom prst="rect">
            <a:avLst/>
          </a:prstGeom>
          <a:noFill/>
        </p:spPr>
        <p:txBody>
          <a:bodyPr wrap="square">
            <a:spAutoFit/>
          </a:bodyPr>
          <a:lstStyle/>
          <a:p>
            <a:pPr algn="ctr"/>
            <a:r>
              <a:rPr sz="1100" b="0" i="0">
                <a:solidFill>
                  <a:srgbClr val="0F172A"/>
                </a:solidFill>
              </a:rPr>
              <a:t>Amlify</a:t>
            </a:r>
          </a:p>
        </p:txBody>
      </p:sp>
      <p:sp>
        <p:nvSpPr>
          <p:cNvPr id="56" name="Rectangle 55"/>
          <p:cNvSpPr/>
          <p:nvPr/>
        </p:nvSpPr>
        <p:spPr>
          <a:xfrm>
            <a:off x="260604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06040" y="3383280"/>
            <a:ext cx="1737360" cy="502920"/>
          </a:xfrm>
          <a:prstGeom prst="rect">
            <a:avLst/>
          </a:prstGeom>
          <a:noFill/>
        </p:spPr>
        <p:txBody>
          <a:bodyPr wrap="square">
            <a:spAutoFit/>
          </a:bodyPr>
          <a:lstStyle/>
          <a:p>
            <a:pPr algn="ctr"/>
            <a:r>
              <a:rPr sz="1600" b="1" i="0">
                <a:solidFill>
                  <a:srgbClr val="DC2626"/>
                </a:solidFill>
              </a:rPr>
              <a:t>✗</a:t>
            </a:r>
          </a:p>
        </p:txBody>
      </p:sp>
      <p:sp>
        <p:nvSpPr>
          <p:cNvPr id="58" name="Rectangle 57"/>
          <p:cNvSpPr/>
          <p:nvPr/>
        </p:nvSpPr>
        <p:spPr>
          <a:xfrm>
            <a:off x="434340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43400" y="3383280"/>
            <a:ext cx="1737360" cy="502920"/>
          </a:xfrm>
          <a:prstGeom prst="rect">
            <a:avLst/>
          </a:prstGeom>
          <a:noFill/>
        </p:spPr>
        <p:txBody>
          <a:bodyPr wrap="square">
            <a:spAutoFit/>
          </a:bodyPr>
          <a:lstStyle/>
          <a:p>
            <a:pPr algn="ctr"/>
            <a:r>
              <a:rPr sz="1600" b="1" i="0">
                <a:solidFill>
                  <a:srgbClr val="DC2626"/>
                </a:solidFill>
              </a:rPr>
              <a:t>✗</a:t>
            </a:r>
          </a:p>
        </p:txBody>
      </p:sp>
      <p:sp>
        <p:nvSpPr>
          <p:cNvPr id="60" name="Rectangle 59"/>
          <p:cNvSpPr/>
          <p:nvPr/>
        </p:nvSpPr>
        <p:spPr>
          <a:xfrm>
            <a:off x="608076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80760" y="3383280"/>
            <a:ext cx="1737360" cy="502920"/>
          </a:xfrm>
          <a:prstGeom prst="rect">
            <a:avLst/>
          </a:prstGeom>
          <a:noFill/>
        </p:spPr>
        <p:txBody>
          <a:bodyPr wrap="square">
            <a:spAutoFit/>
          </a:bodyPr>
          <a:lstStyle/>
          <a:p>
            <a:pPr algn="ctr"/>
            <a:r>
              <a:rPr sz="1600" b="1" i="0">
                <a:solidFill>
                  <a:srgbClr val="DC2626"/>
                </a:solidFill>
              </a:rPr>
              <a:t>✗</a:t>
            </a:r>
          </a:p>
        </p:txBody>
      </p:sp>
      <p:sp>
        <p:nvSpPr>
          <p:cNvPr id="62" name="Rectangle 61"/>
          <p:cNvSpPr/>
          <p:nvPr/>
        </p:nvSpPr>
        <p:spPr>
          <a:xfrm>
            <a:off x="781812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18120" y="3383280"/>
            <a:ext cx="1737360" cy="502920"/>
          </a:xfrm>
          <a:prstGeom prst="rect">
            <a:avLst/>
          </a:prstGeom>
          <a:noFill/>
        </p:spPr>
        <p:txBody>
          <a:bodyPr wrap="square">
            <a:spAutoFit/>
          </a:bodyPr>
          <a:lstStyle/>
          <a:p>
            <a:pPr algn="ctr"/>
            <a:r>
              <a:rPr sz="1600" b="1" i="0">
                <a:solidFill>
                  <a:srgbClr val="DC2626"/>
                </a:solidFill>
              </a:rPr>
              <a:t>✗</a:t>
            </a:r>
          </a:p>
        </p:txBody>
      </p:sp>
      <p:sp>
        <p:nvSpPr>
          <p:cNvPr id="64" name="Rectangle 63"/>
          <p:cNvSpPr/>
          <p:nvPr/>
        </p:nvSpPr>
        <p:spPr>
          <a:xfrm>
            <a:off x="955548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55480" y="3383280"/>
            <a:ext cx="1737360" cy="502920"/>
          </a:xfrm>
          <a:prstGeom prst="rect">
            <a:avLst/>
          </a:prstGeom>
          <a:noFill/>
        </p:spPr>
        <p:txBody>
          <a:bodyPr wrap="square">
            <a:spAutoFit/>
          </a:bodyPr>
          <a:lstStyle/>
          <a:p>
            <a:pPr algn="ctr"/>
            <a:r>
              <a:rPr sz="1600" b="1" i="0">
                <a:solidFill>
                  <a:srgbClr val="DC2626"/>
                </a:solidFill>
              </a:rPr>
              <a:t>✗</a:t>
            </a:r>
          </a:p>
        </p:txBody>
      </p:sp>
      <p:sp>
        <p:nvSpPr>
          <p:cNvPr id="66" name="Rectangle 65"/>
          <p:cNvSpPr/>
          <p:nvPr/>
        </p:nvSpPr>
        <p:spPr>
          <a:xfrm>
            <a:off x="320040" y="3886200"/>
            <a:ext cx="228600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3886200"/>
            <a:ext cx="2286000" cy="502920"/>
          </a:xfrm>
          <a:prstGeom prst="rect">
            <a:avLst/>
          </a:prstGeom>
          <a:noFill/>
        </p:spPr>
        <p:txBody>
          <a:bodyPr wrap="square">
            <a:spAutoFit/>
          </a:bodyPr>
          <a:lstStyle/>
          <a:p>
            <a:pPr algn="ctr"/>
            <a:r>
              <a:rPr sz="1100" b="1" i="0">
                <a:solidFill>
                  <a:srgbClr val="FFFFFF"/>
                </a:solidFill>
              </a:rPr>
              <a:t>✦ Us</a:t>
            </a:r>
          </a:p>
        </p:txBody>
      </p:sp>
      <p:sp>
        <p:nvSpPr>
          <p:cNvPr id="68" name="Rectangle 67"/>
          <p:cNvSpPr/>
          <p:nvPr/>
        </p:nvSpPr>
        <p:spPr>
          <a:xfrm>
            <a:off x="260604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606040" y="3886200"/>
            <a:ext cx="1737360" cy="502920"/>
          </a:xfrm>
          <a:prstGeom prst="rect">
            <a:avLst/>
          </a:prstGeom>
          <a:noFill/>
        </p:spPr>
        <p:txBody>
          <a:bodyPr wrap="square">
            <a:spAutoFit/>
          </a:bodyPr>
          <a:lstStyle/>
          <a:p>
            <a:pPr algn="ctr"/>
            <a:r>
              <a:rPr sz="1600" b="1" i="0">
                <a:solidFill>
                  <a:srgbClr val="FFFFFF"/>
                </a:solidFill>
              </a:rPr>
              <a:t>✓</a:t>
            </a:r>
          </a:p>
        </p:txBody>
      </p:sp>
      <p:sp>
        <p:nvSpPr>
          <p:cNvPr id="70" name="Rectangle 69"/>
          <p:cNvSpPr/>
          <p:nvPr/>
        </p:nvSpPr>
        <p:spPr>
          <a:xfrm>
            <a:off x="434340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343400" y="3886200"/>
            <a:ext cx="1737360" cy="502920"/>
          </a:xfrm>
          <a:prstGeom prst="rect">
            <a:avLst/>
          </a:prstGeom>
          <a:noFill/>
        </p:spPr>
        <p:txBody>
          <a:bodyPr wrap="square">
            <a:spAutoFit/>
          </a:bodyPr>
          <a:lstStyle/>
          <a:p>
            <a:pPr algn="ctr"/>
            <a:r>
              <a:rPr sz="1600" b="1" i="0">
                <a:solidFill>
                  <a:srgbClr val="FFFFFF"/>
                </a:solidFill>
              </a:rPr>
              <a:t>✓</a:t>
            </a:r>
          </a:p>
        </p:txBody>
      </p:sp>
      <p:sp>
        <p:nvSpPr>
          <p:cNvPr id="72" name="Rectangle 71"/>
          <p:cNvSpPr/>
          <p:nvPr/>
        </p:nvSpPr>
        <p:spPr>
          <a:xfrm>
            <a:off x="608076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80760" y="3886200"/>
            <a:ext cx="1737360" cy="502920"/>
          </a:xfrm>
          <a:prstGeom prst="rect">
            <a:avLst/>
          </a:prstGeom>
          <a:noFill/>
        </p:spPr>
        <p:txBody>
          <a:bodyPr wrap="square">
            <a:spAutoFit/>
          </a:bodyPr>
          <a:lstStyle/>
          <a:p>
            <a:pPr algn="ctr"/>
            <a:r>
              <a:rPr sz="1600" b="1" i="0">
                <a:solidFill>
                  <a:srgbClr val="FFFFFF"/>
                </a:solidFill>
              </a:rPr>
              <a:t>✓</a:t>
            </a:r>
          </a:p>
        </p:txBody>
      </p:sp>
      <p:sp>
        <p:nvSpPr>
          <p:cNvPr id="74" name="Rectangle 73"/>
          <p:cNvSpPr/>
          <p:nvPr/>
        </p:nvSpPr>
        <p:spPr>
          <a:xfrm>
            <a:off x="781812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18120" y="3886200"/>
            <a:ext cx="1737360" cy="502920"/>
          </a:xfrm>
          <a:prstGeom prst="rect">
            <a:avLst/>
          </a:prstGeom>
          <a:noFill/>
        </p:spPr>
        <p:txBody>
          <a:bodyPr wrap="square">
            <a:spAutoFit/>
          </a:bodyPr>
          <a:lstStyle/>
          <a:p>
            <a:pPr algn="ctr"/>
            <a:r>
              <a:rPr sz="1600" b="1" i="0">
                <a:solidFill>
                  <a:srgbClr val="FFFFFF"/>
                </a:solidFill>
              </a:rPr>
              <a:t>✓</a:t>
            </a:r>
          </a:p>
        </p:txBody>
      </p:sp>
      <p:sp>
        <p:nvSpPr>
          <p:cNvPr id="76" name="Rectangle 75"/>
          <p:cNvSpPr/>
          <p:nvPr/>
        </p:nvSpPr>
        <p:spPr>
          <a:xfrm>
            <a:off x="955548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555480" y="3886200"/>
            <a:ext cx="1737360" cy="502920"/>
          </a:xfrm>
          <a:prstGeom prst="rect">
            <a:avLst/>
          </a:prstGeom>
          <a:noFill/>
        </p:spPr>
        <p:txBody>
          <a:bodyPr wrap="square">
            <a:spAutoFit/>
          </a:bodyPr>
          <a:lstStyle/>
          <a:p>
            <a:pPr algn="ctr"/>
            <a:r>
              <a:rPr sz="1600" b="1" i="0">
                <a:solidFill>
                  <a:srgbClr val="FFFFFF"/>
                </a:solidFill>
              </a:rPr>
              <a:t>✓</a:t>
            </a:r>
          </a:p>
        </p:txBody>
      </p:sp>
      <p:sp>
        <p:nvSpPr>
          <p:cNvPr id="78" name="Rectangle 77"/>
          <p:cNvSpPr/>
          <p:nvPr/>
        </p:nvSpPr>
        <p:spPr>
          <a:xfrm>
            <a:off x="320040" y="4617720"/>
            <a:ext cx="11521440" cy="685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7200" y="4690872"/>
            <a:ext cx="11247120" cy="548640"/>
          </a:xfrm>
          <a:prstGeom prst="rect">
            <a:avLst/>
          </a:prstGeom>
          <a:noFill/>
        </p:spPr>
        <p:txBody>
          <a:bodyPr wrap="square">
            <a:spAutoFit/>
          </a:bodyPr>
          <a:lstStyle/>
          <a:p>
            <a:pPr algn="l"/>
            <a:r>
              <a:rPr sz="1200" b="1" i="0">
                <a:solidFill>
                  <a:srgbClr val="0F172A"/>
                </a:solidFill>
              </a:rPr>
              <a:t>Our Moat:  ComplyForge provides ongoing education and support that none of our competitors are addressing, ensuring startups succeed with compliance.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GO-TO-MARKET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Phased GTM Strategy for Quick User Adoption</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74903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17320"/>
            <a:ext cx="3749039" cy="365760"/>
          </a:xfrm>
          <a:prstGeom prst="rect">
            <a:avLst/>
          </a:prstGeom>
          <a:noFill/>
        </p:spPr>
        <p:txBody>
          <a:bodyPr wrap="square">
            <a:spAutoFit/>
          </a:bodyPr>
          <a:lstStyle/>
          <a:p>
            <a:pPr algn="ctr"/>
            <a:r>
              <a:rPr sz="1100" b="1" i="0">
                <a:solidFill>
                  <a:srgbClr val="FFFFFF"/>
                </a:solidFill>
              </a:rPr>
              <a:t>Phase 1 · 0→100</a:t>
            </a:r>
          </a:p>
        </p:txBody>
      </p:sp>
      <p:sp>
        <p:nvSpPr>
          <p:cNvPr id="8" name="Rectangle 7"/>
          <p:cNvSpPr/>
          <p:nvPr/>
        </p:nvSpPr>
        <p:spPr>
          <a:xfrm>
            <a:off x="320040"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874520"/>
            <a:ext cx="3566159" cy="2194560"/>
          </a:xfrm>
          <a:prstGeom prst="rect">
            <a:avLst/>
          </a:prstGeom>
          <a:noFill/>
        </p:spPr>
        <p:txBody>
          <a:bodyPr wrap="square">
            <a:spAutoFit/>
          </a:bodyPr>
          <a:lstStyle/>
          <a:p>
            <a:pPr algn="l"/>
            <a:r>
              <a:rPr sz="1100" b="0" i="0">
                <a:solidFill>
                  <a:srgbClr val="0F172A"/>
                </a:solidFill>
              </a:rPr>
              <a:t>Reach our first 100 users through manual outreach over 8 weeks.</a:t>
            </a:r>
          </a:p>
        </p:txBody>
      </p:sp>
      <p:sp>
        <p:nvSpPr>
          <p:cNvPr id="10" name="Rectangle 9"/>
          <p:cNvSpPr/>
          <p:nvPr/>
        </p:nvSpPr>
        <p:spPr>
          <a:xfrm>
            <a:off x="4251959" y="1417320"/>
            <a:ext cx="3749039" cy="365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59" y="1417320"/>
            <a:ext cx="3749039" cy="365760"/>
          </a:xfrm>
          <a:prstGeom prst="rect">
            <a:avLst/>
          </a:prstGeom>
          <a:noFill/>
        </p:spPr>
        <p:txBody>
          <a:bodyPr wrap="square">
            <a:spAutoFit/>
          </a:bodyPr>
          <a:lstStyle/>
          <a:p>
            <a:pPr algn="ctr"/>
            <a:r>
              <a:rPr sz="1100" b="1" i="0">
                <a:solidFill>
                  <a:srgbClr val="FFFFFF"/>
                </a:solidFill>
              </a:rPr>
              <a:t>Phase 2 · 100→1K</a:t>
            </a:r>
          </a:p>
        </p:txBody>
      </p:sp>
      <p:sp>
        <p:nvSpPr>
          <p:cNvPr id="12" name="Rectangle 11"/>
          <p:cNvSpPr/>
          <p:nvPr/>
        </p:nvSpPr>
        <p:spPr>
          <a:xfrm>
            <a:off x="4251959"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399" y="1874520"/>
            <a:ext cx="3566159" cy="2194560"/>
          </a:xfrm>
          <a:prstGeom prst="rect">
            <a:avLst/>
          </a:prstGeom>
          <a:noFill/>
        </p:spPr>
        <p:txBody>
          <a:bodyPr wrap="square">
            <a:spAutoFit/>
          </a:bodyPr>
          <a:lstStyle/>
          <a:p>
            <a:pPr algn="l"/>
            <a:r>
              <a:rPr sz="1100" b="0" i="0">
                <a:solidFill>
                  <a:srgbClr val="0F172A"/>
                </a:solidFill>
              </a:rPr>
              <a:t>Engage community-led growth &amp; content marketing to scale from 100 to 1,000 users.</a:t>
            </a:r>
          </a:p>
        </p:txBody>
      </p:sp>
      <p:sp>
        <p:nvSpPr>
          <p:cNvPr id="14" name="Rectangle 13"/>
          <p:cNvSpPr/>
          <p:nvPr/>
        </p:nvSpPr>
        <p:spPr>
          <a:xfrm>
            <a:off x="8183878" y="1417320"/>
            <a:ext cx="3749039"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8" y="1417320"/>
            <a:ext cx="3749039" cy="365760"/>
          </a:xfrm>
          <a:prstGeom prst="rect">
            <a:avLst/>
          </a:prstGeom>
          <a:noFill/>
        </p:spPr>
        <p:txBody>
          <a:bodyPr wrap="square">
            <a:spAutoFit/>
          </a:bodyPr>
          <a:lstStyle/>
          <a:p>
            <a:pPr algn="ctr"/>
            <a:r>
              <a:rPr sz="1100" b="1" i="0">
                <a:solidFill>
                  <a:srgbClr val="FFFFFF"/>
                </a:solidFill>
              </a:rPr>
              <a:t>Phase 3 · 1K→10K</a:t>
            </a:r>
          </a:p>
        </p:txBody>
      </p:sp>
      <p:sp>
        <p:nvSpPr>
          <p:cNvPr id="16" name="Rectangle 15"/>
          <p:cNvSpPr/>
          <p:nvPr/>
        </p:nvSpPr>
        <p:spPr>
          <a:xfrm>
            <a:off x="8183878"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8" y="1874520"/>
            <a:ext cx="3566159" cy="2194560"/>
          </a:xfrm>
          <a:prstGeom prst="rect">
            <a:avLst/>
          </a:prstGeom>
          <a:noFill/>
        </p:spPr>
        <p:txBody>
          <a:bodyPr wrap="square">
            <a:spAutoFit/>
          </a:bodyPr>
          <a:lstStyle/>
          <a:p>
            <a:pPr algn="l"/>
            <a:r>
              <a:rPr sz="1100" b="0" i="0">
                <a:solidFill>
                  <a:srgbClr val="0F172A"/>
                </a:solidFill>
              </a:rPr>
              <a:t>Leverage paid ads and strategic partnerships to reach over 10,000 users.</a:t>
            </a:r>
          </a:p>
        </p:txBody>
      </p:sp>
      <p:sp>
        <p:nvSpPr>
          <p:cNvPr id="18" name="TextBox 17"/>
          <p:cNvSpPr txBox="1"/>
          <p:nvPr/>
        </p:nvSpPr>
        <p:spPr>
          <a:xfrm>
            <a:off x="320040" y="4572000"/>
            <a:ext cx="2743200" cy="365760"/>
          </a:xfrm>
          <a:prstGeom prst="rect">
            <a:avLst/>
          </a:prstGeom>
          <a:noFill/>
        </p:spPr>
        <p:txBody>
          <a:bodyPr wrap="square">
            <a:spAutoFit/>
          </a:bodyPr>
          <a:lstStyle/>
          <a:p>
            <a:pPr algn="l"/>
            <a:r>
              <a:rPr sz="1200" b="1" i="0">
                <a:solidFill>
                  <a:srgbClr val="0F172A"/>
                </a:solidFill>
              </a:rPr>
              <a:t>Primary Channels:</a:t>
            </a:r>
          </a:p>
        </p:txBody>
      </p:sp>
      <p:sp>
        <p:nvSpPr>
          <p:cNvPr id="19" name="TextBox 18"/>
          <p:cNvSpPr txBox="1"/>
          <p:nvPr/>
        </p:nvSpPr>
        <p:spPr>
          <a:xfrm>
            <a:off x="2560320" y="4572000"/>
            <a:ext cx="9326880" cy="365760"/>
          </a:xfrm>
          <a:prstGeom prst="rect">
            <a:avLst/>
          </a:prstGeom>
          <a:noFill/>
        </p:spPr>
        <p:txBody>
          <a:bodyPr wrap="square">
            <a:spAutoFit/>
          </a:bodyPr>
          <a:lstStyle/>
          <a:p>
            <a:pPr algn="l"/>
            <a:r>
              <a:rPr sz="1200" b="0" i="0">
                <a:solidFill>
                  <a:srgbClr val="64748B"/>
                </a:solidFill>
              </a:rPr>
              <a:t>Community engagement in compliance forums.  ·  Referral programs rewarding early adopters with premium access.  ·  Content marketing for thought leadership.</a:t>
            </a:r>
          </a:p>
        </p:txBody>
      </p:sp>
      <p:sp>
        <p:nvSpPr>
          <p:cNvPr id="20" name="Rectangle 19"/>
          <p:cNvSpPr/>
          <p:nvPr/>
        </p:nvSpPr>
        <p:spPr>
          <a:xfrm>
            <a:off x="320040" y="5120640"/>
            <a:ext cx="11521440" cy="731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193792"/>
            <a:ext cx="11155680" cy="548640"/>
          </a:xfrm>
          <a:prstGeom prst="rect">
            <a:avLst/>
          </a:prstGeom>
          <a:noFill/>
        </p:spPr>
        <p:txBody>
          <a:bodyPr wrap="square">
            <a:spAutoFit/>
          </a:bodyPr>
          <a:lstStyle/>
          <a:p>
            <a:pPr algn="l"/>
            <a:r>
              <a:rPr sz="1200" b="1" i="0">
                <a:solidFill>
                  <a:srgbClr val="F59E0B"/>
                </a:solidFill>
              </a:rPr>
              <a:t>⭐  Reduction in average compliance reporting time by 50% within three months of adoption.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TEAM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The Expertise Behind ComplyForge</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1152144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11155680" cy="1600200"/>
          </a:xfrm>
          <a:prstGeom prst="rect">
            <a:avLst/>
          </a:prstGeom>
          <a:noFill/>
        </p:spPr>
        <p:txBody>
          <a:bodyPr wrap="square">
            <a:spAutoFit/>
          </a:bodyPr>
          <a:lstStyle/>
          <a:p>
            <a:pPr algn="l"/>
            <a:r>
              <a:rPr sz="1400" b="0" i="1">
                <a:solidFill>
                  <a:srgbClr val="FFFFFF"/>
                </a:solidFill>
              </a:rPr>
              <a:t>Our founding team consists of experienced finance professionals who previously navigated the compliance maze themselves. We understand the struggles firsthand, and that drives us to develop the tool we wish we had back then.</a:t>
            </a:r>
          </a:p>
        </p:txBody>
      </p:sp>
      <p:sp>
        <p:nvSpPr>
          <p:cNvPr id="8" name="TextBox 7"/>
          <p:cNvSpPr txBox="1"/>
          <p:nvPr/>
        </p:nvSpPr>
        <p:spPr>
          <a:xfrm>
            <a:off x="320040" y="3429000"/>
            <a:ext cx="5486400" cy="365760"/>
          </a:xfrm>
          <a:prstGeom prst="rect">
            <a:avLst/>
          </a:prstGeom>
          <a:noFill/>
        </p:spPr>
        <p:txBody>
          <a:bodyPr wrap="square">
            <a:spAutoFit/>
          </a:bodyPr>
          <a:lstStyle/>
          <a:p>
            <a:pPr algn="l"/>
            <a:r>
              <a:rPr sz="1400" b="1" i="0">
                <a:solidFill>
                  <a:srgbClr val="0F172A"/>
                </a:solidFill>
              </a:rPr>
              <a:t>Key Hires Needed</a:t>
            </a:r>
          </a:p>
        </p:txBody>
      </p:sp>
      <p:sp>
        <p:nvSpPr>
          <p:cNvPr id="9" name="Rectangle 8"/>
          <p:cNvSpPr/>
          <p:nvPr/>
        </p:nvSpPr>
        <p:spPr>
          <a:xfrm>
            <a:off x="320040" y="3931920"/>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840480"/>
            <a:ext cx="11064240" cy="411480"/>
          </a:xfrm>
          <a:prstGeom prst="rect">
            <a:avLst/>
          </a:prstGeom>
          <a:noFill/>
        </p:spPr>
        <p:txBody>
          <a:bodyPr wrap="square">
            <a:spAutoFit/>
          </a:bodyPr>
          <a:lstStyle/>
          <a:p>
            <a:pPr algn="l"/>
            <a:r>
              <a:rPr sz="1200" b="0" i="0">
                <a:solidFill>
                  <a:srgbClr val="0F172A"/>
                </a:solidFill>
              </a:rPr>
              <a:t>Compliance specialist with regulatory experience.</a:t>
            </a:r>
          </a:p>
        </p:txBody>
      </p:sp>
      <p:sp>
        <p:nvSpPr>
          <p:cNvPr id="11" name="Rectangle 10"/>
          <p:cNvSpPr/>
          <p:nvPr/>
        </p:nvSpPr>
        <p:spPr>
          <a:xfrm>
            <a:off x="320040" y="44074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315968"/>
            <a:ext cx="11064240" cy="411480"/>
          </a:xfrm>
          <a:prstGeom prst="rect">
            <a:avLst/>
          </a:prstGeom>
          <a:noFill/>
        </p:spPr>
        <p:txBody>
          <a:bodyPr wrap="square">
            <a:spAutoFit/>
          </a:bodyPr>
          <a:lstStyle/>
          <a:p>
            <a:pPr algn="l"/>
            <a:r>
              <a:rPr sz="1200" b="0" i="0">
                <a:solidFill>
                  <a:srgbClr val="0F172A"/>
                </a:solidFill>
              </a:rPr>
              <a:t>Full-stack developer with React and Node expertise.</a:t>
            </a:r>
          </a:p>
        </p:txBody>
      </p:sp>
      <p:sp>
        <p:nvSpPr>
          <p:cNvPr id="13" name="Rectangle 12"/>
          <p:cNvSpPr/>
          <p:nvPr/>
        </p:nvSpPr>
        <p:spPr>
          <a:xfrm>
            <a:off x="320040" y="4882896"/>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791456"/>
            <a:ext cx="11064240" cy="411480"/>
          </a:xfrm>
          <a:prstGeom prst="rect">
            <a:avLst/>
          </a:prstGeom>
          <a:noFill/>
        </p:spPr>
        <p:txBody>
          <a:bodyPr wrap="square">
            <a:spAutoFit/>
          </a:bodyPr>
          <a:lstStyle/>
          <a:p>
            <a:pPr algn="l"/>
            <a:r>
              <a:rPr sz="1200" b="0" i="0">
                <a:solidFill>
                  <a:srgbClr val="0F172A"/>
                </a:solidFill>
              </a:rPr>
              <a:t>Growth marketer focused on fintech and startups.</a:t>
            </a:r>
          </a:p>
        </p:txBody>
      </p:sp>
      <p:sp>
        <p:nvSpPr>
          <p:cNvPr id="15" name="Rectangle 14"/>
          <p:cNvSpPr/>
          <p:nvPr/>
        </p:nvSpPr>
        <p:spPr>
          <a:xfrm>
            <a:off x="320040" y="5577840"/>
            <a:ext cx="11521440" cy="86868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685800"/>
          </a:xfrm>
          <a:prstGeom prst="rect">
            <a:avLst/>
          </a:prstGeom>
          <a:noFill/>
        </p:spPr>
        <p:txBody>
          <a:bodyPr wrap="square">
            <a:spAutoFit/>
          </a:bodyPr>
          <a:lstStyle/>
          <a:p>
            <a:pPr algn="l"/>
            <a:r>
              <a:rPr sz="1100" b="0" i="1">
                <a:solidFill>
                  <a:srgbClr val="64748B"/>
                </a:solidFill>
              </a:rPr>
              <a:t>Advisors / Supporters:  In talks with respected industry advisors in fintech and compliance fields.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FINANCIALS</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Current Snapshot &amp; Financial Goals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54480"/>
            <a:ext cx="2743200" cy="594360"/>
          </a:xfrm>
          <a:prstGeom prst="rect">
            <a:avLst/>
          </a:prstGeom>
          <a:noFill/>
        </p:spPr>
        <p:txBody>
          <a:bodyPr wrap="square">
            <a:spAutoFit/>
          </a:bodyPr>
          <a:lstStyle/>
          <a:p>
            <a:pPr algn="ctr"/>
            <a:r>
              <a:rPr sz="2800" b="1" i="0">
                <a:solidFill>
                  <a:srgbClr val="FFFFFF"/>
                </a:solidFill>
              </a:rPr>
              <a:t>$240,000 ARR</a:t>
            </a:r>
          </a:p>
        </p:txBody>
      </p:sp>
      <p:sp>
        <p:nvSpPr>
          <p:cNvPr id="8" name="TextBox 7"/>
          <p:cNvSpPr txBox="1"/>
          <p:nvPr/>
        </p:nvSpPr>
        <p:spPr>
          <a:xfrm>
            <a:off x="320040" y="2103120"/>
            <a:ext cx="2743200" cy="365760"/>
          </a:xfrm>
          <a:prstGeom prst="rect">
            <a:avLst/>
          </a:prstGeom>
          <a:noFill/>
        </p:spPr>
        <p:txBody>
          <a:bodyPr wrap="square">
            <a:spAutoFit/>
          </a:bodyPr>
          <a:lstStyle/>
          <a:p>
            <a:pPr algn="ctr"/>
            <a:r>
              <a:rPr sz="1000" b="0" i="0">
                <a:solidFill>
                  <a:srgbClr val="FFFFFF"/>
                </a:solidFill>
              </a:rPr>
              <a:t>ARR · Month 12</a:t>
            </a:r>
          </a:p>
        </p:txBody>
      </p:sp>
      <p:sp>
        <p:nvSpPr>
          <p:cNvPr id="9" name="Rectangle 8"/>
          <p:cNvSpPr/>
          <p:nvPr/>
        </p:nvSpPr>
        <p:spPr>
          <a:xfrm>
            <a:off x="3227832"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7832" y="1554480"/>
            <a:ext cx="2743200" cy="594360"/>
          </a:xfrm>
          <a:prstGeom prst="rect">
            <a:avLst/>
          </a:prstGeom>
          <a:noFill/>
        </p:spPr>
        <p:txBody>
          <a:bodyPr wrap="square">
            <a:spAutoFit/>
          </a:bodyPr>
          <a:lstStyle/>
          <a:p>
            <a:pPr algn="ctr"/>
            <a:r>
              <a:rPr sz="2800" b="1" i="0">
                <a:solidFill>
                  <a:srgbClr val="FFFFFF"/>
                </a:solidFill>
              </a:rPr>
              <a:t>100 paid users</a:t>
            </a:r>
          </a:p>
        </p:txBody>
      </p:sp>
      <p:sp>
        <p:nvSpPr>
          <p:cNvPr id="11" name="TextBox 10"/>
          <p:cNvSpPr txBox="1"/>
          <p:nvPr/>
        </p:nvSpPr>
        <p:spPr>
          <a:xfrm>
            <a:off x="3227832" y="2103120"/>
            <a:ext cx="2743200" cy="365760"/>
          </a:xfrm>
          <a:prstGeom prst="rect">
            <a:avLst/>
          </a:prstGeom>
          <a:noFill/>
        </p:spPr>
        <p:txBody>
          <a:bodyPr wrap="square">
            <a:spAutoFit/>
          </a:bodyPr>
          <a:lstStyle/>
          <a:p>
            <a:pPr algn="ctr"/>
            <a:r>
              <a:rPr sz="1000" b="0" i="0">
                <a:solidFill>
                  <a:srgbClr val="FFFFFF"/>
                </a:solidFill>
              </a:rPr>
              <a:t>Paying Users · M12</a:t>
            </a:r>
          </a:p>
        </p:txBody>
      </p:sp>
      <p:sp>
        <p:nvSpPr>
          <p:cNvPr id="12" name="Rectangle 11"/>
          <p:cNvSpPr/>
          <p:nvPr/>
        </p:nvSpPr>
        <p:spPr>
          <a:xfrm>
            <a:off x="6135624"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5624" y="1554480"/>
            <a:ext cx="2743200" cy="594360"/>
          </a:xfrm>
          <a:prstGeom prst="rect">
            <a:avLst/>
          </a:prstGeom>
          <a:noFill/>
        </p:spPr>
        <p:txBody>
          <a:bodyPr wrap="square">
            <a:spAutoFit/>
          </a:bodyPr>
          <a:lstStyle/>
          <a:p>
            <a:pPr algn="ctr"/>
            <a:r>
              <a:rPr sz="2800" b="1" i="0">
                <a:solidFill>
                  <a:srgbClr val="FFFFFF"/>
                </a:solidFill>
              </a:rPr>
              <a:t>0.33:1 LTV:CAC</a:t>
            </a:r>
          </a:p>
        </p:txBody>
      </p:sp>
      <p:sp>
        <p:nvSpPr>
          <p:cNvPr id="14" name="TextBox 13"/>
          <p:cNvSpPr txBox="1"/>
          <p:nvPr/>
        </p:nvSpPr>
        <p:spPr>
          <a:xfrm>
            <a:off x="6135624" y="2103120"/>
            <a:ext cx="2743200" cy="365760"/>
          </a:xfrm>
          <a:prstGeom prst="rect">
            <a:avLst/>
          </a:prstGeom>
          <a:noFill/>
        </p:spPr>
        <p:txBody>
          <a:bodyPr wrap="square">
            <a:spAutoFit/>
          </a:bodyPr>
          <a:lstStyle/>
          <a:p>
            <a:pPr algn="ctr"/>
            <a:r>
              <a:rPr sz="1000" b="0" i="0">
                <a:solidFill>
                  <a:srgbClr val="FFFFFF"/>
                </a:solidFill>
              </a:rPr>
              <a:t>LTV : CAC</a:t>
            </a:r>
          </a:p>
        </p:txBody>
      </p:sp>
      <p:sp>
        <p:nvSpPr>
          <p:cNvPr id="15" name="Rectangle 14"/>
          <p:cNvSpPr/>
          <p:nvPr/>
        </p:nvSpPr>
        <p:spPr>
          <a:xfrm>
            <a:off x="9043416"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6" y="1554480"/>
            <a:ext cx="2743200" cy="594360"/>
          </a:xfrm>
          <a:prstGeom prst="rect">
            <a:avLst/>
          </a:prstGeom>
          <a:noFill/>
        </p:spPr>
        <p:txBody>
          <a:bodyPr wrap="square">
            <a:spAutoFit/>
          </a:bodyPr>
          <a:lstStyle/>
          <a:p>
            <a:pPr algn="ctr"/>
            <a:r>
              <a:rPr sz="2800" b="1" i="0">
                <a:solidFill>
                  <a:srgbClr val="FFFFFF"/>
                </a:solidFill>
              </a:rPr>
              <a:t>Month 10</a:t>
            </a:r>
          </a:p>
        </p:txBody>
      </p:sp>
      <p:sp>
        <p:nvSpPr>
          <p:cNvPr id="17" name="TextBox 16"/>
          <p:cNvSpPr txBox="1"/>
          <p:nvPr/>
        </p:nvSpPr>
        <p:spPr>
          <a:xfrm>
            <a:off x="9043416" y="2103120"/>
            <a:ext cx="2743200" cy="365760"/>
          </a:xfrm>
          <a:prstGeom prst="rect">
            <a:avLst/>
          </a:prstGeom>
          <a:noFill/>
        </p:spPr>
        <p:txBody>
          <a:bodyPr wrap="square">
            <a:spAutoFit/>
          </a:bodyPr>
          <a:lstStyle/>
          <a:p>
            <a:pPr algn="ctr"/>
            <a:r>
              <a:rPr sz="1000" b="0" i="0">
                <a:solidFill>
                  <a:srgbClr val="FFFFFF"/>
                </a:solidFill>
              </a:rPr>
              <a:t>Break-Even</a:t>
            </a:r>
          </a:p>
        </p:txBody>
      </p:sp>
      <p:sp>
        <p:nvSpPr>
          <p:cNvPr id="18" name="Rectangle 17"/>
          <p:cNvSpPr/>
          <p:nvPr/>
        </p:nvSpPr>
        <p:spPr>
          <a:xfrm>
            <a:off x="320040"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3090672"/>
            <a:ext cx="2743200" cy="594360"/>
          </a:xfrm>
          <a:prstGeom prst="rect">
            <a:avLst/>
          </a:prstGeom>
          <a:noFill/>
        </p:spPr>
        <p:txBody>
          <a:bodyPr wrap="square">
            <a:spAutoFit/>
          </a:bodyPr>
          <a:lstStyle/>
          <a:p>
            <a:pPr algn="ctr"/>
            <a:r>
              <a:rPr sz="2800" b="1" i="0">
                <a:solidFill>
                  <a:srgbClr val="FFFFFF"/>
                </a:solidFill>
              </a:rPr>
              <a:t>$20,000 MRR</a:t>
            </a:r>
          </a:p>
        </p:txBody>
      </p:sp>
      <p:sp>
        <p:nvSpPr>
          <p:cNvPr id="20" name="TextBox 19"/>
          <p:cNvSpPr txBox="1"/>
          <p:nvPr/>
        </p:nvSpPr>
        <p:spPr>
          <a:xfrm>
            <a:off x="320040" y="3639312"/>
            <a:ext cx="2743200" cy="365760"/>
          </a:xfrm>
          <a:prstGeom prst="rect">
            <a:avLst/>
          </a:prstGeom>
          <a:noFill/>
        </p:spPr>
        <p:txBody>
          <a:bodyPr wrap="square">
            <a:spAutoFit/>
          </a:bodyPr>
          <a:lstStyle/>
          <a:p>
            <a:pPr algn="ctr"/>
            <a:r>
              <a:rPr sz="1000" b="0" i="0">
                <a:solidFill>
                  <a:srgbClr val="FFFFFF"/>
                </a:solidFill>
              </a:rPr>
              <a:t>MRR · Month 12</a:t>
            </a:r>
          </a:p>
        </p:txBody>
      </p:sp>
      <p:sp>
        <p:nvSpPr>
          <p:cNvPr id="21" name="Rectangle 20"/>
          <p:cNvSpPr/>
          <p:nvPr/>
        </p:nvSpPr>
        <p:spPr>
          <a:xfrm>
            <a:off x="3227832"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832" y="3090672"/>
            <a:ext cx="2743200" cy="594360"/>
          </a:xfrm>
          <a:prstGeom prst="rect">
            <a:avLst/>
          </a:prstGeom>
          <a:noFill/>
        </p:spPr>
        <p:txBody>
          <a:bodyPr wrap="square">
            <a:spAutoFit/>
          </a:bodyPr>
          <a:lstStyle/>
          <a:p>
            <a:pPr algn="ctr"/>
            <a:r>
              <a:rPr sz="2800" b="1" i="0">
                <a:solidFill>
                  <a:srgbClr val="FFFFFF"/>
                </a:solidFill>
              </a:rPr>
              <a:t>75% gross margin</a:t>
            </a:r>
          </a:p>
        </p:txBody>
      </p:sp>
      <p:sp>
        <p:nvSpPr>
          <p:cNvPr id="23" name="TextBox 22"/>
          <p:cNvSpPr txBox="1"/>
          <p:nvPr/>
        </p:nvSpPr>
        <p:spPr>
          <a:xfrm>
            <a:off x="3227832" y="3639312"/>
            <a:ext cx="2743200" cy="365760"/>
          </a:xfrm>
          <a:prstGeom prst="rect">
            <a:avLst/>
          </a:prstGeom>
          <a:noFill/>
        </p:spPr>
        <p:txBody>
          <a:bodyPr wrap="square">
            <a:spAutoFit/>
          </a:bodyPr>
          <a:lstStyle/>
          <a:p>
            <a:pPr algn="ctr"/>
            <a:r>
              <a:rPr sz="1000" b="0" i="0">
                <a:solidFill>
                  <a:srgbClr val="FFFFFF"/>
                </a:solidFill>
              </a:rPr>
              <a:t>Gross Margin</a:t>
            </a:r>
          </a:p>
        </p:txBody>
      </p:sp>
      <p:sp>
        <p:nvSpPr>
          <p:cNvPr id="24" name="Rectangle 23"/>
          <p:cNvSpPr/>
          <p:nvPr/>
        </p:nvSpPr>
        <p:spPr>
          <a:xfrm>
            <a:off x="6135624"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5624" y="3090672"/>
            <a:ext cx="2743200" cy="594360"/>
          </a:xfrm>
          <a:prstGeom prst="rect">
            <a:avLst/>
          </a:prstGeom>
          <a:noFill/>
        </p:spPr>
        <p:txBody>
          <a:bodyPr wrap="square">
            <a:spAutoFit/>
          </a:bodyPr>
          <a:lstStyle/>
          <a:p>
            <a:pPr algn="ctr"/>
            <a:r>
              <a:rPr sz="2800" b="1" i="0">
                <a:solidFill>
                  <a:srgbClr val="FFFFFF"/>
                </a:solidFill>
              </a:rPr>
              <a:t>0.5 months with revenue</a:t>
            </a:r>
          </a:p>
        </p:txBody>
      </p:sp>
      <p:sp>
        <p:nvSpPr>
          <p:cNvPr id="26" name="TextBox 25"/>
          <p:cNvSpPr txBox="1"/>
          <p:nvPr/>
        </p:nvSpPr>
        <p:spPr>
          <a:xfrm>
            <a:off x="6135624" y="3639312"/>
            <a:ext cx="2743200" cy="365760"/>
          </a:xfrm>
          <a:prstGeom prst="rect">
            <a:avLst/>
          </a:prstGeom>
          <a:noFill/>
        </p:spPr>
        <p:txBody>
          <a:bodyPr wrap="square">
            <a:spAutoFit/>
          </a:bodyPr>
          <a:lstStyle/>
          <a:p>
            <a:pPr algn="ctr"/>
            <a:r>
              <a:rPr sz="1000" b="0" i="0">
                <a:solidFill>
                  <a:srgbClr val="FFFFFF"/>
                </a:solidFill>
              </a:rPr>
              <a:t>Runway</a:t>
            </a:r>
          </a:p>
        </p:txBody>
      </p:sp>
      <p:sp>
        <p:nvSpPr>
          <p:cNvPr id="27" name="Rectangle 26"/>
          <p:cNvSpPr/>
          <p:nvPr/>
        </p:nvSpPr>
        <p:spPr>
          <a:xfrm>
            <a:off x="9043416"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43416" y="3090672"/>
            <a:ext cx="2743200" cy="594360"/>
          </a:xfrm>
          <a:prstGeom prst="rect">
            <a:avLst/>
          </a:prstGeom>
          <a:noFill/>
        </p:spPr>
        <p:txBody>
          <a:bodyPr wrap="square">
            <a:spAutoFit/>
          </a:bodyPr>
          <a:lstStyle/>
          <a:p>
            <a:pPr algn="ctr"/>
            <a:r>
              <a:rPr sz="2800" b="1" i="0">
                <a:solidFill>
                  <a:srgbClr val="FFFFFF"/>
                </a:solidFill>
              </a:rPr>
              <a:t>N/A</a:t>
            </a:r>
          </a:p>
        </p:txBody>
      </p:sp>
      <p:sp>
        <p:nvSpPr>
          <p:cNvPr id="29" name="TextBox 28"/>
          <p:cNvSpPr txBox="1"/>
          <p:nvPr/>
        </p:nvSpPr>
        <p:spPr>
          <a:xfrm>
            <a:off x="9043416" y="3639312"/>
            <a:ext cx="2743200" cy="365760"/>
          </a:xfrm>
          <a:prstGeom prst="rect">
            <a:avLst/>
          </a:prstGeom>
          <a:noFill/>
        </p:spPr>
        <p:txBody>
          <a:bodyPr wrap="square">
            <a:spAutoFit/>
          </a:bodyPr>
          <a:lstStyle/>
          <a:p>
            <a:pPr algn="ctr"/>
            <a:r>
              <a:rPr sz="1000" b="0" i="0">
                <a:solidFill>
                  <a:srgbClr val="FFFFFF"/>
                </a:solidFill>
              </a:rPr>
              <a:t>Raising</a:t>
            </a:r>
          </a:p>
        </p:txBody>
      </p:sp>
      <p:sp>
        <p:nvSpPr>
          <p:cNvPr id="30" name="TextBox 29"/>
          <p:cNvSpPr txBox="1"/>
          <p:nvPr/>
        </p:nvSpPr>
        <p:spPr>
          <a:xfrm>
            <a:off x="320040" y="4389120"/>
            <a:ext cx="11521440" cy="685800"/>
          </a:xfrm>
          <a:prstGeom prst="rect">
            <a:avLst/>
          </a:prstGeom>
          <a:noFill/>
        </p:spPr>
        <p:txBody>
          <a:bodyPr wrap="square">
            <a:spAutoFit/>
          </a:bodyPr>
          <a:lstStyle/>
          <a:p>
            <a:pPr algn="l"/>
            <a:r>
              <a:rPr sz="1200" b="0" i="1">
                <a:solidFill>
                  <a:srgbClr val="64748B"/>
                </a:solidFill>
              </a:rPr>
              <a:t>With a solid $20K MRR already accrued, our goal is to reach break-even by Month 10, supported by our strategic marketing efforts and a focus on improving our LTV:CAC ratios. We're on a path to growing this even faster with user feedback driving product enhancements.</a:t>
            </a:r>
          </a:p>
        </p:txBody>
      </p:sp>
      <p:sp>
        <p:nvSpPr>
          <p:cNvPr id="31" name="Rectangle 30"/>
          <p:cNvSpPr/>
          <p:nvPr/>
        </p:nvSpPr>
        <p:spPr>
          <a:xfrm>
            <a:off x="320040" y="5212080"/>
            <a:ext cx="11521440"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285232"/>
            <a:ext cx="11155680" cy="411480"/>
          </a:xfrm>
          <a:prstGeom prst="rect">
            <a:avLst/>
          </a:prstGeom>
          <a:noFill/>
        </p:spPr>
        <p:txBody>
          <a:bodyPr wrap="square">
            <a:spAutoFit/>
          </a:bodyPr>
          <a:lstStyle/>
          <a:p>
            <a:pPr algn="l"/>
            <a:r>
              <a:rPr sz="1000" b="0" i="0">
                <a:solidFill>
                  <a:srgbClr val="64748B"/>
                </a:solidFill>
              </a:rPr>
              <a:t>Assumptions:  Monthly churn rate targeted at 3%.  ·  8% conversion from free to paid users.  ·  Focus on content and referrals to acquire users.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ASK</a:t>
            </a:r>
          </a:p>
        </p:txBody>
      </p:sp>
      <p:sp>
        <p:nvSpPr>
          <p:cNvPr id="5" name="TextBox 4"/>
          <p:cNvSpPr txBox="1"/>
          <p:nvPr/>
        </p:nvSpPr>
        <p:spPr>
          <a:xfrm>
            <a:off x="502920" y="274320"/>
            <a:ext cx="11430000" cy="731520"/>
          </a:xfrm>
          <a:prstGeom prst="rect">
            <a:avLst/>
          </a:prstGeom>
          <a:noFill/>
        </p:spPr>
        <p:txBody>
          <a:bodyPr wrap="square">
            <a:spAutoFit/>
          </a:bodyPr>
          <a:lstStyle/>
          <a:p>
            <a:pPr algn="l"/>
            <a:r>
              <a:rPr sz="2400" b="1" i="0">
                <a:solidFill>
                  <a:srgbClr val="FFFFFF"/>
                </a:solidFill>
              </a:rPr>
              <a:t>Support Our Mission to Empower Compliance Teams</a:t>
            </a:r>
          </a:p>
        </p:txBody>
      </p:sp>
      <p:sp>
        <p:nvSpPr>
          <p:cNvPr id="6" name="TextBox 5"/>
          <p:cNvSpPr txBox="1"/>
          <p:nvPr/>
        </p:nvSpPr>
        <p:spPr>
          <a:xfrm>
            <a:off x="502920" y="1005840"/>
            <a:ext cx="11430000" cy="685800"/>
          </a:xfrm>
          <a:prstGeom prst="rect">
            <a:avLst/>
          </a:prstGeom>
          <a:noFill/>
        </p:spPr>
        <p:txBody>
          <a:bodyPr wrap="square">
            <a:spAutoFit/>
          </a:bodyPr>
          <a:lstStyle/>
          <a:p>
            <a:pPr algn="l"/>
            <a:r>
              <a:rPr sz="3600" b="1" i="0">
                <a:solidFill>
                  <a:srgbClr val="F59E0B"/>
                </a:solidFill>
              </a:rPr>
              <a:t>N/A</a:t>
            </a:r>
          </a:p>
        </p:txBody>
      </p:sp>
      <p:sp>
        <p:nvSpPr>
          <p:cNvPr id="7" name="Rectangle 6"/>
          <p:cNvSpPr/>
          <p:nvPr/>
        </p:nvSpPr>
        <p:spPr>
          <a:xfrm>
            <a:off x="502920"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20240"/>
            <a:ext cx="2560320" cy="1188720"/>
          </a:xfrm>
          <a:prstGeom prst="rect">
            <a:avLst/>
          </a:prstGeom>
          <a:noFill/>
        </p:spPr>
        <p:txBody>
          <a:bodyPr wrap="square">
            <a:spAutoFit/>
          </a:bodyPr>
          <a:lstStyle/>
          <a:p>
            <a:pPr algn="l"/>
            <a:r>
              <a:rPr sz="1100" b="0" i="0">
                <a:solidFill>
                  <a:srgbClr val="FFFFFF"/>
                </a:solidFill>
              </a:rPr>
              <a:t>Marketing to increase user acquisition (40%)</a:t>
            </a:r>
          </a:p>
        </p:txBody>
      </p:sp>
      <p:sp>
        <p:nvSpPr>
          <p:cNvPr id="9" name="Rectangle 8"/>
          <p:cNvSpPr/>
          <p:nvPr/>
        </p:nvSpPr>
        <p:spPr>
          <a:xfrm>
            <a:off x="3447288"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920240"/>
            <a:ext cx="2560320" cy="1188720"/>
          </a:xfrm>
          <a:prstGeom prst="rect">
            <a:avLst/>
          </a:prstGeom>
          <a:noFill/>
        </p:spPr>
        <p:txBody>
          <a:bodyPr wrap="square">
            <a:spAutoFit/>
          </a:bodyPr>
          <a:lstStyle/>
          <a:p>
            <a:pPr algn="l"/>
            <a:r>
              <a:rPr sz="1100" b="0" i="0">
                <a:solidFill>
                  <a:srgbClr val="FFFFFF"/>
                </a:solidFill>
              </a:rPr>
              <a:t>Product development enhancements (30%)</a:t>
            </a:r>
          </a:p>
        </p:txBody>
      </p:sp>
      <p:sp>
        <p:nvSpPr>
          <p:cNvPr id="11" name="Rectangle 10"/>
          <p:cNvSpPr/>
          <p:nvPr/>
        </p:nvSpPr>
        <p:spPr>
          <a:xfrm>
            <a:off x="6391656"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920240"/>
            <a:ext cx="2560320" cy="1188720"/>
          </a:xfrm>
          <a:prstGeom prst="rect">
            <a:avLst/>
          </a:prstGeom>
          <a:noFill/>
        </p:spPr>
        <p:txBody>
          <a:bodyPr wrap="square">
            <a:spAutoFit/>
          </a:bodyPr>
          <a:lstStyle/>
          <a:p>
            <a:pPr algn="l"/>
            <a:r>
              <a:rPr sz="1100" b="0" i="0">
                <a:solidFill>
                  <a:srgbClr val="FFFFFF"/>
                </a:solidFill>
              </a:rPr>
              <a:t>Operational costs (20%)</a:t>
            </a:r>
          </a:p>
        </p:txBody>
      </p:sp>
      <p:sp>
        <p:nvSpPr>
          <p:cNvPr id="13" name="Rectangle 12"/>
          <p:cNvSpPr/>
          <p:nvPr/>
        </p:nvSpPr>
        <p:spPr>
          <a:xfrm>
            <a:off x="9336024"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27464" y="1920240"/>
            <a:ext cx="2560320" cy="1188720"/>
          </a:xfrm>
          <a:prstGeom prst="rect">
            <a:avLst/>
          </a:prstGeom>
          <a:noFill/>
        </p:spPr>
        <p:txBody>
          <a:bodyPr wrap="square">
            <a:spAutoFit/>
          </a:bodyPr>
          <a:lstStyle/>
          <a:p>
            <a:pPr algn="l"/>
            <a:r>
              <a:rPr sz="1100" b="0" i="0">
                <a:solidFill>
                  <a:srgbClr val="FFFFFF"/>
                </a:solidFill>
              </a:rPr>
              <a:t>Customer support setup (10%)</a:t>
            </a:r>
          </a:p>
        </p:txBody>
      </p:sp>
      <p:sp>
        <p:nvSpPr>
          <p:cNvPr id="15" name="TextBox 14"/>
          <p:cNvSpPr txBox="1"/>
          <p:nvPr/>
        </p:nvSpPr>
        <p:spPr>
          <a:xfrm>
            <a:off x="502920" y="3383280"/>
            <a:ext cx="5486400" cy="365760"/>
          </a:xfrm>
          <a:prstGeom prst="rect">
            <a:avLst/>
          </a:prstGeom>
          <a:noFill/>
        </p:spPr>
        <p:txBody>
          <a:bodyPr wrap="square">
            <a:spAutoFit/>
          </a:bodyPr>
          <a:lstStyle/>
          <a:p>
            <a:pPr algn="l"/>
            <a:r>
              <a:rPr sz="1300" b="1" i="0">
                <a:solidFill>
                  <a:srgbClr val="E2E8F0"/>
                </a:solidFill>
              </a:rPr>
              <a:t>Milestones This Unlocks</a:t>
            </a:r>
          </a:p>
        </p:txBody>
      </p:sp>
      <p:sp>
        <p:nvSpPr>
          <p:cNvPr id="16" name="Rectangle 15"/>
          <p:cNvSpPr/>
          <p:nvPr/>
        </p:nvSpPr>
        <p:spPr>
          <a:xfrm>
            <a:off x="502920" y="38862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94760"/>
            <a:ext cx="11064240" cy="411480"/>
          </a:xfrm>
          <a:prstGeom prst="rect">
            <a:avLst/>
          </a:prstGeom>
          <a:noFill/>
        </p:spPr>
        <p:txBody>
          <a:bodyPr wrap="square">
            <a:spAutoFit/>
          </a:bodyPr>
          <a:lstStyle/>
          <a:p>
            <a:pPr algn="l"/>
            <a:r>
              <a:rPr sz="1200" b="0" i="0">
                <a:solidFill>
                  <a:srgbClr val="E2E8F0"/>
                </a:solidFill>
              </a:rPr>
              <a:t>Competitive positioning with a unique compliance tool for fintech.</a:t>
            </a:r>
          </a:p>
        </p:txBody>
      </p:sp>
      <p:sp>
        <p:nvSpPr>
          <p:cNvPr id="18" name="Rectangle 17"/>
          <p:cNvSpPr/>
          <p:nvPr/>
        </p:nvSpPr>
        <p:spPr>
          <a:xfrm>
            <a:off x="502920" y="43434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51960"/>
            <a:ext cx="11064240" cy="411480"/>
          </a:xfrm>
          <a:prstGeom prst="rect">
            <a:avLst/>
          </a:prstGeom>
          <a:noFill/>
        </p:spPr>
        <p:txBody>
          <a:bodyPr wrap="square">
            <a:spAutoFit/>
          </a:bodyPr>
          <a:lstStyle/>
          <a:p>
            <a:pPr algn="l"/>
            <a:r>
              <a:rPr sz="1200" b="0" i="0">
                <a:solidFill>
                  <a:srgbClr val="E2E8F0"/>
                </a:solidFill>
              </a:rPr>
              <a:t>100 paying users by Month 6.</a:t>
            </a:r>
          </a:p>
        </p:txBody>
      </p:sp>
      <p:sp>
        <p:nvSpPr>
          <p:cNvPr id="20" name="Rectangle 19"/>
          <p:cNvSpPr/>
          <p:nvPr/>
        </p:nvSpPr>
        <p:spPr>
          <a:xfrm>
            <a:off x="502920" y="48006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09160"/>
            <a:ext cx="11064240" cy="411480"/>
          </a:xfrm>
          <a:prstGeom prst="rect">
            <a:avLst/>
          </a:prstGeom>
          <a:noFill/>
        </p:spPr>
        <p:txBody>
          <a:bodyPr wrap="square">
            <a:spAutoFit/>
          </a:bodyPr>
          <a:lstStyle/>
          <a:p>
            <a:pPr algn="l"/>
            <a:r>
              <a:rPr sz="1200" b="0" i="0">
                <a:solidFill>
                  <a:srgbClr val="E2E8F0"/>
                </a:solidFill>
              </a:rPr>
              <a:t>Achieve break-even within our first year.</a:t>
            </a:r>
          </a:p>
        </p:txBody>
      </p:sp>
      <p:sp>
        <p:nvSpPr>
          <p:cNvPr id="22" name="Rectangle 21"/>
          <p:cNvSpPr/>
          <p:nvPr/>
        </p:nvSpPr>
        <p:spPr>
          <a:xfrm>
            <a:off x="320040" y="5303520"/>
            <a:ext cx="1152144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94960"/>
            <a:ext cx="11155680" cy="1097280"/>
          </a:xfrm>
          <a:prstGeom prst="rect">
            <a:avLst/>
          </a:prstGeom>
          <a:noFill/>
        </p:spPr>
        <p:txBody>
          <a:bodyPr wrap="square">
            <a:spAutoFit/>
          </a:bodyPr>
          <a:lstStyle/>
          <a:p>
            <a:pPr algn="ctr"/>
            <a:r>
              <a:rPr sz="1600" b="1" i="1">
                <a:solidFill>
                  <a:srgbClr val="FFFFFF"/>
                </a:solidFill>
              </a:rPr>
              <a:t>Join us in transforming the compliance landscape for fintech startups — a $2.94 billion opportunity awaits, and with your support, we can lead this charge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