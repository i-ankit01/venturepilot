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 thrilled to introduce you to Craftegra, where we empower freelancers and independent consultants to craft their contracts confidently. Let's dive right into the pressing problems we're solving.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challenges lead to stress and missed opportunities for freelancers. It’s time for a solution that understands their unique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Craftegra is built for freelancers. By addressing their specific needs through AI and affordability, we are reshaping contract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take a quick look at how effortlessly users can draft with Craftegra. This is what a streamlined contract process looks like!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market of this scale, now is the perfect time for Craftegra. We're strategically positioned to meet these growing needs!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model allows us to grow sustainably while providing consistent value to our users. Note the strong LTV:CAC ratio reflecting our efficient growth strategy!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experiencing gratifying early traction. The feedback validates our vital market fit, and we're excited for future growth!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research suggests that while competitors have strong features, none cater specifically to freelancers like Craftegra does. This is where our moat lies!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phased approach emphasizes building community and delivering real value to users, ensuring that they advocate for Craftegra.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our lived experience that positions us to truly empathize with our users and innovate effectively for their needs.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projections showcase a strong growth trajectory. We are seeking to optimize our model while remaining focused on cash 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The potential impact we can create with Craftegra is immense — every freelancer deserves to work with confidence. I hope you will join us on this 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1280160"/>
          </a:xfrm>
          <a:prstGeom prst="rect">
            <a:avLst/>
          </a:prstGeom>
          <a:noFill/>
        </p:spPr>
        <p:txBody>
          <a:bodyPr wrap="square">
            <a:spAutoFit/>
          </a:bodyPr>
          <a:lstStyle/>
          <a:p>
            <a:pPr algn="l"/>
            <a:r>
              <a:rPr sz="6400" b="1" i="0">
                <a:solidFill>
                  <a:srgbClr val="FFFFFF"/>
                </a:solidFill>
              </a:rPr>
              <a:t>Craftegra</a:t>
            </a:r>
          </a:p>
        </p:txBody>
      </p:sp>
      <p:sp>
        <p:nvSpPr>
          <p:cNvPr id="5" name="TextBox 4"/>
          <p:cNvSpPr txBox="1"/>
          <p:nvPr/>
        </p:nvSpPr>
        <p:spPr>
          <a:xfrm>
            <a:off x="548640" y="2743200"/>
            <a:ext cx="9144000" cy="548640"/>
          </a:xfrm>
          <a:prstGeom prst="rect">
            <a:avLst/>
          </a:prstGeom>
          <a:noFill/>
        </p:spPr>
        <p:txBody>
          <a:bodyPr wrap="square">
            <a:spAutoFit/>
          </a:bodyPr>
          <a:lstStyle/>
          <a:p>
            <a:pPr algn="l"/>
            <a:r>
              <a:rPr sz="2200" b="0" i="0">
                <a:solidFill>
                  <a:srgbClr val="F59E0B"/>
                </a:solidFill>
              </a:rPr>
              <a:t>Craft your contracts right</a:t>
            </a:r>
          </a:p>
        </p:txBody>
      </p:sp>
      <p:sp>
        <p:nvSpPr>
          <p:cNvPr id="6" name="TextBox 5"/>
          <p:cNvSpPr txBox="1"/>
          <p:nvPr/>
        </p:nvSpPr>
        <p:spPr>
          <a:xfrm>
            <a:off x="548640" y="3383280"/>
            <a:ext cx="10058400" cy="640080"/>
          </a:xfrm>
          <a:prstGeom prst="rect">
            <a:avLst/>
          </a:prstGeom>
          <a:noFill/>
        </p:spPr>
        <p:txBody>
          <a:bodyPr wrap="square">
            <a:spAutoFit/>
          </a:bodyPr>
          <a:lstStyle/>
          <a:p>
            <a:pPr algn="l"/>
            <a:r>
              <a:rPr sz="1400" b="0" i="1">
                <a:solidFill>
                  <a:srgbClr val="E2E8F0"/>
                </a:solidFill>
              </a:rPr>
              <a:t>Meet Craftegra — the AI-driven contract tool for freelancers. Whether you need to draft or review, we simplify the complexities of contracts into tailored insights, giving you the confidence to protect your freelance work. Perfecting contracts has never been easier!</a:t>
            </a:r>
          </a:p>
        </p:txBody>
      </p:sp>
      <p:sp>
        <p:nvSpPr>
          <p:cNvPr id="7" name="TextBox 6"/>
          <p:cNvSpPr txBox="1"/>
          <p:nvPr/>
        </p:nvSpPr>
        <p:spPr>
          <a:xfrm>
            <a:off x="10515600" y="6309360"/>
            <a:ext cx="1463040" cy="365760"/>
          </a:xfrm>
          <a:prstGeom prst="rect">
            <a:avLst/>
          </a:prstGeom>
          <a:noFill/>
        </p:spPr>
        <p:txBody>
          <a:bodyPr wrap="square">
            <a:spAutoFit/>
          </a:bodyPr>
          <a:lstStyle/>
          <a:p>
            <a:pPr algn="r"/>
            <a:r>
              <a:rPr sz="1100" b="0" i="0">
                <a:solidFill>
                  <a:srgbClr val="64748B"/>
                </a:solidFill>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PROBLEM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Freelancers struggle with complex contract management.</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Time-consuming contract drafting processes.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Freelancers typically spend multiple hours creating contracts, often from scratch, creating frustration and inefficiency.</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Inconsistencies lead to legal vulnerabilities.</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One in three freelancers report unfavorable terms due to manual handling and a lack of legal guidance.</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High costs of legal consultations.</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Freelancers often face hourly rates upwards of $200, creating barriers to secure legal advice.</a:t>
            </a:r>
          </a:p>
        </p:txBody>
      </p:sp>
      <p:sp>
        <p:nvSpPr>
          <p:cNvPr id="15" name="Rectangle 14"/>
          <p:cNvSpPr/>
          <p:nvPr/>
        </p:nvSpPr>
        <p:spPr>
          <a:xfrm>
            <a:off x="320040" y="5577840"/>
            <a:ext cx="11521440" cy="960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0F172A"/>
                </a:solidFill>
              </a:rPr>
              <a:t>Every freelancer knows the fear of sending a contract that doesn't protect them. At Craftegra, we're changing that 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SOLUTION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Craftegra: Instant contracts, tailored legal insights.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AI-Powered Contract Drafting.</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Generates personalized contracts instantly, saving hours of time.</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Contextual Legal Insights.</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Offers advice specific to freelancers' unique situations, enhancing contract security.</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Affordable Pricing Model.</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Starting at $19/month, empowering freelancers without breaking the bank.</a:t>
            </a:r>
          </a:p>
        </p:txBody>
      </p:sp>
      <p:sp>
        <p:nvSpPr>
          <p:cNvPr id="15" name="Rectangle 14"/>
          <p:cNvSpPr/>
          <p:nvPr/>
        </p:nvSpPr>
        <p:spPr>
          <a:xfrm>
            <a:off x="320040" y="5577840"/>
            <a:ext cx="1152144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FFFFFF"/>
                </a:solidFill>
              </a:rPr>
              <a:t>Imagine sending a contract confidently, knowing you've got tailored insights backing you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PRODUCT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Crafting contracts made easy with Craftegra.</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5486400" cy="1325880"/>
          </a:xfrm>
          <a:prstGeom prst="rect">
            <a:avLst/>
          </a:prstGeom>
          <a:noFill/>
        </p:spPr>
        <p:txBody>
          <a:bodyPr wrap="square">
            <a:spAutoFit/>
          </a:bodyPr>
          <a:lstStyle/>
          <a:p>
            <a:pPr algn="l"/>
            <a:r>
              <a:rPr sz="1300" b="0" i="0">
                <a:solidFill>
                  <a:srgbClr val="FFFFFF"/>
                </a:solidFill>
              </a:rPr>
              <a:t>AI-Powered Contract Drafting: Tailored contracts generated in seconds.</a:t>
            </a:r>
          </a:p>
        </p:txBody>
      </p:sp>
      <p:sp>
        <p:nvSpPr>
          <p:cNvPr id="8" name="Rectangle 7"/>
          <p:cNvSpPr/>
          <p:nvPr/>
        </p:nvSpPr>
        <p:spPr>
          <a:xfrm>
            <a:off x="6263640" y="141732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5486400" cy="1325880"/>
          </a:xfrm>
          <a:prstGeom prst="rect">
            <a:avLst/>
          </a:prstGeom>
          <a:noFill/>
        </p:spPr>
        <p:txBody>
          <a:bodyPr wrap="square">
            <a:spAutoFit/>
          </a:bodyPr>
          <a:lstStyle/>
          <a:p>
            <a:pPr algn="l"/>
            <a:r>
              <a:rPr sz="1300" b="0" i="0">
                <a:solidFill>
                  <a:srgbClr val="FFFFFF"/>
                </a:solidFill>
              </a:rPr>
              <a:t>Contextual Legal Insights: Instant legal help based on freelancer needs.</a:t>
            </a:r>
          </a:p>
        </p:txBody>
      </p:sp>
      <p:sp>
        <p:nvSpPr>
          <p:cNvPr id="10" name="Rectangle 9"/>
          <p:cNvSpPr/>
          <p:nvPr/>
        </p:nvSpPr>
        <p:spPr>
          <a:xfrm>
            <a:off x="320040" y="329184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29000"/>
            <a:ext cx="5486400" cy="1325880"/>
          </a:xfrm>
          <a:prstGeom prst="rect">
            <a:avLst/>
          </a:prstGeom>
          <a:noFill/>
        </p:spPr>
        <p:txBody>
          <a:bodyPr wrap="square">
            <a:spAutoFit/>
          </a:bodyPr>
          <a:lstStyle/>
          <a:p>
            <a:pPr algn="l"/>
            <a:r>
              <a:rPr sz="1300" b="0" i="0">
                <a:solidFill>
                  <a:srgbClr val="FFFFFF"/>
                </a:solidFill>
              </a:rPr>
              <a:t>Template Library: Customizable contract templates for various project types.</a:t>
            </a:r>
          </a:p>
        </p:txBody>
      </p:sp>
      <p:sp>
        <p:nvSpPr>
          <p:cNvPr id="12" name="Rectangle 11"/>
          <p:cNvSpPr/>
          <p:nvPr/>
        </p:nvSpPr>
        <p:spPr>
          <a:xfrm>
            <a:off x="6263640" y="329184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429000"/>
            <a:ext cx="5486400" cy="1325880"/>
          </a:xfrm>
          <a:prstGeom prst="rect">
            <a:avLst/>
          </a:prstGeom>
          <a:noFill/>
        </p:spPr>
        <p:txBody>
          <a:bodyPr wrap="square">
            <a:spAutoFit/>
          </a:bodyPr>
          <a:lstStyle/>
          <a:p>
            <a:pPr algn="l"/>
            <a:r>
              <a:rPr sz="1300" b="0" i="0">
                <a:solidFill>
                  <a:srgbClr val="FFFFFF"/>
                </a:solidFill>
              </a:rPr>
              <a:t>Revision Tracker: Easy change tracking and identification of inconsistencies.</a:t>
            </a:r>
          </a:p>
        </p:txBody>
      </p:sp>
      <p:sp>
        <p:nvSpPr>
          <p:cNvPr id="14" name="Rectangle 13"/>
          <p:cNvSpPr/>
          <p:nvPr/>
        </p:nvSpPr>
        <p:spPr>
          <a:xfrm>
            <a:off x="320040" y="5486400"/>
            <a:ext cx="1152144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577840"/>
            <a:ext cx="11155680" cy="868680"/>
          </a:xfrm>
          <a:prstGeom prst="rect">
            <a:avLst/>
          </a:prstGeom>
          <a:noFill/>
        </p:spPr>
        <p:txBody>
          <a:bodyPr wrap="square">
            <a:spAutoFit/>
          </a:bodyPr>
          <a:lstStyle/>
          <a:p>
            <a:pPr algn="l"/>
            <a:r>
              <a:rPr sz="1100" b="0" i="1">
                <a:solidFill>
                  <a:srgbClr val="E2E8F0"/>
                </a:solidFill>
              </a:rPr>
              <a:t>Demo Flow  →  Step 1: Input project details and client information → Step 2: Generate a personalized contract → Step 3: Access legal insights and send via Craftegra.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MARKET SIZE</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 $26.5 billion legal market, ripe for disruption.</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56616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27048"/>
            <a:ext cx="3566160" cy="320040"/>
          </a:xfrm>
          <a:prstGeom prst="rect">
            <a:avLst/>
          </a:prstGeom>
          <a:noFill/>
        </p:spPr>
        <p:txBody>
          <a:bodyPr wrap="square">
            <a:spAutoFit/>
          </a:bodyPr>
          <a:lstStyle/>
          <a:p>
            <a:pPr algn="ctr"/>
            <a:r>
              <a:rPr sz="1100" b="1" i="0">
                <a:solidFill>
                  <a:srgbClr val="FFFFFF"/>
                </a:solidFill>
              </a:rPr>
              <a:t>TAM</a:t>
            </a:r>
          </a:p>
        </p:txBody>
      </p:sp>
      <p:sp>
        <p:nvSpPr>
          <p:cNvPr id="8" name="TextBox 7"/>
          <p:cNvSpPr txBox="1"/>
          <p:nvPr/>
        </p:nvSpPr>
        <p:spPr>
          <a:xfrm>
            <a:off x="411480" y="1828800"/>
            <a:ext cx="3383280" cy="1508760"/>
          </a:xfrm>
          <a:prstGeom prst="rect">
            <a:avLst/>
          </a:prstGeom>
          <a:noFill/>
        </p:spPr>
        <p:txBody>
          <a:bodyPr wrap="square">
            <a:spAutoFit/>
          </a:bodyPr>
          <a:lstStyle/>
          <a:p>
            <a:pPr algn="l"/>
            <a:r>
              <a:rPr sz="1100" b="0" i="0">
                <a:solidFill>
                  <a:srgbClr val="FFFFFF"/>
                </a:solidFill>
              </a:rPr>
              <a:t>The global LegalTech market is estimated to grow from $26.5B in 2024 to $29.2B in 2025, with contract management as a key growth driver.</a:t>
            </a:r>
          </a:p>
        </p:txBody>
      </p:sp>
      <p:sp>
        <p:nvSpPr>
          <p:cNvPr id="9" name="Rectangle 8"/>
          <p:cNvSpPr/>
          <p:nvPr/>
        </p:nvSpPr>
        <p:spPr>
          <a:xfrm>
            <a:off x="4114800" y="1417320"/>
            <a:ext cx="35661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527048"/>
            <a:ext cx="3566160" cy="320040"/>
          </a:xfrm>
          <a:prstGeom prst="rect">
            <a:avLst/>
          </a:prstGeom>
          <a:noFill/>
        </p:spPr>
        <p:txBody>
          <a:bodyPr wrap="square">
            <a:spAutoFit/>
          </a:bodyPr>
          <a:lstStyle/>
          <a:p>
            <a:pPr algn="ctr"/>
            <a:r>
              <a:rPr sz="1100" b="1" i="0">
                <a:solidFill>
                  <a:srgbClr val="FFFFFF"/>
                </a:solidFill>
              </a:rPr>
              <a:t>SAM</a:t>
            </a:r>
          </a:p>
        </p:txBody>
      </p:sp>
      <p:sp>
        <p:nvSpPr>
          <p:cNvPr id="11" name="TextBox 10"/>
          <p:cNvSpPr txBox="1"/>
          <p:nvPr/>
        </p:nvSpPr>
        <p:spPr>
          <a:xfrm>
            <a:off x="4206240" y="1828800"/>
            <a:ext cx="3383280" cy="1508760"/>
          </a:xfrm>
          <a:prstGeom prst="rect">
            <a:avLst/>
          </a:prstGeom>
          <a:noFill/>
        </p:spPr>
        <p:txBody>
          <a:bodyPr wrap="square">
            <a:spAutoFit/>
          </a:bodyPr>
          <a:lstStyle/>
          <a:p>
            <a:pPr algn="l"/>
            <a:r>
              <a:rPr sz="1100" b="0" i="0">
                <a:solidFill>
                  <a:srgbClr val="FFFFFF"/>
                </a:solidFill>
              </a:rPr>
              <a:t>Within this market, freelancers represent an urgent and growing service gap, providing a significant opportunity for targeted solutions.</a:t>
            </a:r>
          </a:p>
        </p:txBody>
      </p:sp>
      <p:sp>
        <p:nvSpPr>
          <p:cNvPr id="12" name="Rectangle 11"/>
          <p:cNvSpPr/>
          <p:nvPr/>
        </p:nvSpPr>
        <p:spPr>
          <a:xfrm>
            <a:off x="7909560" y="1417320"/>
            <a:ext cx="3566160" cy="2011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527048"/>
            <a:ext cx="3566160" cy="320040"/>
          </a:xfrm>
          <a:prstGeom prst="rect">
            <a:avLst/>
          </a:prstGeom>
          <a:noFill/>
        </p:spPr>
        <p:txBody>
          <a:bodyPr wrap="square">
            <a:spAutoFit/>
          </a:bodyPr>
          <a:lstStyle/>
          <a:p>
            <a:pPr algn="ctr"/>
            <a:r>
              <a:rPr sz="1100" b="1" i="0">
                <a:solidFill>
                  <a:srgbClr val="FFFFFF"/>
                </a:solidFill>
              </a:rPr>
              <a:t>SOM</a:t>
            </a:r>
          </a:p>
        </p:txBody>
      </p:sp>
      <p:sp>
        <p:nvSpPr>
          <p:cNvPr id="14" name="TextBox 13"/>
          <p:cNvSpPr txBox="1"/>
          <p:nvPr/>
        </p:nvSpPr>
        <p:spPr>
          <a:xfrm>
            <a:off x="8001000" y="1828800"/>
            <a:ext cx="3383280" cy="1508760"/>
          </a:xfrm>
          <a:prstGeom prst="rect">
            <a:avLst/>
          </a:prstGeom>
          <a:noFill/>
        </p:spPr>
        <p:txBody>
          <a:bodyPr wrap="square">
            <a:spAutoFit/>
          </a:bodyPr>
          <a:lstStyle/>
          <a:p>
            <a:pPr algn="l"/>
            <a:r>
              <a:rPr sz="1100" b="0" i="0">
                <a:solidFill>
                  <a:srgbClr val="FFFFFF"/>
                </a:solidFill>
              </a:rPr>
              <a:t>Our Year 1 goal is to capture 1,500 paying freelancers, a realistic target given our engagement strategy.</a:t>
            </a:r>
          </a:p>
        </p:txBody>
      </p:sp>
      <p:sp>
        <p:nvSpPr>
          <p:cNvPr id="15" name="TextBox 14"/>
          <p:cNvSpPr txBox="1"/>
          <p:nvPr/>
        </p:nvSpPr>
        <p:spPr>
          <a:xfrm>
            <a:off x="320040" y="3703320"/>
            <a:ext cx="5486400" cy="365760"/>
          </a:xfrm>
          <a:prstGeom prst="rect">
            <a:avLst/>
          </a:prstGeom>
          <a:noFill/>
        </p:spPr>
        <p:txBody>
          <a:bodyPr wrap="square">
            <a:spAutoFit/>
          </a:bodyPr>
          <a:lstStyle/>
          <a:p>
            <a:pPr algn="l"/>
            <a:r>
              <a:rPr sz="1400" b="1" i="0">
                <a:solidFill>
                  <a:srgbClr val="0F172A"/>
                </a:solidFill>
              </a:rPr>
              <a:t>Market Tailwinds</a:t>
            </a:r>
          </a:p>
        </p:txBody>
      </p:sp>
      <p:sp>
        <p:nvSpPr>
          <p:cNvPr id="16" name="Rectangle 15"/>
          <p:cNvSpPr/>
          <p:nvPr/>
        </p:nvSpPr>
        <p:spPr>
          <a:xfrm>
            <a:off x="320040" y="4224528"/>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114800"/>
            <a:ext cx="11064240" cy="411480"/>
          </a:xfrm>
          <a:prstGeom prst="rect">
            <a:avLst/>
          </a:prstGeom>
          <a:noFill/>
        </p:spPr>
        <p:txBody>
          <a:bodyPr wrap="square">
            <a:spAutoFit/>
          </a:bodyPr>
          <a:lstStyle/>
          <a:p>
            <a:pPr algn="l"/>
            <a:r>
              <a:rPr sz="1200" b="0" i="0">
                <a:solidFill>
                  <a:srgbClr val="0F172A"/>
                </a:solidFill>
              </a:rPr>
              <a:t>Freelance economy expected to grow 20% YOY through 2026.</a:t>
            </a:r>
          </a:p>
        </p:txBody>
      </p:sp>
      <p:sp>
        <p:nvSpPr>
          <p:cNvPr id="18" name="Rectangle 17"/>
          <p:cNvSpPr/>
          <p:nvPr/>
        </p:nvSpPr>
        <p:spPr>
          <a:xfrm>
            <a:off x="320040" y="4700016"/>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90288"/>
            <a:ext cx="11064240" cy="411480"/>
          </a:xfrm>
          <a:prstGeom prst="rect">
            <a:avLst/>
          </a:prstGeom>
          <a:noFill/>
        </p:spPr>
        <p:txBody>
          <a:bodyPr wrap="square">
            <a:spAutoFit/>
          </a:bodyPr>
          <a:lstStyle/>
          <a:p>
            <a:pPr algn="l"/>
            <a:r>
              <a:rPr sz="1200" b="0" i="0">
                <a:solidFill>
                  <a:srgbClr val="0F172A"/>
                </a:solidFill>
              </a:rPr>
              <a:t>Integration of AI is transforming how contracts are managed, making tools like Craftegra crucial.</a:t>
            </a:r>
          </a:p>
        </p:txBody>
      </p:sp>
      <p:sp>
        <p:nvSpPr>
          <p:cNvPr id="20" name="Rectangle 19"/>
          <p:cNvSpPr/>
          <p:nvPr/>
        </p:nvSpPr>
        <p:spPr>
          <a:xfrm>
            <a:off x="320040" y="5175504"/>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065776"/>
            <a:ext cx="11064240" cy="411480"/>
          </a:xfrm>
          <a:prstGeom prst="rect">
            <a:avLst/>
          </a:prstGeom>
          <a:noFill/>
        </p:spPr>
        <p:txBody>
          <a:bodyPr wrap="square">
            <a:spAutoFit/>
          </a:bodyPr>
          <a:lstStyle/>
          <a:p>
            <a:pPr algn="l"/>
            <a:r>
              <a:rPr sz="1200" b="0" i="0">
                <a:solidFill>
                  <a:srgbClr val="0F172A"/>
                </a:solidFill>
              </a:rPr>
              <a:t>Increased investment in affordable contract solutions is rapidly occurring, meeting freelancers' unmet needs.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BUSINESS MODEL</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Subscription model tailored for freelancers.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11521440" cy="640080"/>
          </a:xfrm>
          <a:prstGeom prst="rect">
            <a:avLst/>
          </a:prstGeom>
          <a:noFill/>
        </p:spPr>
        <p:txBody>
          <a:bodyPr wrap="square">
            <a:spAutoFit/>
          </a:bodyPr>
          <a:lstStyle/>
          <a:p>
            <a:pPr algn="l"/>
            <a:r>
              <a:rPr sz="1300" b="0" i="1">
                <a:solidFill>
                  <a:srgbClr val="64748B"/>
                </a:solidFill>
              </a:rPr>
              <a:t>Craftegra operates on a subscription basis, enabling us to provide continuous updates and tailored support for our users. Our model facilitates gradual scaling as we attract more paying users.</a:t>
            </a:r>
          </a:p>
        </p:txBody>
      </p:sp>
      <p:sp>
        <p:nvSpPr>
          <p:cNvPr id="7" name="Rectangle 6"/>
          <p:cNvSpPr/>
          <p:nvPr/>
        </p:nvSpPr>
        <p:spPr>
          <a:xfrm>
            <a:off x="320040" y="2148840"/>
            <a:ext cx="3657600"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86000"/>
            <a:ext cx="3383280" cy="2103120"/>
          </a:xfrm>
          <a:prstGeom prst="rect">
            <a:avLst/>
          </a:prstGeom>
          <a:noFill/>
        </p:spPr>
        <p:txBody>
          <a:bodyPr wrap="square">
            <a:spAutoFit/>
          </a:bodyPr>
          <a:lstStyle/>
          <a:p>
            <a:pPr algn="l"/>
            <a:r>
              <a:rPr sz="1200" b="0" i="0">
                <a:solidFill>
                  <a:srgbClr val="0F172A"/>
                </a:solidFill>
              </a:rPr>
              <a:t>Free — up to 2 contracts/month (acquisition)</a:t>
            </a:r>
          </a:p>
        </p:txBody>
      </p:sp>
      <p:sp>
        <p:nvSpPr>
          <p:cNvPr id="9" name="Rectangle 8"/>
          <p:cNvSpPr/>
          <p:nvPr/>
        </p:nvSpPr>
        <p:spPr>
          <a:xfrm>
            <a:off x="4160520" y="2148840"/>
            <a:ext cx="3657600" cy="2377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2286000"/>
            <a:ext cx="3383280" cy="2103120"/>
          </a:xfrm>
          <a:prstGeom prst="rect">
            <a:avLst/>
          </a:prstGeom>
          <a:noFill/>
        </p:spPr>
        <p:txBody>
          <a:bodyPr wrap="square">
            <a:spAutoFit/>
          </a:bodyPr>
          <a:lstStyle/>
          <a:p>
            <a:pPr algn="l"/>
            <a:r>
              <a:rPr sz="1200" b="0" i="0">
                <a:solidFill>
                  <a:srgbClr val="FFFFFF"/>
                </a:solidFill>
              </a:rPr>
              <a:t>Pro $19/month — unlimited contracts + insights + templates</a:t>
            </a:r>
          </a:p>
        </p:txBody>
      </p:sp>
      <p:sp>
        <p:nvSpPr>
          <p:cNvPr id="11" name="Rectangle 10"/>
          <p:cNvSpPr/>
          <p:nvPr/>
        </p:nvSpPr>
        <p:spPr>
          <a:xfrm>
            <a:off x="8001000" y="2148840"/>
            <a:ext cx="365760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286000"/>
            <a:ext cx="3383280" cy="2103120"/>
          </a:xfrm>
          <a:prstGeom prst="rect">
            <a:avLst/>
          </a:prstGeom>
          <a:noFill/>
        </p:spPr>
        <p:txBody>
          <a:bodyPr wrap="square">
            <a:spAutoFit/>
          </a:bodyPr>
          <a:lstStyle/>
          <a:p>
            <a:pPr algn="l"/>
            <a:r>
              <a:rPr sz="1200" b="0" i="0">
                <a:solidFill>
                  <a:srgbClr val="FFFFFF"/>
                </a:solidFill>
              </a:rPr>
              <a:t>Business $49/month — team access and enhanced features</a:t>
            </a:r>
          </a:p>
        </p:txBody>
      </p:sp>
      <p:sp>
        <p:nvSpPr>
          <p:cNvPr id="13" name="TextBox 12"/>
          <p:cNvSpPr txBox="1"/>
          <p:nvPr/>
        </p:nvSpPr>
        <p:spPr>
          <a:xfrm>
            <a:off x="320040" y="4709160"/>
            <a:ext cx="5486400" cy="320040"/>
          </a:xfrm>
          <a:prstGeom prst="rect">
            <a:avLst/>
          </a:prstGeom>
          <a:noFill/>
        </p:spPr>
        <p:txBody>
          <a:bodyPr wrap="square">
            <a:spAutoFit/>
          </a:bodyPr>
          <a:lstStyle/>
          <a:p>
            <a:pPr algn="l"/>
            <a:r>
              <a:rPr sz="1300" b="1" i="0">
                <a:solidFill>
                  <a:srgbClr val="0F172A"/>
                </a:solidFill>
              </a:rPr>
              <a:t>Unit Economics</a:t>
            </a:r>
          </a:p>
        </p:txBody>
      </p:sp>
      <p:sp>
        <p:nvSpPr>
          <p:cNvPr id="14" name="Rectangle 13"/>
          <p:cNvSpPr/>
          <p:nvPr/>
        </p:nvSpPr>
        <p:spPr>
          <a:xfrm>
            <a:off x="32004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5120640"/>
            <a:ext cx="3474720" cy="685800"/>
          </a:xfrm>
          <a:prstGeom prst="rect">
            <a:avLst/>
          </a:prstGeom>
          <a:noFill/>
        </p:spPr>
        <p:txBody>
          <a:bodyPr wrap="square">
            <a:spAutoFit/>
          </a:bodyPr>
          <a:lstStyle/>
          <a:p>
            <a:pPr algn="ctr"/>
            <a:r>
              <a:rPr sz="1200" b="1" i="0">
                <a:solidFill>
                  <a:srgbClr val="F59E0B"/>
                </a:solidFill>
              </a:rPr>
              <a:t>ARPU: $28/month</a:t>
            </a:r>
          </a:p>
        </p:txBody>
      </p:sp>
      <p:sp>
        <p:nvSpPr>
          <p:cNvPr id="16" name="Rectangle 15"/>
          <p:cNvSpPr/>
          <p:nvPr/>
        </p:nvSpPr>
        <p:spPr>
          <a:xfrm>
            <a:off x="416052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5120640"/>
            <a:ext cx="3474720" cy="685800"/>
          </a:xfrm>
          <a:prstGeom prst="rect">
            <a:avLst/>
          </a:prstGeom>
          <a:noFill/>
        </p:spPr>
        <p:txBody>
          <a:bodyPr wrap="square">
            <a:spAutoFit/>
          </a:bodyPr>
          <a:lstStyle/>
          <a:p>
            <a:pPr algn="ctr"/>
            <a:r>
              <a:rPr sz="1200" b="1" i="0">
                <a:solidFill>
                  <a:srgbClr val="F59E0B"/>
                </a:solidFill>
              </a:rPr>
              <a:t>LTV:CAC = 19:1</a:t>
            </a:r>
          </a:p>
        </p:txBody>
      </p:sp>
      <p:sp>
        <p:nvSpPr>
          <p:cNvPr id="18" name="Rectangle 17"/>
          <p:cNvSpPr/>
          <p:nvPr/>
        </p:nvSpPr>
        <p:spPr>
          <a:xfrm>
            <a:off x="800100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5120640"/>
            <a:ext cx="3474720" cy="685800"/>
          </a:xfrm>
          <a:prstGeom prst="rect">
            <a:avLst/>
          </a:prstGeom>
          <a:noFill/>
        </p:spPr>
        <p:txBody>
          <a:bodyPr wrap="square">
            <a:spAutoFit/>
          </a:bodyPr>
          <a:lstStyle/>
          <a:p>
            <a:pPr algn="ctr"/>
            <a:r>
              <a:rPr sz="1200" b="1" i="0">
                <a:solidFill>
                  <a:srgbClr val="F59E0B"/>
                </a:solidFill>
              </a:rPr>
              <a:t>Payback: 1 month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TRACTION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Strong early traction: 150 paid users and counting!</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MVP launched with positive user feedback within the first month.</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Our rollout resulted in 150 paying users from organic growth.</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30% month-over-month growth in user signups since launch.</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Well-received feedback and engagement from early adopters are fueling this momentum.</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Positive user NPS of 85+, indicating high satisfaction.</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Freelancers are benefitting from tailored advice and rapid contract creation.</a:t>
            </a:r>
          </a:p>
        </p:txBody>
      </p:sp>
      <p:sp>
        <p:nvSpPr>
          <p:cNvPr id="15" name="Rectangle 14"/>
          <p:cNvSpPr/>
          <p:nvPr/>
        </p:nvSpPr>
        <p:spPr>
          <a:xfrm>
            <a:off x="320040" y="4754880"/>
            <a:ext cx="11521440" cy="10972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46320"/>
            <a:ext cx="11064240" cy="914400"/>
          </a:xfrm>
          <a:prstGeom prst="rect">
            <a:avLst/>
          </a:prstGeom>
          <a:noFill/>
        </p:spPr>
        <p:txBody>
          <a:bodyPr wrap="square">
            <a:spAutoFit/>
          </a:bodyPr>
          <a:lstStyle/>
          <a:p>
            <a:pPr algn="l"/>
            <a:r>
              <a:rPr sz="1200" b="0" i="1">
                <a:solidFill>
                  <a:srgbClr val="FFFFFF"/>
                </a:solidFill>
              </a:rPr>
              <a:t>""Craftegra transformed my approach to contracts. It's like having a legal expert in my corner!" — Alex, Freelance Designer."</a:t>
            </a:r>
          </a:p>
        </p:txBody>
      </p:sp>
      <p:sp>
        <p:nvSpPr>
          <p:cNvPr id="17" name="TextBox 16"/>
          <p:cNvSpPr txBox="1"/>
          <p:nvPr/>
        </p:nvSpPr>
        <p:spPr>
          <a:xfrm>
            <a:off x="320040" y="5989320"/>
            <a:ext cx="2743200" cy="365760"/>
          </a:xfrm>
          <a:prstGeom prst="rect">
            <a:avLst/>
          </a:prstGeom>
          <a:noFill/>
        </p:spPr>
        <p:txBody>
          <a:bodyPr wrap="square">
            <a:spAutoFit/>
          </a:bodyPr>
          <a:lstStyle/>
          <a:p>
            <a:pPr algn="l"/>
            <a:r>
              <a:rPr sz="1100" b="1" i="0">
                <a:solidFill>
                  <a:srgbClr val="0F172A"/>
                </a:solidFill>
              </a:rPr>
              <a:t>Next Milestones:</a:t>
            </a:r>
          </a:p>
        </p:txBody>
      </p:sp>
      <p:sp>
        <p:nvSpPr>
          <p:cNvPr id="18" name="TextBox 17"/>
          <p:cNvSpPr txBox="1"/>
          <p:nvPr/>
        </p:nvSpPr>
        <p:spPr>
          <a:xfrm>
            <a:off x="2286000" y="5989320"/>
            <a:ext cx="9601200" cy="365760"/>
          </a:xfrm>
          <a:prstGeom prst="rect">
            <a:avLst/>
          </a:prstGeom>
          <a:noFill/>
        </p:spPr>
        <p:txBody>
          <a:bodyPr wrap="square">
            <a:spAutoFit/>
          </a:bodyPr>
          <a:lstStyle/>
          <a:p>
            <a:pPr algn="l"/>
            <a:r>
              <a:rPr sz="1100" b="0" i="0">
                <a:solidFill>
                  <a:srgbClr val="64748B"/>
                </a:solidFill>
              </a:rPr>
              <a:t>Hit 1,000 paying users by Month 6  ·  Expand template library based on user requests  ·  Launch partnerships with freelancer service platforms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COMPETITION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The unique Craftegra advantage over competitors.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371600"/>
            <a:ext cx="228600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71600"/>
            <a:ext cx="2286000" cy="502920"/>
          </a:xfrm>
          <a:prstGeom prst="rect">
            <a:avLst/>
          </a:prstGeom>
          <a:noFill/>
        </p:spPr>
        <p:txBody>
          <a:bodyPr wrap="square">
            <a:spAutoFit/>
          </a:bodyPr>
          <a:lstStyle/>
          <a:p>
            <a:pPr algn="ctr"/>
            <a:r>
              <a:rPr sz="1100" b="1" i="0">
                <a:solidFill>
                  <a:srgbClr val="FFFFFF"/>
                </a:solidFill>
              </a:rPr>
              <a:t>Competitor</a:t>
            </a:r>
          </a:p>
        </p:txBody>
      </p:sp>
      <p:sp>
        <p:nvSpPr>
          <p:cNvPr id="8" name="Rectangle 7"/>
          <p:cNvSpPr/>
          <p:nvPr/>
        </p:nvSpPr>
        <p:spPr>
          <a:xfrm>
            <a:off x="260604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1371600"/>
            <a:ext cx="1737360" cy="502920"/>
          </a:xfrm>
          <a:prstGeom prst="rect">
            <a:avLst/>
          </a:prstGeom>
          <a:noFill/>
        </p:spPr>
        <p:txBody>
          <a:bodyPr wrap="square">
            <a:spAutoFit/>
          </a:bodyPr>
          <a:lstStyle/>
          <a:p>
            <a:pPr algn="ctr"/>
            <a:r>
              <a:rPr sz="1000" b="1" i="0">
                <a:solidFill>
                  <a:srgbClr val="FFFFFF"/>
                </a:solidFill>
              </a:rPr>
              <a:t>WhatsApp</a:t>
            </a:r>
          </a:p>
        </p:txBody>
      </p:sp>
      <p:sp>
        <p:nvSpPr>
          <p:cNvPr id="10" name="Rectangle 9"/>
          <p:cNvSpPr/>
          <p:nvPr/>
        </p:nvSpPr>
        <p:spPr>
          <a:xfrm>
            <a:off x="434340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371600"/>
            <a:ext cx="1737360" cy="502920"/>
          </a:xfrm>
          <a:prstGeom prst="rect">
            <a:avLst/>
          </a:prstGeom>
          <a:noFill/>
        </p:spPr>
        <p:txBody>
          <a:bodyPr wrap="square">
            <a:spAutoFit/>
          </a:bodyPr>
          <a:lstStyle/>
          <a:p>
            <a:pPr algn="ctr"/>
            <a:r>
              <a:rPr sz="1000" b="1" i="0">
                <a:solidFill>
                  <a:srgbClr val="FFFFFF"/>
                </a:solidFill>
              </a:rPr>
              <a:t>GST</a:t>
            </a:r>
          </a:p>
        </p:txBody>
      </p:sp>
      <p:sp>
        <p:nvSpPr>
          <p:cNvPr id="12" name="Rectangle 11"/>
          <p:cNvSpPr/>
          <p:nvPr/>
        </p:nvSpPr>
        <p:spPr>
          <a:xfrm>
            <a:off x="608076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371600"/>
            <a:ext cx="1737360" cy="502920"/>
          </a:xfrm>
          <a:prstGeom prst="rect">
            <a:avLst/>
          </a:prstGeom>
          <a:noFill/>
        </p:spPr>
        <p:txBody>
          <a:bodyPr wrap="square">
            <a:spAutoFit/>
          </a:bodyPr>
          <a:lstStyle/>
          <a:p>
            <a:pPr algn="ctr"/>
            <a:r>
              <a:rPr sz="1000" b="1" i="0">
                <a:solidFill>
                  <a:srgbClr val="FFFFFF"/>
                </a:solidFill>
              </a:rPr>
              <a:t>Auto-Remind</a:t>
            </a:r>
          </a:p>
        </p:txBody>
      </p:sp>
      <p:sp>
        <p:nvSpPr>
          <p:cNvPr id="14" name="Rectangle 13"/>
          <p:cNvSpPr/>
          <p:nvPr/>
        </p:nvSpPr>
        <p:spPr>
          <a:xfrm>
            <a:off x="781812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1371600"/>
            <a:ext cx="1737360" cy="502920"/>
          </a:xfrm>
          <a:prstGeom prst="rect">
            <a:avLst/>
          </a:prstGeom>
          <a:noFill/>
        </p:spPr>
        <p:txBody>
          <a:bodyPr wrap="square">
            <a:spAutoFit/>
          </a:bodyPr>
          <a:lstStyle/>
          <a:p>
            <a:pPr algn="ctr"/>
            <a:r>
              <a:rPr sz="1000" b="1" i="0">
                <a:solidFill>
                  <a:srgbClr val="FFFFFF"/>
                </a:solidFill>
              </a:rPr>
              <a:t>Freelancer</a:t>
            </a:r>
          </a:p>
        </p:txBody>
      </p:sp>
      <p:sp>
        <p:nvSpPr>
          <p:cNvPr id="16" name="Rectangle 15"/>
          <p:cNvSpPr/>
          <p:nvPr/>
        </p:nvSpPr>
        <p:spPr>
          <a:xfrm>
            <a:off x="955548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371600"/>
            <a:ext cx="1737360" cy="502920"/>
          </a:xfrm>
          <a:prstGeom prst="rect">
            <a:avLst/>
          </a:prstGeom>
          <a:noFill/>
        </p:spPr>
        <p:txBody>
          <a:bodyPr wrap="square">
            <a:spAutoFit/>
          </a:bodyPr>
          <a:lstStyle/>
          <a:p>
            <a:pPr algn="ctr"/>
            <a:r>
              <a:rPr sz="1000" b="1" i="0">
                <a:solidFill>
                  <a:srgbClr val="FFFFFF"/>
                </a:solidFill>
              </a:rPr>
              <a:t>₹ Affordable</a:t>
            </a:r>
          </a:p>
        </p:txBody>
      </p:sp>
      <p:sp>
        <p:nvSpPr>
          <p:cNvPr id="18" name="Rectangle 17"/>
          <p:cNvSpPr/>
          <p:nvPr/>
        </p:nvSpPr>
        <p:spPr>
          <a:xfrm>
            <a:off x="320040" y="187452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1874520"/>
            <a:ext cx="2286000" cy="502920"/>
          </a:xfrm>
          <a:prstGeom prst="rect">
            <a:avLst/>
          </a:prstGeom>
          <a:noFill/>
        </p:spPr>
        <p:txBody>
          <a:bodyPr wrap="square">
            <a:spAutoFit/>
          </a:bodyPr>
          <a:lstStyle/>
          <a:p>
            <a:pPr algn="ctr"/>
            <a:r>
              <a:rPr sz="1100" b="0" i="0">
                <a:solidFill>
                  <a:srgbClr val="0F172A"/>
                </a:solidFill>
              </a:rPr>
              <a:t>DocuSign</a:t>
            </a:r>
          </a:p>
        </p:txBody>
      </p:sp>
      <p:sp>
        <p:nvSpPr>
          <p:cNvPr id="20" name="Rectangle 19"/>
          <p:cNvSpPr/>
          <p:nvPr/>
        </p:nvSpPr>
        <p:spPr>
          <a:xfrm>
            <a:off x="260604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6040" y="1874520"/>
            <a:ext cx="1737360" cy="502920"/>
          </a:xfrm>
          <a:prstGeom prst="rect">
            <a:avLst/>
          </a:prstGeom>
          <a:noFill/>
        </p:spPr>
        <p:txBody>
          <a:bodyPr wrap="square">
            <a:spAutoFit/>
          </a:bodyPr>
          <a:lstStyle/>
          <a:p>
            <a:pPr algn="ctr"/>
            <a:r>
              <a:rPr sz="1600" b="1" i="0">
                <a:solidFill>
                  <a:srgbClr val="DC2626"/>
                </a:solidFill>
              </a:rPr>
              <a:t>✗</a:t>
            </a:r>
          </a:p>
        </p:txBody>
      </p:sp>
      <p:sp>
        <p:nvSpPr>
          <p:cNvPr id="22" name="Rectangle 21"/>
          <p:cNvSpPr/>
          <p:nvPr/>
        </p:nvSpPr>
        <p:spPr>
          <a:xfrm>
            <a:off x="434340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1874520"/>
            <a:ext cx="1737360" cy="502920"/>
          </a:xfrm>
          <a:prstGeom prst="rect">
            <a:avLst/>
          </a:prstGeom>
          <a:noFill/>
        </p:spPr>
        <p:txBody>
          <a:bodyPr wrap="square">
            <a:spAutoFit/>
          </a:bodyPr>
          <a:lstStyle/>
          <a:p>
            <a:pPr algn="ctr"/>
            <a:r>
              <a:rPr sz="1600" b="1" i="0">
                <a:solidFill>
                  <a:srgbClr val="DC2626"/>
                </a:solidFill>
              </a:rPr>
              <a:t>✗</a:t>
            </a:r>
          </a:p>
        </p:txBody>
      </p:sp>
      <p:sp>
        <p:nvSpPr>
          <p:cNvPr id="24" name="Rectangle 23"/>
          <p:cNvSpPr/>
          <p:nvPr/>
        </p:nvSpPr>
        <p:spPr>
          <a:xfrm>
            <a:off x="608076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874520"/>
            <a:ext cx="1737360" cy="502920"/>
          </a:xfrm>
          <a:prstGeom prst="rect">
            <a:avLst/>
          </a:prstGeom>
          <a:noFill/>
        </p:spPr>
        <p:txBody>
          <a:bodyPr wrap="square">
            <a:spAutoFit/>
          </a:bodyPr>
          <a:lstStyle/>
          <a:p>
            <a:pPr algn="ctr"/>
            <a:r>
              <a:rPr sz="1600" b="1" i="0">
                <a:solidFill>
                  <a:srgbClr val="DC2626"/>
                </a:solidFill>
              </a:rPr>
              <a:t>✗</a:t>
            </a:r>
          </a:p>
        </p:txBody>
      </p:sp>
      <p:sp>
        <p:nvSpPr>
          <p:cNvPr id="26" name="Rectangle 25"/>
          <p:cNvSpPr/>
          <p:nvPr/>
        </p:nvSpPr>
        <p:spPr>
          <a:xfrm>
            <a:off x="781812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1874520"/>
            <a:ext cx="1737360" cy="502920"/>
          </a:xfrm>
          <a:prstGeom prst="rect">
            <a:avLst/>
          </a:prstGeom>
          <a:noFill/>
        </p:spPr>
        <p:txBody>
          <a:bodyPr wrap="square">
            <a:spAutoFit/>
          </a:bodyPr>
          <a:lstStyle/>
          <a:p>
            <a:pPr algn="ctr"/>
            <a:r>
              <a:rPr sz="1600" b="1" i="0">
                <a:solidFill>
                  <a:srgbClr val="DC2626"/>
                </a:solidFill>
              </a:rPr>
              <a:t>✗</a:t>
            </a:r>
          </a:p>
        </p:txBody>
      </p:sp>
      <p:sp>
        <p:nvSpPr>
          <p:cNvPr id="28" name="Rectangle 27"/>
          <p:cNvSpPr/>
          <p:nvPr/>
        </p:nvSpPr>
        <p:spPr>
          <a:xfrm>
            <a:off x="955548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1874520"/>
            <a:ext cx="1737360" cy="502920"/>
          </a:xfrm>
          <a:prstGeom prst="rect">
            <a:avLst/>
          </a:prstGeom>
          <a:noFill/>
        </p:spPr>
        <p:txBody>
          <a:bodyPr wrap="square">
            <a:spAutoFit/>
          </a:bodyPr>
          <a:lstStyle/>
          <a:p>
            <a:pPr algn="ctr"/>
            <a:r>
              <a:rPr sz="1600" b="1" i="0">
                <a:solidFill>
                  <a:srgbClr val="DC2626"/>
                </a:solidFill>
              </a:rPr>
              <a:t>✗</a:t>
            </a:r>
          </a:p>
        </p:txBody>
      </p:sp>
      <p:sp>
        <p:nvSpPr>
          <p:cNvPr id="30" name="Rectangle 29"/>
          <p:cNvSpPr/>
          <p:nvPr/>
        </p:nvSpPr>
        <p:spPr>
          <a:xfrm>
            <a:off x="320040" y="2377440"/>
            <a:ext cx="228600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2377440"/>
            <a:ext cx="2286000" cy="502920"/>
          </a:xfrm>
          <a:prstGeom prst="rect">
            <a:avLst/>
          </a:prstGeom>
          <a:noFill/>
        </p:spPr>
        <p:txBody>
          <a:bodyPr wrap="square">
            <a:spAutoFit/>
          </a:bodyPr>
          <a:lstStyle/>
          <a:p>
            <a:pPr algn="ctr"/>
            <a:r>
              <a:rPr sz="1100" b="0" i="0">
                <a:solidFill>
                  <a:srgbClr val="0F172A"/>
                </a:solidFill>
              </a:rPr>
              <a:t>ContractSafe</a:t>
            </a:r>
          </a:p>
        </p:txBody>
      </p:sp>
      <p:sp>
        <p:nvSpPr>
          <p:cNvPr id="32" name="Rectangle 31"/>
          <p:cNvSpPr/>
          <p:nvPr/>
        </p:nvSpPr>
        <p:spPr>
          <a:xfrm>
            <a:off x="260604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06040" y="2377440"/>
            <a:ext cx="1737360" cy="502920"/>
          </a:xfrm>
          <a:prstGeom prst="rect">
            <a:avLst/>
          </a:prstGeom>
          <a:noFill/>
        </p:spPr>
        <p:txBody>
          <a:bodyPr wrap="square">
            <a:spAutoFit/>
          </a:bodyPr>
          <a:lstStyle/>
          <a:p>
            <a:pPr algn="ctr"/>
            <a:r>
              <a:rPr sz="1600" b="1" i="0">
                <a:solidFill>
                  <a:srgbClr val="DC2626"/>
                </a:solidFill>
              </a:rPr>
              <a:t>✗</a:t>
            </a:r>
          </a:p>
        </p:txBody>
      </p:sp>
      <p:sp>
        <p:nvSpPr>
          <p:cNvPr id="34" name="Rectangle 33"/>
          <p:cNvSpPr/>
          <p:nvPr/>
        </p:nvSpPr>
        <p:spPr>
          <a:xfrm>
            <a:off x="434340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2377440"/>
            <a:ext cx="1737360" cy="502920"/>
          </a:xfrm>
          <a:prstGeom prst="rect">
            <a:avLst/>
          </a:prstGeom>
          <a:noFill/>
        </p:spPr>
        <p:txBody>
          <a:bodyPr wrap="square">
            <a:spAutoFit/>
          </a:bodyPr>
          <a:lstStyle/>
          <a:p>
            <a:pPr algn="ctr"/>
            <a:r>
              <a:rPr sz="1600" b="1" i="0">
                <a:solidFill>
                  <a:srgbClr val="DC2626"/>
                </a:solidFill>
              </a:rPr>
              <a:t>✗</a:t>
            </a:r>
          </a:p>
        </p:txBody>
      </p:sp>
      <p:sp>
        <p:nvSpPr>
          <p:cNvPr id="36" name="Rectangle 35"/>
          <p:cNvSpPr/>
          <p:nvPr/>
        </p:nvSpPr>
        <p:spPr>
          <a:xfrm>
            <a:off x="608076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2377440"/>
            <a:ext cx="1737360" cy="502920"/>
          </a:xfrm>
          <a:prstGeom prst="rect">
            <a:avLst/>
          </a:prstGeom>
          <a:noFill/>
        </p:spPr>
        <p:txBody>
          <a:bodyPr wrap="square">
            <a:spAutoFit/>
          </a:bodyPr>
          <a:lstStyle/>
          <a:p>
            <a:pPr algn="ctr"/>
            <a:r>
              <a:rPr sz="1600" b="1" i="0">
                <a:solidFill>
                  <a:srgbClr val="DC2626"/>
                </a:solidFill>
              </a:rPr>
              <a:t>✗</a:t>
            </a:r>
          </a:p>
        </p:txBody>
      </p:sp>
      <p:sp>
        <p:nvSpPr>
          <p:cNvPr id="38" name="Rectangle 37"/>
          <p:cNvSpPr/>
          <p:nvPr/>
        </p:nvSpPr>
        <p:spPr>
          <a:xfrm>
            <a:off x="781812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18120" y="2377440"/>
            <a:ext cx="1737360" cy="502920"/>
          </a:xfrm>
          <a:prstGeom prst="rect">
            <a:avLst/>
          </a:prstGeom>
          <a:noFill/>
        </p:spPr>
        <p:txBody>
          <a:bodyPr wrap="square">
            <a:spAutoFit/>
          </a:bodyPr>
          <a:lstStyle/>
          <a:p>
            <a:pPr algn="ctr"/>
            <a:r>
              <a:rPr sz="1600" b="1" i="0">
                <a:solidFill>
                  <a:srgbClr val="DC2626"/>
                </a:solidFill>
              </a:rPr>
              <a:t>✗</a:t>
            </a:r>
          </a:p>
        </p:txBody>
      </p:sp>
      <p:sp>
        <p:nvSpPr>
          <p:cNvPr id="40" name="Rectangle 39"/>
          <p:cNvSpPr/>
          <p:nvPr/>
        </p:nvSpPr>
        <p:spPr>
          <a:xfrm>
            <a:off x="955548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55480" y="2377440"/>
            <a:ext cx="1737360" cy="502920"/>
          </a:xfrm>
          <a:prstGeom prst="rect">
            <a:avLst/>
          </a:prstGeom>
          <a:noFill/>
        </p:spPr>
        <p:txBody>
          <a:bodyPr wrap="square">
            <a:spAutoFit/>
          </a:bodyPr>
          <a:lstStyle/>
          <a:p>
            <a:pPr algn="ctr"/>
            <a:r>
              <a:rPr sz="1600" b="1" i="0">
                <a:solidFill>
                  <a:srgbClr val="16A34A"/>
                </a:solidFill>
              </a:rPr>
              <a:t>✓</a:t>
            </a:r>
          </a:p>
        </p:txBody>
      </p:sp>
      <p:sp>
        <p:nvSpPr>
          <p:cNvPr id="42" name="Rectangle 41"/>
          <p:cNvSpPr/>
          <p:nvPr/>
        </p:nvSpPr>
        <p:spPr>
          <a:xfrm>
            <a:off x="320040" y="288036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2880360"/>
            <a:ext cx="2286000" cy="502920"/>
          </a:xfrm>
          <a:prstGeom prst="rect">
            <a:avLst/>
          </a:prstGeom>
          <a:noFill/>
        </p:spPr>
        <p:txBody>
          <a:bodyPr wrap="square">
            <a:spAutoFit/>
          </a:bodyPr>
          <a:lstStyle/>
          <a:p>
            <a:pPr algn="ctr"/>
            <a:r>
              <a:rPr sz="1100" b="0" i="0">
                <a:solidFill>
                  <a:srgbClr val="0F172A"/>
                </a:solidFill>
              </a:rPr>
              <a:t>goHeather</a:t>
            </a:r>
          </a:p>
        </p:txBody>
      </p:sp>
      <p:sp>
        <p:nvSpPr>
          <p:cNvPr id="44" name="Rectangle 43"/>
          <p:cNvSpPr/>
          <p:nvPr/>
        </p:nvSpPr>
        <p:spPr>
          <a:xfrm>
            <a:off x="260604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06040" y="2880360"/>
            <a:ext cx="1737360" cy="502920"/>
          </a:xfrm>
          <a:prstGeom prst="rect">
            <a:avLst/>
          </a:prstGeom>
          <a:noFill/>
        </p:spPr>
        <p:txBody>
          <a:bodyPr wrap="square">
            <a:spAutoFit/>
          </a:bodyPr>
          <a:lstStyle/>
          <a:p>
            <a:pPr algn="ctr"/>
            <a:r>
              <a:rPr sz="1600" b="1" i="0">
                <a:solidFill>
                  <a:srgbClr val="DC2626"/>
                </a:solidFill>
              </a:rPr>
              <a:t>✗</a:t>
            </a:r>
          </a:p>
        </p:txBody>
      </p:sp>
      <p:sp>
        <p:nvSpPr>
          <p:cNvPr id="46" name="Rectangle 45"/>
          <p:cNvSpPr/>
          <p:nvPr/>
        </p:nvSpPr>
        <p:spPr>
          <a:xfrm>
            <a:off x="434340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43400" y="2880360"/>
            <a:ext cx="1737360" cy="502920"/>
          </a:xfrm>
          <a:prstGeom prst="rect">
            <a:avLst/>
          </a:prstGeom>
          <a:noFill/>
        </p:spPr>
        <p:txBody>
          <a:bodyPr wrap="square">
            <a:spAutoFit/>
          </a:bodyPr>
          <a:lstStyle/>
          <a:p>
            <a:pPr algn="ctr"/>
            <a:r>
              <a:rPr sz="1600" b="1" i="0">
                <a:solidFill>
                  <a:srgbClr val="DC2626"/>
                </a:solidFill>
              </a:rPr>
              <a:t>✗</a:t>
            </a:r>
          </a:p>
        </p:txBody>
      </p:sp>
      <p:sp>
        <p:nvSpPr>
          <p:cNvPr id="48" name="Rectangle 47"/>
          <p:cNvSpPr/>
          <p:nvPr/>
        </p:nvSpPr>
        <p:spPr>
          <a:xfrm>
            <a:off x="608076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80760" y="2880360"/>
            <a:ext cx="1737360" cy="502920"/>
          </a:xfrm>
          <a:prstGeom prst="rect">
            <a:avLst/>
          </a:prstGeom>
          <a:noFill/>
        </p:spPr>
        <p:txBody>
          <a:bodyPr wrap="square">
            <a:spAutoFit/>
          </a:bodyPr>
          <a:lstStyle/>
          <a:p>
            <a:pPr algn="ctr"/>
            <a:r>
              <a:rPr sz="1600" b="1" i="0">
                <a:solidFill>
                  <a:srgbClr val="16A34A"/>
                </a:solidFill>
              </a:rPr>
              <a:t>✓</a:t>
            </a:r>
          </a:p>
        </p:txBody>
      </p:sp>
      <p:sp>
        <p:nvSpPr>
          <p:cNvPr id="50" name="Rectangle 49"/>
          <p:cNvSpPr/>
          <p:nvPr/>
        </p:nvSpPr>
        <p:spPr>
          <a:xfrm>
            <a:off x="781812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8120" y="2880360"/>
            <a:ext cx="1737360" cy="502920"/>
          </a:xfrm>
          <a:prstGeom prst="rect">
            <a:avLst/>
          </a:prstGeom>
          <a:noFill/>
        </p:spPr>
        <p:txBody>
          <a:bodyPr wrap="square">
            <a:spAutoFit/>
          </a:bodyPr>
          <a:lstStyle/>
          <a:p>
            <a:pPr algn="ctr"/>
            <a:r>
              <a:rPr sz="1600" b="1" i="0">
                <a:solidFill>
                  <a:srgbClr val="DC2626"/>
                </a:solidFill>
              </a:rPr>
              <a:t>✗</a:t>
            </a:r>
          </a:p>
        </p:txBody>
      </p:sp>
      <p:sp>
        <p:nvSpPr>
          <p:cNvPr id="52" name="Rectangle 51"/>
          <p:cNvSpPr/>
          <p:nvPr/>
        </p:nvSpPr>
        <p:spPr>
          <a:xfrm>
            <a:off x="955548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55480" y="2880360"/>
            <a:ext cx="1737360" cy="502920"/>
          </a:xfrm>
          <a:prstGeom prst="rect">
            <a:avLst/>
          </a:prstGeom>
          <a:noFill/>
        </p:spPr>
        <p:txBody>
          <a:bodyPr wrap="square">
            <a:spAutoFit/>
          </a:bodyPr>
          <a:lstStyle/>
          <a:p>
            <a:pPr algn="ctr"/>
            <a:r>
              <a:rPr sz="1600" b="1" i="0">
                <a:solidFill>
                  <a:srgbClr val="DC2626"/>
                </a:solidFill>
              </a:rPr>
              <a:t>✗</a:t>
            </a:r>
          </a:p>
        </p:txBody>
      </p:sp>
      <p:sp>
        <p:nvSpPr>
          <p:cNvPr id="54" name="Rectangle 53"/>
          <p:cNvSpPr/>
          <p:nvPr/>
        </p:nvSpPr>
        <p:spPr>
          <a:xfrm>
            <a:off x="320040" y="3383280"/>
            <a:ext cx="228600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3383280"/>
            <a:ext cx="2286000" cy="502920"/>
          </a:xfrm>
          <a:prstGeom prst="rect">
            <a:avLst/>
          </a:prstGeom>
          <a:noFill/>
        </p:spPr>
        <p:txBody>
          <a:bodyPr wrap="square">
            <a:spAutoFit/>
          </a:bodyPr>
          <a:lstStyle/>
          <a:p>
            <a:pPr algn="ctr"/>
            <a:r>
              <a:rPr sz="1100" b="1" i="0">
                <a:solidFill>
                  <a:srgbClr val="FFFFFF"/>
                </a:solidFill>
              </a:rPr>
              <a:t>✦ Us</a:t>
            </a:r>
          </a:p>
        </p:txBody>
      </p:sp>
      <p:sp>
        <p:nvSpPr>
          <p:cNvPr id="56" name="Rectangle 55"/>
          <p:cNvSpPr/>
          <p:nvPr/>
        </p:nvSpPr>
        <p:spPr>
          <a:xfrm>
            <a:off x="260604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06040" y="3383280"/>
            <a:ext cx="1737360" cy="502920"/>
          </a:xfrm>
          <a:prstGeom prst="rect">
            <a:avLst/>
          </a:prstGeom>
          <a:noFill/>
        </p:spPr>
        <p:txBody>
          <a:bodyPr wrap="square">
            <a:spAutoFit/>
          </a:bodyPr>
          <a:lstStyle/>
          <a:p>
            <a:pPr algn="ctr"/>
            <a:r>
              <a:rPr sz="1600" b="1" i="0">
                <a:solidFill>
                  <a:srgbClr val="FFFFFF"/>
                </a:solidFill>
              </a:rPr>
              <a:t>✓</a:t>
            </a:r>
          </a:p>
        </p:txBody>
      </p:sp>
      <p:sp>
        <p:nvSpPr>
          <p:cNvPr id="58" name="Rectangle 57"/>
          <p:cNvSpPr/>
          <p:nvPr/>
        </p:nvSpPr>
        <p:spPr>
          <a:xfrm>
            <a:off x="434340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43400" y="3383280"/>
            <a:ext cx="1737360" cy="502920"/>
          </a:xfrm>
          <a:prstGeom prst="rect">
            <a:avLst/>
          </a:prstGeom>
          <a:noFill/>
        </p:spPr>
        <p:txBody>
          <a:bodyPr wrap="square">
            <a:spAutoFit/>
          </a:bodyPr>
          <a:lstStyle/>
          <a:p>
            <a:pPr algn="ctr"/>
            <a:r>
              <a:rPr sz="1600" b="1" i="0">
                <a:solidFill>
                  <a:srgbClr val="FFFFFF"/>
                </a:solidFill>
              </a:rPr>
              <a:t>✓</a:t>
            </a:r>
          </a:p>
        </p:txBody>
      </p:sp>
      <p:sp>
        <p:nvSpPr>
          <p:cNvPr id="60" name="Rectangle 59"/>
          <p:cNvSpPr/>
          <p:nvPr/>
        </p:nvSpPr>
        <p:spPr>
          <a:xfrm>
            <a:off x="608076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80760" y="3383280"/>
            <a:ext cx="1737360" cy="502920"/>
          </a:xfrm>
          <a:prstGeom prst="rect">
            <a:avLst/>
          </a:prstGeom>
          <a:noFill/>
        </p:spPr>
        <p:txBody>
          <a:bodyPr wrap="square">
            <a:spAutoFit/>
          </a:bodyPr>
          <a:lstStyle/>
          <a:p>
            <a:pPr algn="ctr"/>
            <a:r>
              <a:rPr sz="1600" b="1" i="0">
                <a:solidFill>
                  <a:srgbClr val="FFFFFF"/>
                </a:solidFill>
              </a:rPr>
              <a:t>✓</a:t>
            </a:r>
          </a:p>
        </p:txBody>
      </p:sp>
      <p:sp>
        <p:nvSpPr>
          <p:cNvPr id="62" name="Rectangle 61"/>
          <p:cNvSpPr/>
          <p:nvPr/>
        </p:nvSpPr>
        <p:spPr>
          <a:xfrm>
            <a:off x="781812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18120" y="3383280"/>
            <a:ext cx="1737360" cy="502920"/>
          </a:xfrm>
          <a:prstGeom prst="rect">
            <a:avLst/>
          </a:prstGeom>
          <a:noFill/>
        </p:spPr>
        <p:txBody>
          <a:bodyPr wrap="square">
            <a:spAutoFit/>
          </a:bodyPr>
          <a:lstStyle/>
          <a:p>
            <a:pPr algn="ctr"/>
            <a:r>
              <a:rPr sz="1600" b="1" i="0">
                <a:solidFill>
                  <a:srgbClr val="FFFFFF"/>
                </a:solidFill>
              </a:rPr>
              <a:t>✓</a:t>
            </a:r>
          </a:p>
        </p:txBody>
      </p:sp>
      <p:sp>
        <p:nvSpPr>
          <p:cNvPr id="64" name="Rectangle 63"/>
          <p:cNvSpPr/>
          <p:nvPr/>
        </p:nvSpPr>
        <p:spPr>
          <a:xfrm>
            <a:off x="955548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55480" y="3383280"/>
            <a:ext cx="1737360" cy="502920"/>
          </a:xfrm>
          <a:prstGeom prst="rect">
            <a:avLst/>
          </a:prstGeom>
          <a:noFill/>
        </p:spPr>
        <p:txBody>
          <a:bodyPr wrap="square">
            <a:spAutoFit/>
          </a:bodyPr>
          <a:lstStyle/>
          <a:p>
            <a:pPr algn="ctr"/>
            <a:r>
              <a:rPr sz="1600" b="1" i="0">
                <a:solidFill>
                  <a:srgbClr val="FFFFFF"/>
                </a:solidFill>
              </a:rPr>
              <a:t>✓</a:t>
            </a:r>
          </a:p>
        </p:txBody>
      </p:sp>
      <p:sp>
        <p:nvSpPr>
          <p:cNvPr id="66" name="Rectangle 65"/>
          <p:cNvSpPr/>
          <p:nvPr/>
        </p:nvSpPr>
        <p:spPr>
          <a:xfrm>
            <a:off x="320040" y="4114800"/>
            <a:ext cx="11521440" cy="685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4187952"/>
            <a:ext cx="11247120" cy="548640"/>
          </a:xfrm>
          <a:prstGeom prst="rect">
            <a:avLst/>
          </a:prstGeom>
          <a:noFill/>
        </p:spPr>
        <p:txBody>
          <a:bodyPr wrap="square">
            <a:spAutoFit/>
          </a:bodyPr>
          <a:lstStyle/>
          <a:p>
            <a:pPr algn="l"/>
            <a:r>
              <a:rPr sz="1200" b="1" i="0">
                <a:solidFill>
                  <a:srgbClr val="0F172A"/>
                </a:solidFill>
              </a:rPr>
              <a:t>Our Moat:  Craftegra’s integration of AI with a specific focus on freelancers creates a value proposition unmatched in the market.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GO-TO-MARKET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Community-first approach to growth.</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74903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17320"/>
            <a:ext cx="3749039" cy="365760"/>
          </a:xfrm>
          <a:prstGeom prst="rect">
            <a:avLst/>
          </a:prstGeom>
          <a:noFill/>
        </p:spPr>
        <p:txBody>
          <a:bodyPr wrap="square">
            <a:spAutoFit/>
          </a:bodyPr>
          <a:lstStyle/>
          <a:p>
            <a:pPr algn="ctr"/>
            <a:r>
              <a:rPr sz="1100" b="1" i="0">
                <a:solidFill>
                  <a:srgbClr val="FFFFFF"/>
                </a:solidFill>
              </a:rPr>
              <a:t>Phase 1 · 0→100</a:t>
            </a:r>
          </a:p>
        </p:txBody>
      </p:sp>
      <p:sp>
        <p:nvSpPr>
          <p:cNvPr id="8" name="Rectangle 7"/>
          <p:cNvSpPr/>
          <p:nvPr/>
        </p:nvSpPr>
        <p:spPr>
          <a:xfrm>
            <a:off x="320040"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874520"/>
            <a:ext cx="3566159" cy="2194560"/>
          </a:xfrm>
          <a:prstGeom prst="rect">
            <a:avLst/>
          </a:prstGeom>
          <a:noFill/>
        </p:spPr>
        <p:txBody>
          <a:bodyPr wrap="square">
            <a:spAutoFit/>
          </a:bodyPr>
          <a:lstStyle/>
          <a:p>
            <a:pPr algn="l"/>
            <a:r>
              <a:rPr sz="1100" b="0" i="0">
                <a:solidFill>
                  <a:srgbClr val="0F172A"/>
                </a:solidFill>
              </a:rPr>
              <a:t>Phase 1: Engage 100 users via direct outreach in freelancer groups on LinkedIn and WhatsApp.</a:t>
            </a:r>
          </a:p>
        </p:txBody>
      </p:sp>
      <p:sp>
        <p:nvSpPr>
          <p:cNvPr id="10" name="Rectangle 9"/>
          <p:cNvSpPr/>
          <p:nvPr/>
        </p:nvSpPr>
        <p:spPr>
          <a:xfrm>
            <a:off x="4251959" y="1417320"/>
            <a:ext cx="3749039" cy="365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59" y="1417320"/>
            <a:ext cx="3749039" cy="365760"/>
          </a:xfrm>
          <a:prstGeom prst="rect">
            <a:avLst/>
          </a:prstGeom>
          <a:noFill/>
        </p:spPr>
        <p:txBody>
          <a:bodyPr wrap="square">
            <a:spAutoFit/>
          </a:bodyPr>
          <a:lstStyle/>
          <a:p>
            <a:pPr algn="ctr"/>
            <a:r>
              <a:rPr sz="1100" b="1" i="0">
                <a:solidFill>
                  <a:srgbClr val="FFFFFF"/>
                </a:solidFill>
              </a:rPr>
              <a:t>Phase 2 · 100→1K</a:t>
            </a:r>
          </a:p>
        </p:txBody>
      </p:sp>
      <p:sp>
        <p:nvSpPr>
          <p:cNvPr id="12" name="Rectangle 11"/>
          <p:cNvSpPr/>
          <p:nvPr/>
        </p:nvSpPr>
        <p:spPr>
          <a:xfrm>
            <a:off x="4251959"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399" y="1874520"/>
            <a:ext cx="3566159" cy="2194560"/>
          </a:xfrm>
          <a:prstGeom prst="rect">
            <a:avLst/>
          </a:prstGeom>
          <a:noFill/>
        </p:spPr>
        <p:txBody>
          <a:bodyPr wrap="square">
            <a:spAutoFit/>
          </a:bodyPr>
          <a:lstStyle/>
          <a:p>
            <a:pPr algn="l"/>
            <a:r>
              <a:rPr sz="1100" b="0" i="0">
                <a:solidFill>
                  <a:srgbClr val="0F172A"/>
                </a:solidFill>
              </a:rPr>
              <a:t>Phase 2: Utilize content marketing and referrals to grow to 1,000 users, showcasing success stories and testimonials.</a:t>
            </a:r>
          </a:p>
        </p:txBody>
      </p:sp>
      <p:sp>
        <p:nvSpPr>
          <p:cNvPr id="14" name="Rectangle 13"/>
          <p:cNvSpPr/>
          <p:nvPr/>
        </p:nvSpPr>
        <p:spPr>
          <a:xfrm>
            <a:off x="8183878" y="1417320"/>
            <a:ext cx="3749039"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8" y="1417320"/>
            <a:ext cx="3749039" cy="365760"/>
          </a:xfrm>
          <a:prstGeom prst="rect">
            <a:avLst/>
          </a:prstGeom>
          <a:noFill/>
        </p:spPr>
        <p:txBody>
          <a:bodyPr wrap="square">
            <a:spAutoFit/>
          </a:bodyPr>
          <a:lstStyle/>
          <a:p>
            <a:pPr algn="ctr"/>
            <a:r>
              <a:rPr sz="1100" b="1" i="0">
                <a:solidFill>
                  <a:srgbClr val="FFFFFF"/>
                </a:solidFill>
              </a:rPr>
              <a:t>Phase 3 · 1K→10K</a:t>
            </a:r>
          </a:p>
        </p:txBody>
      </p:sp>
      <p:sp>
        <p:nvSpPr>
          <p:cNvPr id="16" name="Rectangle 15"/>
          <p:cNvSpPr/>
          <p:nvPr/>
        </p:nvSpPr>
        <p:spPr>
          <a:xfrm>
            <a:off x="8183878"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8" y="1874520"/>
            <a:ext cx="3566159" cy="2194560"/>
          </a:xfrm>
          <a:prstGeom prst="rect">
            <a:avLst/>
          </a:prstGeom>
          <a:noFill/>
        </p:spPr>
        <p:txBody>
          <a:bodyPr wrap="square">
            <a:spAutoFit/>
          </a:bodyPr>
          <a:lstStyle/>
          <a:p>
            <a:pPr algn="l"/>
            <a:r>
              <a:rPr sz="1100" b="0" i="0">
                <a:solidFill>
                  <a:srgbClr val="0F172A"/>
                </a:solidFill>
              </a:rPr>
              <a:t>Phase 3: Scale marketing through partnerships and advanced campaigns, targeting 10,000+ freelancers.</a:t>
            </a:r>
          </a:p>
        </p:txBody>
      </p:sp>
      <p:sp>
        <p:nvSpPr>
          <p:cNvPr id="18" name="TextBox 17"/>
          <p:cNvSpPr txBox="1"/>
          <p:nvPr/>
        </p:nvSpPr>
        <p:spPr>
          <a:xfrm>
            <a:off x="320040" y="4572000"/>
            <a:ext cx="2743200" cy="365760"/>
          </a:xfrm>
          <a:prstGeom prst="rect">
            <a:avLst/>
          </a:prstGeom>
          <a:noFill/>
        </p:spPr>
        <p:txBody>
          <a:bodyPr wrap="square">
            <a:spAutoFit/>
          </a:bodyPr>
          <a:lstStyle/>
          <a:p>
            <a:pPr algn="l"/>
            <a:r>
              <a:rPr sz="1200" b="1" i="0">
                <a:solidFill>
                  <a:srgbClr val="0F172A"/>
                </a:solidFill>
              </a:rPr>
              <a:t>Primary Channels:</a:t>
            </a:r>
          </a:p>
        </p:txBody>
      </p:sp>
      <p:sp>
        <p:nvSpPr>
          <p:cNvPr id="19" name="TextBox 18"/>
          <p:cNvSpPr txBox="1"/>
          <p:nvPr/>
        </p:nvSpPr>
        <p:spPr>
          <a:xfrm>
            <a:off x="2560320" y="4572000"/>
            <a:ext cx="9326880" cy="365760"/>
          </a:xfrm>
          <a:prstGeom prst="rect">
            <a:avLst/>
          </a:prstGeom>
          <a:noFill/>
        </p:spPr>
        <p:txBody>
          <a:bodyPr wrap="square">
            <a:spAutoFit/>
          </a:bodyPr>
          <a:lstStyle/>
          <a:p>
            <a:pPr algn="l"/>
            <a:r>
              <a:rPr sz="1200" b="0" i="0">
                <a:solidFill>
                  <a:srgbClr val="64748B"/>
                </a:solidFill>
              </a:rPr>
              <a:t>Community outreach and engagement.  ·  Content marketing tailored to freelancers.  ·  Targeted social media strategies.</a:t>
            </a:r>
          </a:p>
        </p:txBody>
      </p:sp>
      <p:sp>
        <p:nvSpPr>
          <p:cNvPr id="20" name="Rectangle 19"/>
          <p:cNvSpPr/>
          <p:nvPr/>
        </p:nvSpPr>
        <p:spPr>
          <a:xfrm>
            <a:off x="320040" y="5120640"/>
            <a:ext cx="11521440" cy="731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193792"/>
            <a:ext cx="11155680" cy="548640"/>
          </a:xfrm>
          <a:prstGeom prst="rect">
            <a:avLst/>
          </a:prstGeom>
          <a:noFill/>
        </p:spPr>
        <p:txBody>
          <a:bodyPr wrap="square">
            <a:spAutoFit/>
          </a:bodyPr>
          <a:lstStyle/>
          <a:p>
            <a:pPr algn="l"/>
            <a:r>
              <a:rPr sz="1200" b="1" i="0">
                <a:solidFill>
                  <a:srgbClr val="F59E0B"/>
                </a:solidFill>
              </a:rPr>
              <a:t>⭐  North Star: Contracts paid on time — reflecting user trust and satisfaction in using Craftegra.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TEAM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Built by freelancers, for freelancers.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1152144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11155680" cy="1600200"/>
          </a:xfrm>
          <a:prstGeom prst="rect">
            <a:avLst/>
          </a:prstGeom>
          <a:noFill/>
        </p:spPr>
        <p:txBody>
          <a:bodyPr wrap="square">
            <a:spAutoFit/>
          </a:bodyPr>
          <a:lstStyle/>
          <a:p>
            <a:pPr algn="l"/>
            <a:r>
              <a:rPr sz="1400" b="0" i="1">
                <a:solidFill>
                  <a:srgbClr val="FFFFFF"/>
                </a:solidFill>
              </a:rPr>
              <a:t>Our team uniquely understands the freelance space. The founder has personally navigated the pitfalls of contract management, and our developer previously worked at a leading legal firm.</a:t>
            </a:r>
          </a:p>
        </p:txBody>
      </p:sp>
      <p:sp>
        <p:nvSpPr>
          <p:cNvPr id="8" name="TextBox 7"/>
          <p:cNvSpPr txBox="1"/>
          <p:nvPr/>
        </p:nvSpPr>
        <p:spPr>
          <a:xfrm>
            <a:off x="320040" y="3429000"/>
            <a:ext cx="5486400" cy="365760"/>
          </a:xfrm>
          <a:prstGeom prst="rect">
            <a:avLst/>
          </a:prstGeom>
          <a:noFill/>
        </p:spPr>
        <p:txBody>
          <a:bodyPr wrap="square">
            <a:spAutoFit/>
          </a:bodyPr>
          <a:lstStyle/>
          <a:p>
            <a:pPr algn="l"/>
            <a:r>
              <a:rPr sz="1400" b="1" i="0">
                <a:solidFill>
                  <a:srgbClr val="0F172A"/>
                </a:solidFill>
              </a:rPr>
              <a:t>Key Hires Needed</a:t>
            </a:r>
          </a:p>
        </p:txBody>
      </p:sp>
      <p:sp>
        <p:nvSpPr>
          <p:cNvPr id="9" name="Rectangle 8"/>
          <p:cNvSpPr/>
          <p:nvPr/>
        </p:nvSpPr>
        <p:spPr>
          <a:xfrm>
            <a:off x="320040" y="3931920"/>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840480"/>
            <a:ext cx="11064240" cy="411480"/>
          </a:xfrm>
          <a:prstGeom prst="rect">
            <a:avLst/>
          </a:prstGeom>
          <a:noFill/>
        </p:spPr>
        <p:txBody>
          <a:bodyPr wrap="square">
            <a:spAutoFit/>
          </a:bodyPr>
          <a:lstStyle/>
          <a:p>
            <a:pPr algn="l"/>
            <a:r>
              <a:rPr sz="1200" b="0" i="0">
                <a:solidFill>
                  <a:srgbClr val="0F172A"/>
                </a:solidFill>
              </a:rPr>
              <a:t>Content Marketer with freelancer experience</a:t>
            </a:r>
          </a:p>
        </p:txBody>
      </p:sp>
      <p:sp>
        <p:nvSpPr>
          <p:cNvPr id="11" name="Rectangle 10"/>
          <p:cNvSpPr/>
          <p:nvPr/>
        </p:nvSpPr>
        <p:spPr>
          <a:xfrm>
            <a:off x="320040" y="44074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315968"/>
            <a:ext cx="11064240" cy="411480"/>
          </a:xfrm>
          <a:prstGeom prst="rect">
            <a:avLst/>
          </a:prstGeom>
          <a:noFill/>
        </p:spPr>
        <p:txBody>
          <a:bodyPr wrap="square">
            <a:spAutoFit/>
          </a:bodyPr>
          <a:lstStyle/>
          <a:p>
            <a:pPr algn="l"/>
            <a:r>
              <a:rPr sz="1200" b="0" i="0">
                <a:solidFill>
                  <a:srgbClr val="0F172A"/>
                </a:solidFill>
              </a:rPr>
              <a:t>Full-Stack Developer for product enhancements</a:t>
            </a:r>
          </a:p>
        </p:txBody>
      </p:sp>
      <p:sp>
        <p:nvSpPr>
          <p:cNvPr id="13" name="Rectangle 12"/>
          <p:cNvSpPr/>
          <p:nvPr/>
        </p:nvSpPr>
        <p:spPr>
          <a:xfrm>
            <a:off x="320040" y="4882896"/>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791456"/>
            <a:ext cx="11064240" cy="411480"/>
          </a:xfrm>
          <a:prstGeom prst="rect">
            <a:avLst/>
          </a:prstGeom>
          <a:noFill/>
        </p:spPr>
        <p:txBody>
          <a:bodyPr wrap="square">
            <a:spAutoFit/>
          </a:bodyPr>
          <a:lstStyle/>
          <a:p>
            <a:pPr algn="l"/>
            <a:r>
              <a:rPr sz="1200" b="0" i="0">
                <a:solidFill>
                  <a:srgbClr val="0F172A"/>
                </a:solidFill>
              </a:rPr>
              <a:t>Customer Success Expert to improve retention</a:t>
            </a:r>
          </a:p>
        </p:txBody>
      </p:sp>
      <p:sp>
        <p:nvSpPr>
          <p:cNvPr id="15" name="Rectangle 14"/>
          <p:cNvSpPr/>
          <p:nvPr/>
        </p:nvSpPr>
        <p:spPr>
          <a:xfrm>
            <a:off x="320040" y="5577840"/>
            <a:ext cx="11521440" cy="86868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685800"/>
          </a:xfrm>
          <a:prstGeom prst="rect">
            <a:avLst/>
          </a:prstGeom>
          <a:noFill/>
        </p:spPr>
        <p:txBody>
          <a:bodyPr wrap="square">
            <a:spAutoFit/>
          </a:bodyPr>
          <a:lstStyle/>
          <a:p>
            <a:pPr algn="l"/>
            <a:r>
              <a:rPr sz="1100" b="0" i="1">
                <a:solidFill>
                  <a:srgbClr val="64748B"/>
                </a:solidFill>
              </a:rPr>
              <a:t>Advisors / Supporters:  We're looking to connect with advisors who are experienced in LegalTech and customer engagement within freelance communities.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FINANCIALS</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Path to $34.2K ARR in Year 1 — breakeven at Month 9.</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54480"/>
            <a:ext cx="2743200" cy="594360"/>
          </a:xfrm>
          <a:prstGeom prst="rect">
            <a:avLst/>
          </a:prstGeom>
          <a:noFill/>
        </p:spPr>
        <p:txBody>
          <a:bodyPr wrap="square">
            <a:spAutoFit/>
          </a:bodyPr>
          <a:lstStyle/>
          <a:p>
            <a:pPr algn="ctr"/>
            <a:r>
              <a:rPr sz="2800" b="1" i="0">
                <a:solidFill>
                  <a:srgbClr val="FFFFFF"/>
                </a:solidFill>
              </a:rPr>
              <a:t>$34,200</a:t>
            </a:r>
          </a:p>
        </p:txBody>
      </p:sp>
      <p:sp>
        <p:nvSpPr>
          <p:cNvPr id="8" name="TextBox 7"/>
          <p:cNvSpPr txBox="1"/>
          <p:nvPr/>
        </p:nvSpPr>
        <p:spPr>
          <a:xfrm>
            <a:off x="320040" y="2103120"/>
            <a:ext cx="2743200" cy="365760"/>
          </a:xfrm>
          <a:prstGeom prst="rect">
            <a:avLst/>
          </a:prstGeom>
          <a:noFill/>
        </p:spPr>
        <p:txBody>
          <a:bodyPr wrap="square">
            <a:spAutoFit/>
          </a:bodyPr>
          <a:lstStyle/>
          <a:p>
            <a:pPr algn="ctr"/>
            <a:r>
              <a:rPr sz="1000" b="0" i="0">
                <a:solidFill>
                  <a:srgbClr val="FFFFFF"/>
                </a:solidFill>
              </a:rPr>
              <a:t>ARR · Month 12</a:t>
            </a:r>
          </a:p>
        </p:txBody>
      </p:sp>
      <p:sp>
        <p:nvSpPr>
          <p:cNvPr id="9" name="Rectangle 8"/>
          <p:cNvSpPr/>
          <p:nvPr/>
        </p:nvSpPr>
        <p:spPr>
          <a:xfrm>
            <a:off x="3227832"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7832" y="1554480"/>
            <a:ext cx="2743200" cy="594360"/>
          </a:xfrm>
          <a:prstGeom prst="rect">
            <a:avLst/>
          </a:prstGeom>
          <a:noFill/>
        </p:spPr>
        <p:txBody>
          <a:bodyPr wrap="square">
            <a:spAutoFit/>
          </a:bodyPr>
          <a:lstStyle/>
          <a:p>
            <a:pPr algn="ctr"/>
            <a:r>
              <a:rPr sz="2800" b="1" i="0">
                <a:solidFill>
                  <a:srgbClr val="FFFFFF"/>
                </a:solidFill>
              </a:rPr>
              <a:t>150</a:t>
            </a:r>
          </a:p>
        </p:txBody>
      </p:sp>
      <p:sp>
        <p:nvSpPr>
          <p:cNvPr id="11" name="TextBox 10"/>
          <p:cNvSpPr txBox="1"/>
          <p:nvPr/>
        </p:nvSpPr>
        <p:spPr>
          <a:xfrm>
            <a:off x="3227832" y="2103120"/>
            <a:ext cx="2743200" cy="365760"/>
          </a:xfrm>
          <a:prstGeom prst="rect">
            <a:avLst/>
          </a:prstGeom>
          <a:noFill/>
        </p:spPr>
        <p:txBody>
          <a:bodyPr wrap="square">
            <a:spAutoFit/>
          </a:bodyPr>
          <a:lstStyle/>
          <a:p>
            <a:pPr algn="ctr"/>
            <a:r>
              <a:rPr sz="1000" b="0" i="0">
                <a:solidFill>
                  <a:srgbClr val="FFFFFF"/>
                </a:solidFill>
              </a:rPr>
              <a:t>Paying Users · M12</a:t>
            </a:r>
          </a:p>
        </p:txBody>
      </p:sp>
      <p:sp>
        <p:nvSpPr>
          <p:cNvPr id="12" name="Rectangle 11"/>
          <p:cNvSpPr/>
          <p:nvPr/>
        </p:nvSpPr>
        <p:spPr>
          <a:xfrm>
            <a:off x="6135624"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5624" y="1554480"/>
            <a:ext cx="2743200" cy="594360"/>
          </a:xfrm>
          <a:prstGeom prst="rect">
            <a:avLst/>
          </a:prstGeom>
          <a:noFill/>
        </p:spPr>
        <p:txBody>
          <a:bodyPr wrap="square">
            <a:spAutoFit/>
          </a:bodyPr>
          <a:lstStyle/>
          <a:p>
            <a:pPr algn="ctr"/>
            <a:r>
              <a:rPr sz="2800" b="1" i="0">
                <a:solidFill>
                  <a:srgbClr val="FFFFFF"/>
                </a:solidFill>
              </a:rPr>
              <a:t>19:1</a:t>
            </a:r>
          </a:p>
        </p:txBody>
      </p:sp>
      <p:sp>
        <p:nvSpPr>
          <p:cNvPr id="14" name="TextBox 13"/>
          <p:cNvSpPr txBox="1"/>
          <p:nvPr/>
        </p:nvSpPr>
        <p:spPr>
          <a:xfrm>
            <a:off x="6135624" y="2103120"/>
            <a:ext cx="2743200" cy="365760"/>
          </a:xfrm>
          <a:prstGeom prst="rect">
            <a:avLst/>
          </a:prstGeom>
          <a:noFill/>
        </p:spPr>
        <p:txBody>
          <a:bodyPr wrap="square">
            <a:spAutoFit/>
          </a:bodyPr>
          <a:lstStyle/>
          <a:p>
            <a:pPr algn="ctr"/>
            <a:r>
              <a:rPr sz="1000" b="0" i="0">
                <a:solidFill>
                  <a:srgbClr val="FFFFFF"/>
                </a:solidFill>
              </a:rPr>
              <a:t>LTV : CAC</a:t>
            </a:r>
          </a:p>
        </p:txBody>
      </p:sp>
      <p:sp>
        <p:nvSpPr>
          <p:cNvPr id="15" name="Rectangle 14"/>
          <p:cNvSpPr/>
          <p:nvPr/>
        </p:nvSpPr>
        <p:spPr>
          <a:xfrm>
            <a:off x="9043416"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6" y="1554480"/>
            <a:ext cx="2743200" cy="594360"/>
          </a:xfrm>
          <a:prstGeom prst="rect">
            <a:avLst/>
          </a:prstGeom>
          <a:noFill/>
        </p:spPr>
        <p:txBody>
          <a:bodyPr wrap="square">
            <a:spAutoFit/>
          </a:bodyPr>
          <a:lstStyle/>
          <a:p>
            <a:pPr algn="ctr"/>
            <a:r>
              <a:rPr sz="2800" b="1" i="0">
                <a:solidFill>
                  <a:srgbClr val="FFFFFF"/>
                </a:solidFill>
              </a:rPr>
              <a:t>Month 9</a:t>
            </a:r>
          </a:p>
        </p:txBody>
      </p:sp>
      <p:sp>
        <p:nvSpPr>
          <p:cNvPr id="17" name="TextBox 16"/>
          <p:cNvSpPr txBox="1"/>
          <p:nvPr/>
        </p:nvSpPr>
        <p:spPr>
          <a:xfrm>
            <a:off x="9043416" y="2103120"/>
            <a:ext cx="2743200" cy="365760"/>
          </a:xfrm>
          <a:prstGeom prst="rect">
            <a:avLst/>
          </a:prstGeom>
          <a:noFill/>
        </p:spPr>
        <p:txBody>
          <a:bodyPr wrap="square">
            <a:spAutoFit/>
          </a:bodyPr>
          <a:lstStyle/>
          <a:p>
            <a:pPr algn="ctr"/>
            <a:r>
              <a:rPr sz="1000" b="0" i="0">
                <a:solidFill>
                  <a:srgbClr val="FFFFFF"/>
                </a:solidFill>
              </a:rPr>
              <a:t>Break-Even</a:t>
            </a:r>
          </a:p>
        </p:txBody>
      </p:sp>
      <p:sp>
        <p:nvSpPr>
          <p:cNvPr id="18" name="Rectangle 17"/>
          <p:cNvSpPr/>
          <p:nvPr/>
        </p:nvSpPr>
        <p:spPr>
          <a:xfrm>
            <a:off x="320040"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3090672"/>
            <a:ext cx="2743200" cy="594360"/>
          </a:xfrm>
          <a:prstGeom prst="rect">
            <a:avLst/>
          </a:prstGeom>
          <a:noFill/>
        </p:spPr>
        <p:txBody>
          <a:bodyPr wrap="square">
            <a:spAutoFit/>
          </a:bodyPr>
          <a:lstStyle/>
          <a:p>
            <a:pPr algn="ctr"/>
            <a:r>
              <a:rPr sz="2800" b="1" i="0">
                <a:solidFill>
                  <a:srgbClr val="FFFFFF"/>
                </a:solidFill>
              </a:rPr>
              <a:t>$2,850</a:t>
            </a:r>
          </a:p>
        </p:txBody>
      </p:sp>
      <p:sp>
        <p:nvSpPr>
          <p:cNvPr id="20" name="TextBox 19"/>
          <p:cNvSpPr txBox="1"/>
          <p:nvPr/>
        </p:nvSpPr>
        <p:spPr>
          <a:xfrm>
            <a:off x="320040" y="3639312"/>
            <a:ext cx="2743200" cy="365760"/>
          </a:xfrm>
          <a:prstGeom prst="rect">
            <a:avLst/>
          </a:prstGeom>
          <a:noFill/>
        </p:spPr>
        <p:txBody>
          <a:bodyPr wrap="square">
            <a:spAutoFit/>
          </a:bodyPr>
          <a:lstStyle/>
          <a:p>
            <a:pPr algn="ctr"/>
            <a:r>
              <a:rPr sz="1000" b="0" i="0">
                <a:solidFill>
                  <a:srgbClr val="FFFFFF"/>
                </a:solidFill>
              </a:rPr>
              <a:t>MRR · Month 12</a:t>
            </a:r>
          </a:p>
        </p:txBody>
      </p:sp>
      <p:sp>
        <p:nvSpPr>
          <p:cNvPr id="21" name="Rectangle 20"/>
          <p:cNvSpPr/>
          <p:nvPr/>
        </p:nvSpPr>
        <p:spPr>
          <a:xfrm>
            <a:off x="3227832"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832" y="3090672"/>
            <a:ext cx="2743200" cy="594360"/>
          </a:xfrm>
          <a:prstGeom prst="rect">
            <a:avLst/>
          </a:prstGeom>
          <a:noFill/>
        </p:spPr>
        <p:txBody>
          <a:bodyPr wrap="square">
            <a:spAutoFit/>
          </a:bodyPr>
          <a:lstStyle/>
          <a:p>
            <a:pPr algn="ctr"/>
            <a:r>
              <a:rPr sz="2800" b="1" i="0">
                <a:solidFill>
                  <a:srgbClr val="FFFFFF"/>
                </a:solidFill>
              </a:rPr>
              <a:t>75%</a:t>
            </a:r>
          </a:p>
        </p:txBody>
      </p:sp>
      <p:sp>
        <p:nvSpPr>
          <p:cNvPr id="23" name="TextBox 22"/>
          <p:cNvSpPr txBox="1"/>
          <p:nvPr/>
        </p:nvSpPr>
        <p:spPr>
          <a:xfrm>
            <a:off x="3227832" y="3639312"/>
            <a:ext cx="2743200" cy="365760"/>
          </a:xfrm>
          <a:prstGeom prst="rect">
            <a:avLst/>
          </a:prstGeom>
          <a:noFill/>
        </p:spPr>
        <p:txBody>
          <a:bodyPr wrap="square">
            <a:spAutoFit/>
          </a:bodyPr>
          <a:lstStyle/>
          <a:p>
            <a:pPr algn="ctr"/>
            <a:r>
              <a:rPr sz="1000" b="0" i="0">
                <a:solidFill>
                  <a:srgbClr val="FFFFFF"/>
                </a:solidFill>
              </a:rPr>
              <a:t>Gross Margin</a:t>
            </a:r>
          </a:p>
        </p:txBody>
      </p:sp>
      <p:sp>
        <p:nvSpPr>
          <p:cNvPr id="24" name="Rectangle 23"/>
          <p:cNvSpPr/>
          <p:nvPr/>
        </p:nvSpPr>
        <p:spPr>
          <a:xfrm>
            <a:off x="6135624"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5624" y="3090672"/>
            <a:ext cx="2743200" cy="594360"/>
          </a:xfrm>
          <a:prstGeom prst="rect">
            <a:avLst/>
          </a:prstGeom>
          <a:noFill/>
        </p:spPr>
        <p:txBody>
          <a:bodyPr wrap="square">
            <a:spAutoFit/>
          </a:bodyPr>
          <a:lstStyle/>
          <a:p>
            <a:pPr algn="ctr"/>
            <a:r>
              <a:rPr sz="2800" b="1" i="0">
                <a:solidFill>
                  <a:srgbClr val="FFFFFF"/>
                </a:solidFill>
              </a:rPr>
              <a:t>4 months,</a:t>
            </a:r>
          </a:p>
        </p:txBody>
      </p:sp>
      <p:sp>
        <p:nvSpPr>
          <p:cNvPr id="26" name="TextBox 25"/>
          <p:cNvSpPr txBox="1"/>
          <p:nvPr/>
        </p:nvSpPr>
        <p:spPr>
          <a:xfrm>
            <a:off x="6135624" y="3639312"/>
            <a:ext cx="2743200" cy="365760"/>
          </a:xfrm>
          <a:prstGeom prst="rect">
            <a:avLst/>
          </a:prstGeom>
          <a:noFill/>
        </p:spPr>
        <p:txBody>
          <a:bodyPr wrap="square">
            <a:spAutoFit/>
          </a:bodyPr>
          <a:lstStyle/>
          <a:p>
            <a:pPr algn="ctr"/>
            <a:r>
              <a:rPr sz="1000" b="0" i="0">
                <a:solidFill>
                  <a:srgbClr val="FFFFFF"/>
                </a:solidFill>
              </a:rPr>
              <a:t>Runway</a:t>
            </a:r>
          </a:p>
        </p:txBody>
      </p:sp>
      <p:sp>
        <p:nvSpPr>
          <p:cNvPr id="27" name="Rectangle 26"/>
          <p:cNvSpPr/>
          <p:nvPr/>
        </p:nvSpPr>
        <p:spPr>
          <a:xfrm>
            <a:off x="9043416"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43416" y="3090672"/>
            <a:ext cx="2743200" cy="594360"/>
          </a:xfrm>
          <a:prstGeom prst="rect">
            <a:avLst/>
          </a:prstGeom>
          <a:noFill/>
        </p:spPr>
        <p:txBody>
          <a:bodyPr wrap="square">
            <a:spAutoFit/>
          </a:bodyPr>
          <a:lstStyle/>
          <a:p>
            <a:pPr algn="ctr"/>
            <a:r>
              <a:rPr sz="2800" b="1" i="0">
                <a:solidFill>
                  <a:srgbClr val="FFFFFF"/>
                </a:solidFill>
              </a:rPr>
              <a:t>Fundraising NOT required</a:t>
            </a:r>
          </a:p>
        </p:txBody>
      </p:sp>
      <p:sp>
        <p:nvSpPr>
          <p:cNvPr id="29" name="TextBox 28"/>
          <p:cNvSpPr txBox="1"/>
          <p:nvPr/>
        </p:nvSpPr>
        <p:spPr>
          <a:xfrm>
            <a:off x="9043416" y="3639312"/>
            <a:ext cx="2743200" cy="365760"/>
          </a:xfrm>
          <a:prstGeom prst="rect">
            <a:avLst/>
          </a:prstGeom>
          <a:noFill/>
        </p:spPr>
        <p:txBody>
          <a:bodyPr wrap="square">
            <a:spAutoFit/>
          </a:bodyPr>
          <a:lstStyle/>
          <a:p>
            <a:pPr algn="ctr"/>
            <a:r>
              <a:rPr sz="1000" b="0" i="0">
                <a:solidFill>
                  <a:srgbClr val="FFFFFF"/>
                </a:solidFill>
              </a:rPr>
              <a:t>Raising</a:t>
            </a:r>
          </a:p>
        </p:txBody>
      </p:sp>
      <p:sp>
        <p:nvSpPr>
          <p:cNvPr id="30" name="TextBox 29"/>
          <p:cNvSpPr txBox="1"/>
          <p:nvPr/>
        </p:nvSpPr>
        <p:spPr>
          <a:xfrm>
            <a:off x="320040" y="4389120"/>
            <a:ext cx="11521440" cy="685800"/>
          </a:xfrm>
          <a:prstGeom prst="rect">
            <a:avLst/>
          </a:prstGeom>
          <a:noFill/>
        </p:spPr>
        <p:txBody>
          <a:bodyPr wrap="square">
            <a:spAutoFit/>
          </a:bodyPr>
          <a:lstStyle/>
          <a:p>
            <a:pPr algn="l"/>
            <a:r>
              <a:rPr sz="1200" b="0" i="1">
                <a:solidFill>
                  <a:srgbClr val="64748B"/>
                </a:solidFill>
              </a:rPr>
              <a:t>We are on a strategic path with a clear focus on sustainable growth. By harnessing organic acquisition and carefully monitoring our cash flows, we expect to break even by Month 9, with $34,200 ARR projected by Year 1's end.</a:t>
            </a:r>
          </a:p>
        </p:txBody>
      </p:sp>
      <p:sp>
        <p:nvSpPr>
          <p:cNvPr id="31" name="Rectangle 30"/>
          <p:cNvSpPr/>
          <p:nvPr/>
        </p:nvSpPr>
        <p:spPr>
          <a:xfrm>
            <a:off x="320040" y="5212080"/>
            <a:ext cx="11521440"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285232"/>
            <a:ext cx="11155680" cy="411480"/>
          </a:xfrm>
          <a:prstGeom prst="rect">
            <a:avLst/>
          </a:prstGeom>
          <a:noFill/>
        </p:spPr>
        <p:txBody>
          <a:bodyPr wrap="square">
            <a:spAutoFit/>
          </a:bodyPr>
          <a:lstStyle/>
          <a:p>
            <a:pPr algn="l"/>
            <a:r>
              <a:rPr sz="1000" b="0" i="0">
                <a:solidFill>
                  <a:srgbClr val="64748B"/>
                </a:solidFill>
              </a:rPr>
              <a:t>Assumptions:  8% free-to-paid conversion  ·  3% monthly churn  ·  $500 CAC through social media marketing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ASK</a:t>
            </a:r>
          </a:p>
        </p:txBody>
      </p:sp>
      <p:sp>
        <p:nvSpPr>
          <p:cNvPr id="5" name="TextBox 4"/>
          <p:cNvSpPr txBox="1"/>
          <p:nvPr/>
        </p:nvSpPr>
        <p:spPr>
          <a:xfrm>
            <a:off x="502920" y="274320"/>
            <a:ext cx="11430000" cy="731520"/>
          </a:xfrm>
          <a:prstGeom prst="rect">
            <a:avLst/>
          </a:prstGeom>
          <a:noFill/>
        </p:spPr>
        <p:txBody>
          <a:bodyPr wrap="square">
            <a:spAutoFit/>
          </a:bodyPr>
          <a:lstStyle/>
          <a:p>
            <a:pPr algn="l"/>
            <a:r>
              <a:rPr sz="2400" b="1" i="0">
                <a:solidFill>
                  <a:srgbClr val="FFFFFF"/>
                </a:solidFill>
              </a:rPr>
              <a:t>Join us in reshaping the freelance contract landscape.</a:t>
            </a:r>
          </a:p>
        </p:txBody>
      </p:sp>
      <p:sp>
        <p:nvSpPr>
          <p:cNvPr id="6" name="TextBox 5"/>
          <p:cNvSpPr txBox="1"/>
          <p:nvPr/>
        </p:nvSpPr>
        <p:spPr>
          <a:xfrm>
            <a:off x="502920" y="1005840"/>
            <a:ext cx="11430000" cy="685800"/>
          </a:xfrm>
          <a:prstGeom prst="rect">
            <a:avLst/>
          </a:prstGeom>
          <a:noFill/>
        </p:spPr>
        <p:txBody>
          <a:bodyPr wrap="square">
            <a:spAutoFit/>
          </a:bodyPr>
          <a:lstStyle/>
          <a:p>
            <a:pPr algn="l"/>
            <a:r>
              <a:rPr sz="3600" b="1" i="0">
                <a:solidFill>
                  <a:srgbClr val="F59E0B"/>
                </a:solidFill>
              </a:rPr>
              <a:t/>
            </a:r>
          </a:p>
        </p:txBody>
      </p:sp>
      <p:sp>
        <p:nvSpPr>
          <p:cNvPr id="7" name="Rectangle 6"/>
          <p:cNvSpPr/>
          <p:nvPr/>
        </p:nvSpPr>
        <p:spPr>
          <a:xfrm>
            <a:off x="502920"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20240"/>
            <a:ext cx="2560320" cy="1188720"/>
          </a:xfrm>
          <a:prstGeom prst="rect">
            <a:avLst/>
          </a:prstGeom>
          <a:noFill/>
        </p:spPr>
        <p:txBody>
          <a:bodyPr wrap="square">
            <a:spAutoFit/>
          </a:bodyPr>
          <a:lstStyle/>
          <a:p>
            <a:pPr algn="l"/>
            <a:r>
              <a:rPr sz="1100" b="0" i="0">
                <a:solidFill>
                  <a:srgbClr val="FFFFFF"/>
                </a:solidFill>
              </a:rPr>
              <a:t>Product development (60%): $60,000</a:t>
            </a:r>
          </a:p>
        </p:txBody>
      </p:sp>
      <p:sp>
        <p:nvSpPr>
          <p:cNvPr id="9" name="Rectangle 8"/>
          <p:cNvSpPr/>
          <p:nvPr/>
        </p:nvSpPr>
        <p:spPr>
          <a:xfrm>
            <a:off x="3447288"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920240"/>
            <a:ext cx="2560320" cy="1188720"/>
          </a:xfrm>
          <a:prstGeom prst="rect">
            <a:avLst/>
          </a:prstGeom>
          <a:noFill/>
        </p:spPr>
        <p:txBody>
          <a:bodyPr wrap="square">
            <a:spAutoFit/>
          </a:bodyPr>
          <a:lstStyle/>
          <a:p>
            <a:pPr algn="l"/>
            <a:r>
              <a:rPr sz="1100" b="0" i="0">
                <a:solidFill>
                  <a:srgbClr val="FFFFFF"/>
                </a:solidFill>
              </a:rPr>
              <a:t>Marketing &amp; user acquisition (30%): $30,000</a:t>
            </a:r>
          </a:p>
        </p:txBody>
      </p:sp>
      <p:sp>
        <p:nvSpPr>
          <p:cNvPr id="11" name="Rectangle 10"/>
          <p:cNvSpPr/>
          <p:nvPr/>
        </p:nvSpPr>
        <p:spPr>
          <a:xfrm>
            <a:off x="6391656"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920240"/>
            <a:ext cx="2560320" cy="1188720"/>
          </a:xfrm>
          <a:prstGeom prst="rect">
            <a:avLst/>
          </a:prstGeom>
          <a:noFill/>
        </p:spPr>
        <p:txBody>
          <a:bodyPr wrap="square">
            <a:spAutoFit/>
          </a:bodyPr>
          <a:lstStyle/>
          <a:p>
            <a:pPr algn="l"/>
            <a:r>
              <a:rPr sz="1100" b="0" i="0">
                <a:solidFill>
                  <a:srgbClr val="FFFFFF"/>
                </a:solidFill>
              </a:rPr>
              <a:t>Operational costs (10%): $10,000</a:t>
            </a:r>
          </a:p>
        </p:txBody>
      </p:sp>
      <p:sp>
        <p:nvSpPr>
          <p:cNvPr id="13" name="Rectangle 12"/>
          <p:cNvSpPr/>
          <p:nvPr/>
        </p:nvSpPr>
        <p:spPr>
          <a:xfrm>
            <a:off x="9336024"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27464" y="1920240"/>
            <a:ext cx="2560320" cy="1188720"/>
          </a:xfrm>
          <a:prstGeom prst="rect">
            <a:avLst/>
          </a:prstGeom>
          <a:noFill/>
        </p:spPr>
        <p:txBody>
          <a:bodyPr wrap="square">
            <a:spAutoFit/>
          </a:bodyPr>
          <a:lstStyle/>
          <a:p>
            <a:pPr algn="l"/>
            <a:r>
              <a:rPr sz="1100" b="0" i="0">
                <a:solidFill>
                  <a:srgbClr val="FFFFFF"/>
                </a:solidFill>
              </a:rPr>
              <a:t>Legal &amp; compliance: internal resources</a:t>
            </a:r>
          </a:p>
        </p:txBody>
      </p:sp>
      <p:sp>
        <p:nvSpPr>
          <p:cNvPr id="15" name="TextBox 14"/>
          <p:cNvSpPr txBox="1"/>
          <p:nvPr/>
        </p:nvSpPr>
        <p:spPr>
          <a:xfrm>
            <a:off x="502920" y="3383280"/>
            <a:ext cx="5486400" cy="365760"/>
          </a:xfrm>
          <a:prstGeom prst="rect">
            <a:avLst/>
          </a:prstGeom>
          <a:noFill/>
        </p:spPr>
        <p:txBody>
          <a:bodyPr wrap="square">
            <a:spAutoFit/>
          </a:bodyPr>
          <a:lstStyle/>
          <a:p>
            <a:pPr algn="l"/>
            <a:r>
              <a:rPr sz="1300" b="1" i="0">
                <a:solidFill>
                  <a:srgbClr val="E2E8F0"/>
                </a:solidFill>
              </a:rPr>
              <a:t>Milestones This Unlocks</a:t>
            </a:r>
          </a:p>
        </p:txBody>
      </p:sp>
      <p:sp>
        <p:nvSpPr>
          <p:cNvPr id="16" name="Rectangle 15"/>
          <p:cNvSpPr/>
          <p:nvPr/>
        </p:nvSpPr>
        <p:spPr>
          <a:xfrm>
            <a:off x="502920" y="38862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94760"/>
            <a:ext cx="11064240" cy="411480"/>
          </a:xfrm>
          <a:prstGeom prst="rect">
            <a:avLst/>
          </a:prstGeom>
          <a:noFill/>
        </p:spPr>
        <p:txBody>
          <a:bodyPr wrap="square">
            <a:spAutoFit/>
          </a:bodyPr>
          <a:lstStyle/>
          <a:p>
            <a:pPr algn="l"/>
            <a:r>
              <a:rPr sz="1200" b="0" i="0">
                <a:solidFill>
                  <a:srgbClr val="E2E8F0"/>
                </a:solidFill>
              </a:rPr>
              <a:t>MVP refinement based on user feedback</a:t>
            </a:r>
          </a:p>
        </p:txBody>
      </p:sp>
      <p:sp>
        <p:nvSpPr>
          <p:cNvPr id="18" name="Rectangle 17"/>
          <p:cNvSpPr/>
          <p:nvPr/>
        </p:nvSpPr>
        <p:spPr>
          <a:xfrm>
            <a:off x="502920" y="43434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51960"/>
            <a:ext cx="11064240" cy="411480"/>
          </a:xfrm>
          <a:prstGeom prst="rect">
            <a:avLst/>
          </a:prstGeom>
          <a:noFill/>
        </p:spPr>
        <p:txBody>
          <a:bodyPr wrap="square">
            <a:spAutoFit/>
          </a:bodyPr>
          <a:lstStyle/>
          <a:p>
            <a:pPr algn="l"/>
            <a:r>
              <a:rPr sz="1200" b="0" i="0">
                <a:solidFill>
                  <a:srgbClr val="E2E8F0"/>
                </a:solidFill>
              </a:rPr>
              <a:t>Increase user acquisition efforts</a:t>
            </a:r>
          </a:p>
        </p:txBody>
      </p:sp>
      <p:sp>
        <p:nvSpPr>
          <p:cNvPr id="20" name="Rectangle 19"/>
          <p:cNvSpPr/>
          <p:nvPr/>
        </p:nvSpPr>
        <p:spPr>
          <a:xfrm>
            <a:off x="502920" y="48006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09160"/>
            <a:ext cx="11064240" cy="411480"/>
          </a:xfrm>
          <a:prstGeom prst="rect">
            <a:avLst/>
          </a:prstGeom>
          <a:noFill/>
        </p:spPr>
        <p:txBody>
          <a:bodyPr wrap="square">
            <a:spAutoFit/>
          </a:bodyPr>
          <a:lstStyle/>
          <a:p>
            <a:pPr algn="l"/>
            <a:r>
              <a:rPr sz="1200" b="0" i="0">
                <a:solidFill>
                  <a:srgbClr val="E2E8F0"/>
                </a:solidFill>
              </a:rPr>
              <a:t>Expand marketing initiatives</a:t>
            </a:r>
          </a:p>
        </p:txBody>
      </p:sp>
      <p:sp>
        <p:nvSpPr>
          <p:cNvPr id="22" name="Rectangle 21"/>
          <p:cNvSpPr/>
          <p:nvPr/>
        </p:nvSpPr>
        <p:spPr>
          <a:xfrm>
            <a:off x="320040" y="5303520"/>
            <a:ext cx="1152144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94960"/>
            <a:ext cx="11155680" cy="1097280"/>
          </a:xfrm>
          <a:prstGeom prst="rect">
            <a:avLst/>
          </a:prstGeom>
          <a:noFill/>
        </p:spPr>
        <p:txBody>
          <a:bodyPr wrap="square">
            <a:spAutoFit/>
          </a:bodyPr>
          <a:lstStyle/>
          <a:p>
            <a:pPr algn="ctr"/>
            <a:r>
              <a:rPr sz="1600" b="1" i="1">
                <a:solidFill>
                  <a:srgbClr val="FFFFFF"/>
                </a:solidFill>
              </a:rPr>
              <a:t>The freelance economy represents a multi-billion dollar market, and with Craftegra, we are here to empower every freelancer to secure their contracts confidently. Let's craft this future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