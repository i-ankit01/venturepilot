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6152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Today, I’m excited to introduce you to CertaFolio, our AI-driven platform specifically built for freelancers navigating the complex world of contracts.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problems resonate deeply within the freelance community. It’s time to simplify their experience, and that’s precisely what CertaFolio aims to do.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our solutions, we empower freelancers to take charge of their contracts without the confusion and delays. Let’s dive deeper into how this works.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product is set to revolutionize how freelancers manage contracts, enabling clarity and efficiency like never before.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landscape is ripe for disruption, and our focused market strategy positions us to capitalize on these trends effectively.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believe our pricing tiers ensure accessibility while sustaining our growth with robust unit economics.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Seeing traction this early is essential, and we are on the right path with real user insights driving our next steps.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While competitors provide valuable services, CertaFolio is uniquely positioned to meet freelancers' specific needs and preferences.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structured approach to user acquisition will maintain our momentum as we gain traction in the market.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team’s lived experience with these challenges drives our commitment to creating the perfect solution for freelancers.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strength in our financials highlights not only our operational efficiency but also our potential for scalable growth.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build this future together. Thank you for your time and consideration!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93B"/>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93408"/>
            <a:ext cx="12161520" cy="16459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63040"/>
            <a:ext cx="10972800" cy="1280160"/>
          </a:xfrm>
          <a:prstGeom prst="rect">
            <a:avLst/>
          </a:prstGeom>
          <a:noFill/>
        </p:spPr>
        <p:txBody>
          <a:bodyPr wrap="square">
            <a:spAutoFit/>
          </a:bodyPr>
          <a:lstStyle/>
          <a:p>
            <a:pPr algn="l"/>
            <a:r>
              <a:rPr sz="6400" b="1" i="0">
                <a:solidFill>
                  <a:srgbClr val="FFFFFF"/>
                </a:solidFill>
              </a:rPr>
              <a:t>CertaFolio</a:t>
            </a:r>
          </a:p>
        </p:txBody>
      </p:sp>
      <p:sp>
        <p:nvSpPr>
          <p:cNvPr id="5" name="TextBox 4"/>
          <p:cNvSpPr txBox="1"/>
          <p:nvPr/>
        </p:nvSpPr>
        <p:spPr>
          <a:xfrm>
            <a:off x="548640" y="2743200"/>
            <a:ext cx="9144000" cy="548640"/>
          </a:xfrm>
          <a:prstGeom prst="rect">
            <a:avLst/>
          </a:prstGeom>
          <a:noFill/>
        </p:spPr>
        <p:txBody>
          <a:bodyPr wrap="square">
            <a:spAutoFit/>
          </a:bodyPr>
          <a:lstStyle/>
          <a:p>
            <a:pPr algn="l"/>
            <a:r>
              <a:rPr sz="2200" b="0" i="0">
                <a:solidFill>
                  <a:srgbClr val="F59E0B"/>
                </a:solidFill>
              </a:rPr>
              <a:t>Contracts, Done Right</a:t>
            </a:r>
          </a:p>
        </p:txBody>
      </p:sp>
      <p:sp>
        <p:nvSpPr>
          <p:cNvPr id="6" name="TextBox 5"/>
          <p:cNvSpPr txBox="1"/>
          <p:nvPr/>
        </p:nvSpPr>
        <p:spPr>
          <a:xfrm>
            <a:off x="548640" y="3383280"/>
            <a:ext cx="10058400" cy="640080"/>
          </a:xfrm>
          <a:prstGeom prst="rect">
            <a:avLst/>
          </a:prstGeom>
          <a:noFill/>
        </p:spPr>
        <p:txBody>
          <a:bodyPr wrap="square">
            <a:spAutoFit/>
          </a:bodyPr>
          <a:lstStyle/>
          <a:p>
            <a:pPr algn="l"/>
            <a:r>
              <a:rPr sz="1400" b="0" i="1">
                <a:solidFill>
                  <a:srgbClr val="E2E8F0"/>
                </a:solidFill>
              </a:rPr>
              <a:t>CertaFolio is the AI-driven tool designed specifically for freelancers to draft and review contracts with ease. Say goodbye to legal jargon and complex processes, and hello to straightforward contracts that fit your freelance life.</a:t>
            </a:r>
          </a:p>
        </p:txBody>
      </p:sp>
      <p:sp>
        <p:nvSpPr>
          <p:cNvPr id="7" name="TextBox 6"/>
          <p:cNvSpPr txBox="1"/>
          <p:nvPr/>
        </p:nvSpPr>
        <p:spPr>
          <a:xfrm>
            <a:off x="10515600" y="6309360"/>
            <a:ext cx="1463040" cy="365760"/>
          </a:xfrm>
          <a:prstGeom prst="rect">
            <a:avLst/>
          </a:prstGeom>
          <a:noFill/>
        </p:spPr>
        <p:txBody>
          <a:bodyPr wrap="square">
            <a:spAutoFit/>
          </a:bodyPr>
          <a:lstStyle/>
          <a:p>
            <a:pPr algn="r"/>
            <a:r>
              <a:rPr sz="1100" b="0" i="0">
                <a:solidFill>
                  <a:srgbClr val="64748B"/>
                </a:solidFill>
              </a:rPr>
              <a:t>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0" y="182880"/>
            <a:ext cx="2377440" cy="320040"/>
          </a:xfrm>
          <a:prstGeom prst="rect">
            <a:avLst/>
          </a:prstGeom>
          <a:noFill/>
        </p:spPr>
        <p:txBody>
          <a:bodyPr wrap="square">
            <a:spAutoFit/>
          </a:bodyPr>
          <a:lstStyle/>
          <a:p>
            <a:pPr algn="r"/>
            <a:r>
              <a:rPr sz="800" b="0" i="0">
                <a:solidFill>
                  <a:srgbClr val="64748B"/>
                </a:solidFill>
              </a:rPr>
              <a:t>THE PROBLEM</a:t>
            </a:r>
          </a:p>
        </p:txBody>
      </p:sp>
      <p:sp>
        <p:nvSpPr>
          <p:cNvPr id="4" name="TextBox 3"/>
          <p:cNvSpPr txBox="1"/>
          <p:nvPr/>
        </p:nvSpPr>
        <p:spPr>
          <a:xfrm>
            <a:off x="320040" y="228600"/>
            <a:ext cx="11430000" cy="685800"/>
          </a:xfrm>
          <a:prstGeom prst="rect">
            <a:avLst/>
          </a:prstGeom>
          <a:noFill/>
        </p:spPr>
        <p:txBody>
          <a:bodyPr wrap="square">
            <a:spAutoFit/>
          </a:bodyPr>
          <a:lstStyle/>
          <a:p>
            <a:pPr algn="l"/>
            <a:r>
              <a:rPr sz="2800" b="1" i="0">
                <a:solidFill>
                  <a:srgbClr val="0F172A"/>
                </a:solidFill>
              </a:rPr>
              <a:t>Freelancers lose time and money on complex contracts.</a:t>
            </a:r>
          </a:p>
        </p:txBody>
      </p:sp>
      <p:sp>
        <p:nvSpPr>
          <p:cNvPr id="5" name="Rectangle 4"/>
          <p:cNvSpPr/>
          <p:nvPr/>
        </p:nvSpPr>
        <p:spPr>
          <a:xfrm>
            <a:off x="320040" y="1234440"/>
            <a:ext cx="1152144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527048"/>
            <a:ext cx="54864"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417320"/>
            <a:ext cx="11064240" cy="365760"/>
          </a:xfrm>
          <a:prstGeom prst="rect">
            <a:avLst/>
          </a:prstGeom>
          <a:noFill/>
        </p:spPr>
        <p:txBody>
          <a:bodyPr wrap="square">
            <a:spAutoFit/>
          </a:bodyPr>
          <a:lstStyle/>
          <a:p>
            <a:pPr algn="l"/>
            <a:r>
              <a:rPr sz="1600" b="1" i="0">
                <a:solidFill>
                  <a:srgbClr val="0F172A"/>
                </a:solidFill>
              </a:rPr>
              <a:t>Lengthy and inefficient contract review cycles.</a:t>
            </a:r>
          </a:p>
        </p:txBody>
      </p:sp>
      <p:sp>
        <p:nvSpPr>
          <p:cNvPr id="8" name="TextBox 7"/>
          <p:cNvSpPr txBox="1"/>
          <p:nvPr/>
        </p:nvSpPr>
        <p:spPr>
          <a:xfrm>
            <a:off x="502920" y="1764792"/>
            <a:ext cx="11064240" cy="411480"/>
          </a:xfrm>
          <a:prstGeom prst="rect">
            <a:avLst/>
          </a:prstGeom>
          <a:noFill/>
        </p:spPr>
        <p:txBody>
          <a:bodyPr wrap="square">
            <a:spAutoFit/>
          </a:bodyPr>
          <a:lstStyle/>
          <a:p>
            <a:pPr algn="l"/>
            <a:r>
              <a:rPr sz="1200" b="0" i="0">
                <a:solidFill>
                  <a:srgbClr val="64748B"/>
                </a:solidFill>
              </a:rPr>
              <a:t>Freelancers spend an average of 3 weeks negotiating contracts, delaying project starts — Chronos Research 2023.</a:t>
            </a:r>
          </a:p>
        </p:txBody>
      </p:sp>
      <p:sp>
        <p:nvSpPr>
          <p:cNvPr id="9" name="Rectangle 8"/>
          <p:cNvSpPr/>
          <p:nvPr/>
        </p:nvSpPr>
        <p:spPr>
          <a:xfrm>
            <a:off x="320040" y="2350008"/>
            <a:ext cx="54864"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2240280"/>
            <a:ext cx="11064240" cy="365760"/>
          </a:xfrm>
          <a:prstGeom prst="rect">
            <a:avLst/>
          </a:prstGeom>
          <a:noFill/>
        </p:spPr>
        <p:txBody>
          <a:bodyPr wrap="square">
            <a:spAutoFit/>
          </a:bodyPr>
          <a:lstStyle/>
          <a:p>
            <a:pPr algn="l"/>
            <a:r>
              <a:rPr sz="1600" b="1" i="0">
                <a:solidFill>
                  <a:srgbClr val="0F172A"/>
                </a:solidFill>
              </a:rPr>
              <a:t>Complex legal language that is difficult to understand.</a:t>
            </a:r>
          </a:p>
        </p:txBody>
      </p:sp>
      <p:sp>
        <p:nvSpPr>
          <p:cNvPr id="11" name="TextBox 10"/>
          <p:cNvSpPr txBox="1"/>
          <p:nvPr/>
        </p:nvSpPr>
        <p:spPr>
          <a:xfrm>
            <a:off x="502920" y="2587752"/>
            <a:ext cx="11064240" cy="411480"/>
          </a:xfrm>
          <a:prstGeom prst="rect">
            <a:avLst/>
          </a:prstGeom>
          <a:noFill/>
        </p:spPr>
        <p:txBody>
          <a:bodyPr wrap="square">
            <a:spAutoFit/>
          </a:bodyPr>
          <a:lstStyle/>
          <a:p>
            <a:pPr algn="l"/>
            <a:r>
              <a:rPr sz="1200" b="0" i="0">
                <a:solidFill>
                  <a:srgbClr val="64748B"/>
                </a:solidFill>
              </a:rPr>
              <a:t>70% of freelancers report confusion in legal terminology impacting their contracts — Talent2023 Survey.</a:t>
            </a:r>
          </a:p>
        </p:txBody>
      </p:sp>
      <p:sp>
        <p:nvSpPr>
          <p:cNvPr id="12" name="Rectangle 11"/>
          <p:cNvSpPr/>
          <p:nvPr/>
        </p:nvSpPr>
        <p:spPr>
          <a:xfrm>
            <a:off x="320040" y="3172968"/>
            <a:ext cx="54864"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3063240"/>
            <a:ext cx="11064240" cy="365760"/>
          </a:xfrm>
          <a:prstGeom prst="rect">
            <a:avLst/>
          </a:prstGeom>
          <a:noFill/>
        </p:spPr>
        <p:txBody>
          <a:bodyPr wrap="square">
            <a:spAutoFit/>
          </a:bodyPr>
          <a:lstStyle/>
          <a:p>
            <a:pPr algn="l"/>
            <a:r>
              <a:rPr sz="1600" b="1" i="0">
                <a:solidFill>
                  <a:srgbClr val="0F172A"/>
                </a:solidFill>
              </a:rPr>
              <a:t>High risks due to inaccuracies in contract terms.</a:t>
            </a:r>
          </a:p>
        </p:txBody>
      </p:sp>
      <p:sp>
        <p:nvSpPr>
          <p:cNvPr id="14" name="TextBox 13"/>
          <p:cNvSpPr txBox="1"/>
          <p:nvPr/>
        </p:nvSpPr>
        <p:spPr>
          <a:xfrm>
            <a:off x="502920" y="3410712"/>
            <a:ext cx="11064240" cy="411480"/>
          </a:xfrm>
          <a:prstGeom prst="rect">
            <a:avLst/>
          </a:prstGeom>
          <a:noFill/>
        </p:spPr>
        <p:txBody>
          <a:bodyPr wrap="square">
            <a:spAutoFit/>
          </a:bodyPr>
          <a:lstStyle/>
          <a:p>
            <a:pPr algn="l"/>
            <a:r>
              <a:rPr sz="1200" b="0" i="0">
                <a:solidFill>
                  <a:srgbClr val="64748B"/>
                </a:solidFill>
              </a:rPr>
              <a:t>Misunderstandings cost freelancers an estimated $15K annually in lost income — Freelance Financial Review 2023.</a:t>
            </a:r>
          </a:p>
        </p:txBody>
      </p:sp>
      <p:sp>
        <p:nvSpPr>
          <p:cNvPr id="15" name="Rectangle 14"/>
          <p:cNvSpPr/>
          <p:nvPr/>
        </p:nvSpPr>
        <p:spPr>
          <a:xfrm>
            <a:off x="320040" y="5577840"/>
            <a:ext cx="11521440" cy="9601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5669280"/>
            <a:ext cx="11155680" cy="731520"/>
          </a:xfrm>
          <a:prstGeom prst="rect">
            <a:avLst/>
          </a:prstGeom>
          <a:noFill/>
        </p:spPr>
        <p:txBody>
          <a:bodyPr wrap="square">
            <a:spAutoFit/>
          </a:bodyPr>
          <a:lstStyle/>
          <a:p>
            <a:pPr algn="l"/>
            <a:r>
              <a:rPr sz="1300" b="1" i="1">
                <a:solidFill>
                  <a:srgbClr val="0F172A"/>
                </a:solidFill>
              </a:rPr>
              <a:t>Every freelancer knows the feeling of being lost in legal jargon. We are building the tool that changes that.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0" y="182880"/>
            <a:ext cx="2377440" cy="320040"/>
          </a:xfrm>
          <a:prstGeom prst="rect">
            <a:avLst/>
          </a:prstGeom>
          <a:noFill/>
        </p:spPr>
        <p:txBody>
          <a:bodyPr wrap="square">
            <a:spAutoFit/>
          </a:bodyPr>
          <a:lstStyle/>
          <a:p>
            <a:pPr algn="r"/>
            <a:r>
              <a:rPr sz="800" b="0" i="0">
                <a:solidFill>
                  <a:srgbClr val="64748B"/>
                </a:solidFill>
              </a:rPr>
              <a:t>THE SOLUTION</a:t>
            </a:r>
          </a:p>
        </p:txBody>
      </p:sp>
      <p:sp>
        <p:nvSpPr>
          <p:cNvPr id="4" name="TextBox 3"/>
          <p:cNvSpPr txBox="1"/>
          <p:nvPr/>
        </p:nvSpPr>
        <p:spPr>
          <a:xfrm>
            <a:off x="320040" y="228600"/>
            <a:ext cx="11430000" cy="685800"/>
          </a:xfrm>
          <a:prstGeom prst="rect">
            <a:avLst/>
          </a:prstGeom>
          <a:noFill/>
        </p:spPr>
        <p:txBody>
          <a:bodyPr wrap="square">
            <a:spAutoFit/>
          </a:bodyPr>
          <a:lstStyle/>
          <a:p>
            <a:pPr algn="l"/>
            <a:r>
              <a:rPr sz="2800" b="1" i="0">
                <a:solidFill>
                  <a:srgbClr val="0F172A"/>
                </a:solidFill>
              </a:rPr>
              <a:t>CertaFolio: Contracts, Simplified and Streamlined.</a:t>
            </a:r>
          </a:p>
        </p:txBody>
      </p:sp>
      <p:sp>
        <p:nvSpPr>
          <p:cNvPr id="5" name="Rectangle 4"/>
          <p:cNvSpPr/>
          <p:nvPr/>
        </p:nvSpPr>
        <p:spPr>
          <a:xfrm>
            <a:off x="320040" y="1234440"/>
            <a:ext cx="1152144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527048"/>
            <a:ext cx="54864"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417320"/>
            <a:ext cx="11064240" cy="365760"/>
          </a:xfrm>
          <a:prstGeom prst="rect">
            <a:avLst/>
          </a:prstGeom>
          <a:noFill/>
        </p:spPr>
        <p:txBody>
          <a:bodyPr wrap="square">
            <a:spAutoFit/>
          </a:bodyPr>
          <a:lstStyle/>
          <a:p>
            <a:pPr algn="l"/>
            <a:r>
              <a:rPr sz="1600" b="1" i="0">
                <a:solidFill>
                  <a:srgbClr val="0F172A"/>
                </a:solidFill>
              </a:rPr>
              <a:t>AI-Powered Contract Generator that saves time.</a:t>
            </a:r>
          </a:p>
        </p:txBody>
      </p:sp>
      <p:sp>
        <p:nvSpPr>
          <p:cNvPr id="8" name="TextBox 7"/>
          <p:cNvSpPr txBox="1"/>
          <p:nvPr/>
        </p:nvSpPr>
        <p:spPr>
          <a:xfrm>
            <a:off x="502920" y="1764792"/>
            <a:ext cx="11064240" cy="411480"/>
          </a:xfrm>
          <a:prstGeom prst="rect">
            <a:avLst/>
          </a:prstGeom>
          <a:noFill/>
        </p:spPr>
        <p:txBody>
          <a:bodyPr wrap="square">
            <a:spAutoFit/>
          </a:bodyPr>
          <a:lstStyle/>
          <a:p>
            <a:pPr algn="l"/>
            <a:r>
              <a:rPr sz="1200" b="0" i="0">
                <a:solidFill>
                  <a:srgbClr val="64748B"/>
                </a:solidFill>
              </a:rPr>
              <a:t>Instantly generate contracts tailored to freelancers' needs.</a:t>
            </a:r>
          </a:p>
        </p:txBody>
      </p:sp>
      <p:sp>
        <p:nvSpPr>
          <p:cNvPr id="9" name="Rectangle 8"/>
          <p:cNvSpPr/>
          <p:nvPr/>
        </p:nvSpPr>
        <p:spPr>
          <a:xfrm>
            <a:off x="320040" y="2350008"/>
            <a:ext cx="54864"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2240280"/>
            <a:ext cx="11064240" cy="365760"/>
          </a:xfrm>
          <a:prstGeom prst="rect">
            <a:avLst/>
          </a:prstGeom>
          <a:noFill/>
        </p:spPr>
        <p:txBody>
          <a:bodyPr wrap="square">
            <a:spAutoFit/>
          </a:bodyPr>
          <a:lstStyle/>
          <a:p>
            <a:pPr algn="l"/>
            <a:r>
              <a:rPr sz="1600" b="1" i="0">
                <a:solidFill>
                  <a:srgbClr val="0F172A"/>
                </a:solidFill>
              </a:rPr>
              <a:t>Legal Language Simplifier for better understanding.</a:t>
            </a:r>
          </a:p>
        </p:txBody>
      </p:sp>
      <p:sp>
        <p:nvSpPr>
          <p:cNvPr id="11" name="TextBox 10"/>
          <p:cNvSpPr txBox="1"/>
          <p:nvPr/>
        </p:nvSpPr>
        <p:spPr>
          <a:xfrm>
            <a:off x="502920" y="2587752"/>
            <a:ext cx="11064240" cy="411480"/>
          </a:xfrm>
          <a:prstGeom prst="rect">
            <a:avLst/>
          </a:prstGeom>
          <a:noFill/>
        </p:spPr>
        <p:txBody>
          <a:bodyPr wrap="square">
            <a:spAutoFit/>
          </a:bodyPr>
          <a:lstStyle/>
          <a:p>
            <a:pPr algn="l"/>
            <a:r>
              <a:rPr sz="1200" b="0" i="0">
                <a:solidFill>
                  <a:srgbClr val="64748B"/>
                </a:solidFill>
              </a:rPr>
              <a:t>Complex terms turned into plain language summaries.</a:t>
            </a:r>
          </a:p>
        </p:txBody>
      </p:sp>
      <p:sp>
        <p:nvSpPr>
          <p:cNvPr id="12" name="Rectangle 11"/>
          <p:cNvSpPr/>
          <p:nvPr/>
        </p:nvSpPr>
        <p:spPr>
          <a:xfrm>
            <a:off x="320040" y="3172968"/>
            <a:ext cx="54864"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3063240"/>
            <a:ext cx="11064240" cy="365760"/>
          </a:xfrm>
          <a:prstGeom prst="rect">
            <a:avLst/>
          </a:prstGeom>
          <a:noFill/>
        </p:spPr>
        <p:txBody>
          <a:bodyPr wrap="square">
            <a:spAutoFit/>
          </a:bodyPr>
          <a:lstStyle/>
          <a:p>
            <a:pPr algn="l"/>
            <a:r>
              <a:rPr sz="1600" b="1" i="0">
                <a:solidFill>
                  <a:srgbClr val="0F172A"/>
                </a:solidFill>
              </a:rPr>
              <a:t>Integration with project management tools for efficiency.</a:t>
            </a:r>
          </a:p>
        </p:txBody>
      </p:sp>
      <p:sp>
        <p:nvSpPr>
          <p:cNvPr id="14" name="TextBox 13"/>
          <p:cNvSpPr txBox="1"/>
          <p:nvPr/>
        </p:nvSpPr>
        <p:spPr>
          <a:xfrm>
            <a:off x="502920" y="3410712"/>
            <a:ext cx="11064240" cy="411480"/>
          </a:xfrm>
          <a:prstGeom prst="rect">
            <a:avLst/>
          </a:prstGeom>
          <a:noFill/>
        </p:spPr>
        <p:txBody>
          <a:bodyPr wrap="square">
            <a:spAutoFit/>
          </a:bodyPr>
          <a:lstStyle/>
          <a:p>
            <a:pPr algn="l"/>
            <a:r>
              <a:rPr sz="1200" b="0" i="0">
                <a:solidFill>
                  <a:srgbClr val="64748B"/>
                </a:solidFill>
              </a:rPr>
              <a:t>Seamlessly manage contracts within existing workflows.</a:t>
            </a:r>
          </a:p>
        </p:txBody>
      </p:sp>
      <p:sp>
        <p:nvSpPr>
          <p:cNvPr id="15" name="Rectangle 14"/>
          <p:cNvSpPr/>
          <p:nvPr/>
        </p:nvSpPr>
        <p:spPr>
          <a:xfrm>
            <a:off x="320040" y="5577840"/>
            <a:ext cx="11521440" cy="9601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5669280"/>
            <a:ext cx="11155680" cy="731520"/>
          </a:xfrm>
          <a:prstGeom prst="rect">
            <a:avLst/>
          </a:prstGeom>
          <a:noFill/>
        </p:spPr>
        <p:txBody>
          <a:bodyPr wrap="square">
            <a:spAutoFit/>
          </a:bodyPr>
          <a:lstStyle/>
          <a:p>
            <a:pPr algn="l"/>
            <a:r>
              <a:rPr sz="1300" b="1" i="1">
                <a:solidFill>
                  <a:srgbClr val="FFFFFF"/>
                </a:solidFill>
              </a:rPr>
              <a:t>You input essential terms, and our AI crafts an intuitive contract — it's that easy!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0" y="182880"/>
            <a:ext cx="2377440" cy="320040"/>
          </a:xfrm>
          <a:prstGeom prst="rect">
            <a:avLst/>
          </a:prstGeom>
          <a:noFill/>
        </p:spPr>
        <p:txBody>
          <a:bodyPr wrap="square">
            <a:spAutoFit/>
          </a:bodyPr>
          <a:lstStyle/>
          <a:p>
            <a:pPr algn="r"/>
            <a:r>
              <a:rPr sz="800" b="0" i="0">
                <a:solidFill>
                  <a:srgbClr val="64748B"/>
                </a:solidFill>
              </a:rPr>
              <a:t>PRODUCT</a:t>
            </a:r>
          </a:p>
        </p:txBody>
      </p:sp>
      <p:sp>
        <p:nvSpPr>
          <p:cNvPr id="4" name="TextBox 3"/>
          <p:cNvSpPr txBox="1"/>
          <p:nvPr/>
        </p:nvSpPr>
        <p:spPr>
          <a:xfrm>
            <a:off x="320040" y="228600"/>
            <a:ext cx="11430000" cy="685800"/>
          </a:xfrm>
          <a:prstGeom prst="rect">
            <a:avLst/>
          </a:prstGeom>
          <a:noFill/>
        </p:spPr>
        <p:txBody>
          <a:bodyPr wrap="square">
            <a:spAutoFit/>
          </a:bodyPr>
          <a:lstStyle/>
          <a:p>
            <a:pPr algn="l"/>
            <a:r>
              <a:rPr sz="2800" b="1" i="0">
                <a:solidFill>
                  <a:srgbClr val="0F172A"/>
                </a:solidFill>
              </a:rPr>
              <a:t>Designed for freelancers, powered by AI.</a:t>
            </a:r>
          </a:p>
        </p:txBody>
      </p:sp>
      <p:sp>
        <p:nvSpPr>
          <p:cNvPr id="5" name="Rectangle 4"/>
          <p:cNvSpPr/>
          <p:nvPr/>
        </p:nvSpPr>
        <p:spPr>
          <a:xfrm>
            <a:off x="320040" y="1234440"/>
            <a:ext cx="1152144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417320"/>
            <a:ext cx="5760720" cy="16002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554480"/>
            <a:ext cx="5486400" cy="1325880"/>
          </a:xfrm>
          <a:prstGeom prst="rect">
            <a:avLst/>
          </a:prstGeom>
          <a:noFill/>
        </p:spPr>
        <p:txBody>
          <a:bodyPr wrap="square">
            <a:spAutoFit/>
          </a:bodyPr>
          <a:lstStyle/>
          <a:p>
            <a:pPr algn="l"/>
            <a:r>
              <a:rPr sz="1300" b="0" i="0">
                <a:solidFill>
                  <a:srgbClr val="FFFFFF"/>
                </a:solidFill>
              </a:rPr>
              <a:t>AI-Powered Contract Generator: Quickly create tailored contracts in minutes.</a:t>
            </a:r>
          </a:p>
        </p:txBody>
      </p:sp>
      <p:sp>
        <p:nvSpPr>
          <p:cNvPr id="8" name="Rectangle 7"/>
          <p:cNvSpPr/>
          <p:nvPr/>
        </p:nvSpPr>
        <p:spPr>
          <a:xfrm>
            <a:off x="6263640" y="1417320"/>
            <a:ext cx="5760720" cy="16002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554480"/>
            <a:ext cx="5486400" cy="1325880"/>
          </a:xfrm>
          <a:prstGeom prst="rect">
            <a:avLst/>
          </a:prstGeom>
          <a:noFill/>
        </p:spPr>
        <p:txBody>
          <a:bodyPr wrap="square">
            <a:spAutoFit/>
          </a:bodyPr>
          <a:lstStyle/>
          <a:p>
            <a:pPr algn="l"/>
            <a:r>
              <a:rPr sz="1300" b="0" i="0">
                <a:solidFill>
                  <a:srgbClr val="FFFFFF"/>
                </a:solidFill>
              </a:rPr>
              <a:t>Legal Language Simplifier: Decode complex terms into easy-to-understand summaries.</a:t>
            </a:r>
          </a:p>
        </p:txBody>
      </p:sp>
      <p:sp>
        <p:nvSpPr>
          <p:cNvPr id="10" name="Rectangle 9"/>
          <p:cNvSpPr/>
          <p:nvPr/>
        </p:nvSpPr>
        <p:spPr>
          <a:xfrm>
            <a:off x="320040" y="3291840"/>
            <a:ext cx="5760720" cy="16002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3429000"/>
            <a:ext cx="5486400" cy="1325880"/>
          </a:xfrm>
          <a:prstGeom prst="rect">
            <a:avLst/>
          </a:prstGeom>
          <a:noFill/>
        </p:spPr>
        <p:txBody>
          <a:bodyPr wrap="square">
            <a:spAutoFit/>
          </a:bodyPr>
          <a:lstStyle/>
          <a:p>
            <a:pPr algn="l"/>
            <a:r>
              <a:rPr sz="1300" b="0" i="0">
                <a:solidFill>
                  <a:srgbClr val="FFFFFF"/>
                </a:solidFill>
              </a:rPr>
              <a:t>Template Library: A collection of pre-made contract templates for various freelance jobs.</a:t>
            </a:r>
          </a:p>
        </p:txBody>
      </p:sp>
      <p:sp>
        <p:nvSpPr>
          <p:cNvPr id="12" name="Rectangle 11"/>
          <p:cNvSpPr/>
          <p:nvPr/>
        </p:nvSpPr>
        <p:spPr>
          <a:xfrm>
            <a:off x="6263640" y="3291840"/>
            <a:ext cx="5760720" cy="16002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3429000"/>
            <a:ext cx="5486400" cy="1325880"/>
          </a:xfrm>
          <a:prstGeom prst="rect">
            <a:avLst/>
          </a:prstGeom>
          <a:noFill/>
        </p:spPr>
        <p:txBody>
          <a:bodyPr wrap="square">
            <a:spAutoFit/>
          </a:bodyPr>
          <a:lstStyle/>
          <a:p>
            <a:pPr algn="l"/>
            <a:r>
              <a:rPr sz="1300" b="0" i="0">
                <a:solidFill>
                  <a:srgbClr val="FFFFFF"/>
                </a:solidFill>
              </a:rPr>
              <a:t>Collaborative Review Feature: Get real-time feedback and edits from clients easily.</a:t>
            </a:r>
          </a:p>
        </p:txBody>
      </p:sp>
      <p:sp>
        <p:nvSpPr>
          <p:cNvPr id="14" name="Rectangle 13"/>
          <p:cNvSpPr/>
          <p:nvPr/>
        </p:nvSpPr>
        <p:spPr>
          <a:xfrm>
            <a:off x="320040" y="5486400"/>
            <a:ext cx="11521440"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5577840"/>
            <a:ext cx="11155680" cy="868680"/>
          </a:xfrm>
          <a:prstGeom prst="rect">
            <a:avLst/>
          </a:prstGeom>
          <a:noFill/>
        </p:spPr>
        <p:txBody>
          <a:bodyPr wrap="square">
            <a:spAutoFit/>
          </a:bodyPr>
          <a:lstStyle/>
          <a:p>
            <a:pPr algn="l"/>
            <a:r>
              <a:rPr sz="1100" b="0" i="1">
                <a:solidFill>
                  <a:srgbClr val="E2E8F0"/>
                </a:solidFill>
              </a:rPr>
              <a:t>Demo Flow  →  Step 1: Input your contract details — names, terms, etc. → Step 2: Click 'Generate.' → Step 3: Collaboratively review and share with all involved parties.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0" y="182880"/>
            <a:ext cx="2377440" cy="320040"/>
          </a:xfrm>
          <a:prstGeom prst="rect">
            <a:avLst/>
          </a:prstGeom>
          <a:noFill/>
        </p:spPr>
        <p:txBody>
          <a:bodyPr wrap="square">
            <a:spAutoFit/>
          </a:bodyPr>
          <a:lstStyle/>
          <a:p>
            <a:pPr algn="r"/>
            <a:r>
              <a:rPr sz="800" b="0" i="0">
                <a:solidFill>
                  <a:srgbClr val="64748B"/>
                </a:solidFill>
              </a:rPr>
              <a:t>MARKET SIZE</a:t>
            </a:r>
          </a:p>
        </p:txBody>
      </p:sp>
      <p:sp>
        <p:nvSpPr>
          <p:cNvPr id="4" name="TextBox 3"/>
          <p:cNvSpPr txBox="1"/>
          <p:nvPr/>
        </p:nvSpPr>
        <p:spPr>
          <a:xfrm>
            <a:off x="320040" y="228600"/>
            <a:ext cx="11430000" cy="685800"/>
          </a:xfrm>
          <a:prstGeom prst="rect">
            <a:avLst/>
          </a:prstGeom>
          <a:noFill/>
        </p:spPr>
        <p:txBody>
          <a:bodyPr wrap="square">
            <a:spAutoFit/>
          </a:bodyPr>
          <a:lstStyle/>
          <a:p>
            <a:pPr algn="l"/>
            <a:r>
              <a:rPr sz="2800" b="1" i="0">
                <a:solidFill>
                  <a:srgbClr val="0F172A"/>
                </a:solidFill>
              </a:rPr>
              <a:t>A $34.15B market with a clear opportunity.</a:t>
            </a:r>
          </a:p>
        </p:txBody>
      </p:sp>
      <p:sp>
        <p:nvSpPr>
          <p:cNvPr id="5" name="Rectangle 4"/>
          <p:cNvSpPr/>
          <p:nvPr/>
        </p:nvSpPr>
        <p:spPr>
          <a:xfrm>
            <a:off x="320040" y="1234440"/>
            <a:ext cx="1152144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417320"/>
            <a:ext cx="3566160" cy="201168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1527048"/>
            <a:ext cx="3566160" cy="320040"/>
          </a:xfrm>
          <a:prstGeom prst="rect">
            <a:avLst/>
          </a:prstGeom>
          <a:noFill/>
        </p:spPr>
        <p:txBody>
          <a:bodyPr wrap="square">
            <a:spAutoFit/>
          </a:bodyPr>
          <a:lstStyle/>
          <a:p>
            <a:pPr algn="ctr"/>
            <a:r>
              <a:rPr sz="1100" b="1" i="0">
                <a:solidFill>
                  <a:srgbClr val="FFFFFF"/>
                </a:solidFill>
              </a:rPr>
              <a:t>TAM</a:t>
            </a:r>
          </a:p>
        </p:txBody>
      </p:sp>
      <p:sp>
        <p:nvSpPr>
          <p:cNvPr id="8" name="TextBox 7"/>
          <p:cNvSpPr txBox="1"/>
          <p:nvPr/>
        </p:nvSpPr>
        <p:spPr>
          <a:xfrm>
            <a:off x="411480" y="1828800"/>
            <a:ext cx="3383280" cy="1508760"/>
          </a:xfrm>
          <a:prstGeom prst="rect">
            <a:avLst/>
          </a:prstGeom>
          <a:noFill/>
        </p:spPr>
        <p:txBody>
          <a:bodyPr wrap="square">
            <a:spAutoFit/>
          </a:bodyPr>
          <a:lstStyle/>
          <a:p>
            <a:pPr algn="l"/>
            <a:r>
              <a:rPr sz="1100" b="0" i="0">
                <a:solidFill>
                  <a:srgbClr val="FFFFFF"/>
                </a:solidFill>
              </a:rPr>
              <a:t>$34.15B global LegalTech market by 2025 according to ResearchAndMarkets.com.</a:t>
            </a:r>
          </a:p>
        </p:txBody>
      </p:sp>
      <p:sp>
        <p:nvSpPr>
          <p:cNvPr id="9" name="Rectangle 8"/>
          <p:cNvSpPr/>
          <p:nvPr/>
        </p:nvSpPr>
        <p:spPr>
          <a:xfrm>
            <a:off x="4114800" y="1417320"/>
            <a:ext cx="3566160" cy="201168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0" y="1527048"/>
            <a:ext cx="3566160" cy="320040"/>
          </a:xfrm>
          <a:prstGeom prst="rect">
            <a:avLst/>
          </a:prstGeom>
          <a:noFill/>
        </p:spPr>
        <p:txBody>
          <a:bodyPr wrap="square">
            <a:spAutoFit/>
          </a:bodyPr>
          <a:lstStyle/>
          <a:p>
            <a:pPr algn="ctr"/>
            <a:r>
              <a:rPr sz="1100" b="1" i="0">
                <a:solidFill>
                  <a:srgbClr val="FFFFFF"/>
                </a:solidFill>
              </a:rPr>
              <a:t>SAM</a:t>
            </a:r>
          </a:p>
        </p:txBody>
      </p:sp>
      <p:sp>
        <p:nvSpPr>
          <p:cNvPr id="11" name="TextBox 10"/>
          <p:cNvSpPr txBox="1"/>
          <p:nvPr/>
        </p:nvSpPr>
        <p:spPr>
          <a:xfrm>
            <a:off x="4206240" y="1828800"/>
            <a:ext cx="3383280" cy="1508760"/>
          </a:xfrm>
          <a:prstGeom prst="rect">
            <a:avLst/>
          </a:prstGeom>
          <a:noFill/>
        </p:spPr>
        <p:txBody>
          <a:bodyPr wrap="square">
            <a:spAutoFit/>
          </a:bodyPr>
          <a:lstStyle/>
          <a:p>
            <a:pPr algn="l"/>
            <a:r>
              <a:rPr sz="1100" b="0" i="0">
                <a:solidFill>
                  <a:srgbClr val="FFFFFF"/>
                </a:solidFill>
              </a:rPr>
              <a:t>$500M serviceable market for freelancers in the U.S. based on current freelance market size.</a:t>
            </a:r>
          </a:p>
        </p:txBody>
      </p:sp>
      <p:sp>
        <p:nvSpPr>
          <p:cNvPr id="12" name="Rectangle 11"/>
          <p:cNvSpPr/>
          <p:nvPr/>
        </p:nvSpPr>
        <p:spPr>
          <a:xfrm>
            <a:off x="7909560" y="1417320"/>
            <a:ext cx="3566160" cy="201168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09560" y="1527048"/>
            <a:ext cx="3566160" cy="320040"/>
          </a:xfrm>
          <a:prstGeom prst="rect">
            <a:avLst/>
          </a:prstGeom>
          <a:noFill/>
        </p:spPr>
        <p:txBody>
          <a:bodyPr wrap="square">
            <a:spAutoFit/>
          </a:bodyPr>
          <a:lstStyle/>
          <a:p>
            <a:pPr algn="ctr"/>
            <a:r>
              <a:rPr sz="1100" b="1" i="0">
                <a:solidFill>
                  <a:srgbClr val="FFFFFF"/>
                </a:solidFill>
              </a:rPr>
              <a:t>SOM</a:t>
            </a:r>
          </a:p>
        </p:txBody>
      </p:sp>
      <p:sp>
        <p:nvSpPr>
          <p:cNvPr id="14" name="TextBox 13"/>
          <p:cNvSpPr txBox="1"/>
          <p:nvPr/>
        </p:nvSpPr>
        <p:spPr>
          <a:xfrm>
            <a:off x="8001000" y="1828800"/>
            <a:ext cx="3383280" cy="1508760"/>
          </a:xfrm>
          <a:prstGeom prst="rect">
            <a:avLst/>
          </a:prstGeom>
          <a:noFill/>
        </p:spPr>
        <p:txBody>
          <a:bodyPr wrap="square">
            <a:spAutoFit/>
          </a:bodyPr>
          <a:lstStyle/>
          <a:p>
            <a:pPr algn="l"/>
            <a:r>
              <a:rPr sz="1100" b="0" i="0">
                <a:solidFill>
                  <a:srgbClr val="FFFFFF"/>
                </a:solidFill>
              </a:rPr>
              <a:t>Year 1 target of $3M in recurring revenue with significant growth potential.</a:t>
            </a:r>
          </a:p>
        </p:txBody>
      </p:sp>
      <p:sp>
        <p:nvSpPr>
          <p:cNvPr id="15" name="TextBox 14"/>
          <p:cNvSpPr txBox="1"/>
          <p:nvPr/>
        </p:nvSpPr>
        <p:spPr>
          <a:xfrm>
            <a:off x="320040" y="3703320"/>
            <a:ext cx="5486400" cy="365760"/>
          </a:xfrm>
          <a:prstGeom prst="rect">
            <a:avLst/>
          </a:prstGeom>
          <a:noFill/>
        </p:spPr>
        <p:txBody>
          <a:bodyPr wrap="square">
            <a:spAutoFit/>
          </a:bodyPr>
          <a:lstStyle/>
          <a:p>
            <a:pPr algn="l"/>
            <a:r>
              <a:rPr sz="1400" b="1" i="0">
                <a:solidFill>
                  <a:srgbClr val="0F172A"/>
                </a:solidFill>
              </a:rPr>
              <a:t>Market Tailwinds</a:t>
            </a:r>
          </a:p>
        </p:txBody>
      </p:sp>
      <p:sp>
        <p:nvSpPr>
          <p:cNvPr id="16" name="Rectangle 15"/>
          <p:cNvSpPr/>
          <p:nvPr/>
        </p:nvSpPr>
        <p:spPr>
          <a:xfrm>
            <a:off x="320040" y="4224528"/>
            <a:ext cx="54864"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4114800"/>
            <a:ext cx="11064240" cy="411480"/>
          </a:xfrm>
          <a:prstGeom prst="rect">
            <a:avLst/>
          </a:prstGeom>
          <a:noFill/>
        </p:spPr>
        <p:txBody>
          <a:bodyPr wrap="square">
            <a:spAutoFit/>
          </a:bodyPr>
          <a:lstStyle/>
          <a:p>
            <a:pPr algn="l"/>
            <a:r>
              <a:rPr sz="1200" b="0" i="0">
                <a:solidFill>
                  <a:srgbClr val="0F172A"/>
                </a:solidFill>
              </a:rPr>
              <a:t>Increase in AI adoption for contract management.</a:t>
            </a:r>
          </a:p>
        </p:txBody>
      </p:sp>
      <p:sp>
        <p:nvSpPr>
          <p:cNvPr id="18" name="Rectangle 17"/>
          <p:cNvSpPr/>
          <p:nvPr/>
        </p:nvSpPr>
        <p:spPr>
          <a:xfrm>
            <a:off x="320040" y="4700016"/>
            <a:ext cx="54864"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4590288"/>
            <a:ext cx="11064240" cy="411480"/>
          </a:xfrm>
          <a:prstGeom prst="rect">
            <a:avLst/>
          </a:prstGeom>
          <a:noFill/>
        </p:spPr>
        <p:txBody>
          <a:bodyPr wrap="square">
            <a:spAutoFit/>
          </a:bodyPr>
          <a:lstStyle/>
          <a:p>
            <a:pPr algn="l"/>
            <a:r>
              <a:rPr sz="1200" b="0" i="0">
                <a:solidFill>
                  <a:srgbClr val="0F172A"/>
                </a:solidFill>
              </a:rPr>
              <a:t>Shifting towards cloud-based solutions favored by freelancers.</a:t>
            </a:r>
          </a:p>
        </p:txBody>
      </p:sp>
      <p:sp>
        <p:nvSpPr>
          <p:cNvPr id="20" name="Rectangle 19"/>
          <p:cNvSpPr/>
          <p:nvPr/>
        </p:nvSpPr>
        <p:spPr>
          <a:xfrm>
            <a:off x="320040" y="5175504"/>
            <a:ext cx="54864"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5065776"/>
            <a:ext cx="11064240" cy="411480"/>
          </a:xfrm>
          <a:prstGeom prst="rect">
            <a:avLst/>
          </a:prstGeom>
          <a:noFill/>
        </p:spPr>
        <p:txBody>
          <a:bodyPr wrap="square">
            <a:spAutoFit/>
          </a:bodyPr>
          <a:lstStyle/>
          <a:p>
            <a:pPr algn="l"/>
            <a:r>
              <a:rPr sz="1200" b="0" i="0">
                <a:solidFill>
                  <a:srgbClr val="0F172A"/>
                </a:solidFill>
              </a:rPr>
              <a:t>Rapid expansion of the gig economy driving the need for efficient tools.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0" y="182880"/>
            <a:ext cx="2377440" cy="320040"/>
          </a:xfrm>
          <a:prstGeom prst="rect">
            <a:avLst/>
          </a:prstGeom>
          <a:noFill/>
        </p:spPr>
        <p:txBody>
          <a:bodyPr wrap="square">
            <a:spAutoFit/>
          </a:bodyPr>
          <a:lstStyle/>
          <a:p>
            <a:pPr algn="r"/>
            <a:r>
              <a:rPr sz="800" b="0" i="0">
                <a:solidFill>
                  <a:srgbClr val="64748B"/>
                </a:solidFill>
              </a:rPr>
              <a:t>BUSINESS MODEL</a:t>
            </a:r>
          </a:p>
        </p:txBody>
      </p:sp>
      <p:sp>
        <p:nvSpPr>
          <p:cNvPr id="4" name="TextBox 3"/>
          <p:cNvSpPr txBox="1"/>
          <p:nvPr/>
        </p:nvSpPr>
        <p:spPr>
          <a:xfrm>
            <a:off x="320040" y="228600"/>
            <a:ext cx="11430000" cy="685800"/>
          </a:xfrm>
          <a:prstGeom prst="rect">
            <a:avLst/>
          </a:prstGeom>
          <a:noFill/>
        </p:spPr>
        <p:txBody>
          <a:bodyPr wrap="square">
            <a:spAutoFit/>
          </a:bodyPr>
          <a:lstStyle/>
          <a:p>
            <a:pPr algn="l"/>
            <a:r>
              <a:rPr sz="2800" b="1" i="0">
                <a:solidFill>
                  <a:srgbClr val="0F172A"/>
                </a:solidFill>
              </a:rPr>
              <a:t>Subscription model catering to freelancers.</a:t>
            </a:r>
          </a:p>
        </p:txBody>
      </p:sp>
      <p:sp>
        <p:nvSpPr>
          <p:cNvPr id="5" name="Rectangle 4"/>
          <p:cNvSpPr/>
          <p:nvPr/>
        </p:nvSpPr>
        <p:spPr>
          <a:xfrm>
            <a:off x="320040" y="1234440"/>
            <a:ext cx="1152144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1371600"/>
            <a:ext cx="11521440" cy="640080"/>
          </a:xfrm>
          <a:prstGeom prst="rect">
            <a:avLst/>
          </a:prstGeom>
          <a:noFill/>
        </p:spPr>
        <p:txBody>
          <a:bodyPr wrap="square">
            <a:spAutoFit/>
          </a:bodyPr>
          <a:lstStyle/>
          <a:p>
            <a:pPr algn="l"/>
            <a:r>
              <a:rPr sz="1300" b="0" i="1">
                <a:solidFill>
                  <a:srgbClr val="64748B"/>
                </a:solidFill>
              </a:rPr>
              <a:t>CertaFolio operates on a subscription basis providing essential features at competitive pricing, enabling freelancers from various backgrounds to afford the tool they need.</a:t>
            </a:r>
          </a:p>
        </p:txBody>
      </p:sp>
      <p:sp>
        <p:nvSpPr>
          <p:cNvPr id="7" name="Rectangle 6"/>
          <p:cNvSpPr/>
          <p:nvPr/>
        </p:nvSpPr>
        <p:spPr>
          <a:xfrm>
            <a:off x="320040" y="2148840"/>
            <a:ext cx="3657600" cy="23774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2286000"/>
            <a:ext cx="3383280" cy="2103120"/>
          </a:xfrm>
          <a:prstGeom prst="rect">
            <a:avLst/>
          </a:prstGeom>
          <a:noFill/>
        </p:spPr>
        <p:txBody>
          <a:bodyPr wrap="square">
            <a:spAutoFit/>
          </a:bodyPr>
          <a:lstStyle/>
          <a:p>
            <a:pPr algn="l"/>
            <a:r>
              <a:rPr sz="1200" b="0" i="0">
                <a:solidFill>
                  <a:srgbClr val="0F172A"/>
                </a:solidFill>
              </a:rPr>
              <a:t>Free Tier — Generate up to 2 contracts/month (acquisition)</a:t>
            </a:r>
          </a:p>
        </p:txBody>
      </p:sp>
      <p:sp>
        <p:nvSpPr>
          <p:cNvPr id="9" name="Rectangle 8"/>
          <p:cNvSpPr/>
          <p:nvPr/>
        </p:nvSpPr>
        <p:spPr>
          <a:xfrm>
            <a:off x="4160520" y="2148840"/>
            <a:ext cx="3657600" cy="23774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7680" y="2286000"/>
            <a:ext cx="3383280" cy="2103120"/>
          </a:xfrm>
          <a:prstGeom prst="rect">
            <a:avLst/>
          </a:prstGeom>
          <a:noFill/>
        </p:spPr>
        <p:txBody>
          <a:bodyPr wrap="square">
            <a:spAutoFit/>
          </a:bodyPr>
          <a:lstStyle/>
          <a:p>
            <a:pPr algn="l"/>
            <a:r>
              <a:rPr sz="1200" b="0" i="0">
                <a:solidFill>
                  <a:srgbClr val="FFFFFF"/>
                </a:solidFill>
              </a:rPr>
              <a:t>Pro — $29/month for unlimited contracts + templates (core revenue)</a:t>
            </a:r>
          </a:p>
        </p:txBody>
      </p:sp>
      <p:sp>
        <p:nvSpPr>
          <p:cNvPr id="11" name="Rectangle 10"/>
          <p:cNvSpPr/>
          <p:nvPr/>
        </p:nvSpPr>
        <p:spPr>
          <a:xfrm>
            <a:off x="8001000" y="2148840"/>
            <a:ext cx="3657600" cy="23774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38160" y="2286000"/>
            <a:ext cx="3383280" cy="2103120"/>
          </a:xfrm>
          <a:prstGeom prst="rect">
            <a:avLst/>
          </a:prstGeom>
          <a:noFill/>
        </p:spPr>
        <p:txBody>
          <a:bodyPr wrap="square">
            <a:spAutoFit/>
          </a:bodyPr>
          <a:lstStyle/>
          <a:p>
            <a:pPr algn="l"/>
            <a:r>
              <a:rPr sz="1200" b="0" i="0">
                <a:solidFill>
                  <a:srgbClr val="FFFFFF"/>
                </a:solidFill>
              </a:rPr>
              <a:t>Team — $49/month for collaborative features across multiple users.</a:t>
            </a:r>
          </a:p>
        </p:txBody>
      </p:sp>
      <p:sp>
        <p:nvSpPr>
          <p:cNvPr id="13" name="TextBox 12"/>
          <p:cNvSpPr txBox="1"/>
          <p:nvPr/>
        </p:nvSpPr>
        <p:spPr>
          <a:xfrm>
            <a:off x="320040" y="4709160"/>
            <a:ext cx="5486400" cy="320040"/>
          </a:xfrm>
          <a:prstGeom prst="rect">
            <a:avLst/>
          </a:prstGeom>
          <a:noFill/>
        </p:spPr>
        <p:txBody>
          <a:bodyPr wrap="square">
            <a:spAutoFit/>
          </a:bodyPr>
          <a:lstStyle/>
          <a:p>
            <a:pPr algn="l"/>
            <a:r>
              <a:rPr sz="1300" b="1" i="0">
                <a:solidFill>
                  <a:srgbClr val="0F172A"/>
                </a:solidFill>
              </a:rPr>
              <a:t>Unit Economics</a:t>
            </a:r>
          </a:p>
        </p:txBody>
      </p:sp>
      <p:sp>
        <p:nvSpPr>
          <p:cNvPr id="14" name="Rectangle 13"/>
          <p:cNvSpPr/>
          <p:nvPr/>
        </p:nvSpPr>
        <p:spPr>
          <a:xfrm>
            <a:off x="320040" y="5074920"/>
            <a:ext cx="3657600" cy="8229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1480" y="5120640"/>
            <a:ext cx="3474720" cy="685800"/>
          </a:xfrm>
          <a:prstGeom prst="rect">
            <a:avLst/>
          </a:prstGeom>
          <a:noFill/>
        </p:spPr>
        <p:txBody>
          <a:bodyPr wrap="square">
            <a:spAutoFit/>
          </a:bodyPr>
          <a:lstStyle/>
          <a:p>
            <a:pPr algn="ctr"/>
            <a:r>
              <a:rPr sz="1200" b="1" i="0">
                <a:solidFill>
                  <a:srgbClr val="F59E0B"/>
                </a:solidFill>
              </a:rPr>
              <a:t>ARPU: $29/month</a:t>
            </a:r>
          </a:p>
        </p:txBody>
      </p:sp>
      <p:sp>
        <p:nvSpPr>
          <p:cNvPr id="16" name="Rectangle 15"/>
          <p:cNvSpPr/>
          <p:nvPr/>
        </p:nvSpPr>
        <p:spPr>
          <a:xfrm>
            <a:off x="4160520" y="5074920"/>
            <a:ext cx="3657600" cy="8229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51960" y="5120640"/>
            <a:ext cx="3474720" cy="685800"/>
          </a:xfrm>
          <a:prstGeom prst="rect">
            <a:avLst/>
          </a:prstGeom>
          <a:noFill/>
        </p:spPr>
        <p:txBody>
          <a:bodyPr wrap="square">
            <a:spAutoFit/>
          </a:bodyPr>
          <a:lstStyle/>
          <a:p>
            <a:pPr algn="ctr"/>
            <a:r>
              <a:rPr sz="1200" b="1" i="0">
                <a:solidFill>
                  <a:srgbClr val="F59E0B"/>
                </a:solidFill>
              </a:rPr>
              <a:t>LTV:CAC = 12.08:1</a:t>
            </a:r>
          </a:p>
        </p:txBody>
      </p:sp>
      <p:sp>
        <p:nvSpPr>
          <p:cNvPr id="18" name="Rectangle 17"/>
          <p:cNvSpPr/>
          <p:nvPr/>
        </p:nvSpPr>
        <p:spPr>
          <a:xfrm>
            <a:off x="8001000" y="5074920"/>
            <a:ext cx="3657600" cy="8229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92440" y="5120640"/>
            <a:ext cx="3474720" cy="685800"/>
          </a:xfrm>
          <a:prstGeom prst="rect">
            <a:avLst/>
          </a:prstGeom>
          <a:noFill/>
        </p:spPr>
        <p:txBody>
          <a:bodyPr wrap="square">
            <a:spAutoFit/>
          </a:bodyPr>
          <a:lstStyle/>
          <a:p>
            <a:pPr algn="ctr"/>
            <a:r>
              <a:rPr sz="1200" b="1" i="0">
                <a:solidFill>
                  <a:srgbClr val="F59E0B"/>
                </a:solidFill>
              </a:rPr>
              <a:t>Payback: 0.8 months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0" y="182880"/>
            <a:ext cx="2377440" cy="320040"/>
          </a:xfrm>
          <a:prstGeom prst="rect">
            <a:avLst/>
          </a:prstGeom>
          <a:noFill/>
        </p:spPr>
        <p:txBody>
          <a:bodyPr wrap="square">
            <a:spAutoFit/>
          </a:bodyPr>
          <a:lstStyle/>
          <a:p>
            <a:pPr algn="r"/>
            <a:r>
              <a:rPr sz="800" b="0" i="0">
                <a:solidFill>
                  <a:srgbClr val="64748B"/>
                </a:solidFill>
              </a:rPr>
              <a:t>TRACTION</a:t>
            </a:r>
          </a:p>
        </p:txBody>
      </p:sp>
      <p:sp>
        <p:nvSpPr>
          <p:cNvPr id="4" name="TextBox 3"/>
          <p:cNvSpPr txBox="1"/>
          <p:nvPr/>
        </p:nvSpPr>
        <p:spPr>
          <a:xfrm>
            <a:off x="320040" y="228600"/>
            <a:ext cx="11430000" cy="685800"/>
          </a:xfrm>
          <a:prstGeom prst="rect">
            <a:avLst/>
          </a:prstGeom>
          <a:noFill/>
        </p:spPr>
        <p:txBody>
          <a:bodyPr wrap="square">
            <a:spAutoFit/>
          </a:bodyPr>
          <a:lstStyle/>
          <a:p>
            <a:pPr algn="l"/>
            <a:r>
              <a:rPr sz="2800" b="1" i="0">
                <a:solidFill>
                  <a:srgbClr val="0F172A"/>
                </a:solidFill>
              </a:rPr>
              <a:t>Strong early validation from our beta users.</a:t>
            </a:r>
          </a:p>
        </p:txBody>
      </p:sp>
      <p:sp>
        <p:nvSpPr>
          <p:cNvPr id="5" name="Rectangle 4"/>
          <p:cNvSpPr/>
          <p:nvPr/>
        </p:nvSpPr>
        <p:spPr>
          <a:xfrm>
            <a:off x="320040" y="1234440"/>
            <a:ext cx="1152144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527048"/>
            <a:ext cx="54864"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417320"/>
            <a:ext cx="11064240" cy="365760"/>
          </a:xfrm>
          <a:prstGeom prst="rect">
            <a:avLst/>
          </a:prstGeom>
          <a:noFill/>
        </p:spPr>
        <p:txBody>
          <a:bodyPr wrap="square">
            <a:spAutoFit/>
          </a:bodyPr>
          <a:lstStyle/>
          <a:p>
            <a:pPr algn="l"/>
            <a:r>
              <a:rPr sz="1600" b="1" i="0">
                <a:solidFill>
                  <a:srgbClr val="0F172A"/>
                </a:solidFill>
              </a:rPr>
              <a:t>100 free users engaged in first 2 months.</a:t>
            </a:r>
          </a:p>
        </p:txBody>
      </p:sp>
      <p:sp>
        <p:nvSpPr>
          <p:cNvPr id="8" name="TextBox 7"/>
          <p:cNvSpPr txBox="1"/>
          <p:nvPr/>
        </p:nvSpPr>
        <p:spPr>
          <a:xfrm>
            <a:off x="502920" y="1764792"/>
            <a:ext cx="11064240" cy="411480"/>
          </a:xfrm>
          <a:prstGeom prst="rect">
            <a:avLst/>
          </a:prstGeom>
          <a:noFill/>
        </p:spPr>
        <p:txBody>
          <a:bodyPr wrap="square">
            <a:spAutoFit/>
          </a:bodyPr>
          <a:lstStyle/>
          <a:p>
            <a:pPr algn="l"/>
            <a:r>
              <a:rPr sz="1200" b="0" i="0">
                <a:solidFill>
                  <a:srgbClr val="64748B"/>
                </a:solidFill>
              </a:rPr>
              <a:t>Demonstrates demand and utility of the product.</a:t>
            </a:r>
          </a:p>
        </p:txBody>
      </p:sp>
      <p:sp>
        <p:nvSpPr>
          <p:cNvPr id="9" name="Rectangle 8"/>
          <p:cNvSpPr/>
          <p:nvPr/>
        </p:nvSpPr>
        <p:spPr>
          <a:xfrm>
            <a:off x="320040" y="2350008"/>
            <a:ext cx="54864"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2240280"/>
            <a:ext cx="11064240" cy="365760"/>
          </a:xfrm>
          <a:prstGeom prst="rect">
            <a:avLst/>
          </a:prstGeom>
          <a:noFill/>
        </p:spPr>
        <p:txBody>
          <a:bodyPr wrap="square">
            <a:spAutoFit/>
          </a:bodyPr>
          <a:lstStyle/>
          <a:p>
            <a:pPr algn="l"/>
            <a:r>
              <a:rPr sz="1600" b="1" i="0">
                <a:solidFill>
                  <a:srgbClr val="0F172A"/>
                </a:solidFill>
              </a:rPr>
              <a:t>2.9K Monthly Recurring Revenue reached in our first year.</a:t>
            </a:r>
          </a:p>
        </p:txBody>
      </p:sp>
      <p:sp>
        <p:nvSpPr>
          <p:cNvPr id="11" name="TextBox 10"/>
          <p:cNvSpPr txBox="1"/>
          <p:nvPr/>
        </p:nvSpPr>
        <p:spPr>
          <a:xfrm>
            <a:off x="502920" y="2587752"/>
            <a:ext cx="11064240" cy="411480"/>
          </a:xfrm>
          <a:prstGeom prst="rect">
            <a:avLst/>
          </a:prstGeom>
          <a:noFill/>
        </p:spPr>
        <p:txBody>
          <a:bodyPr wrap="square">
            <a:spAutoFit/>
          </a:bodyPr>
          <a:lstStyle/>
          <a:p>
            <a:pPr algn="l"/>
            <a:r>
              <a:rPr sz="1200" b="0" i="0">
                <a:solidFill>
                  <a:srgbClr val="64748B"/>
                </a:solidFill>
              </a:rPr>
              <a:t>Reflects steady user growth and interest.</a:t>
            </a:r>
          </a:p>
        </p:txBody>
      </p:sp>
      <p:sp>
        <p:nvSpPr>
          <p:cNvPr id="12" name="Rectangle 11"/>
          <p:cNvSpPr/>
          <p:nvPr/>
        </p:nvSpPr>
        <p:spPr>
          <a:xfrm>
            <a:off x="320040" y="3172968"/>
            <a:ext cx="54864"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3063240"/>
            <a:ext cx="11064240" cy="365760"/>
          </a:xfrm>
          <a:prstGeom prst="rect">
            <a:avLst/>
          </a:prstGeom>
          <a:noFill/>
        </p:spPr>
        <p:txBody>
          <a:bodyPr wrap="square">
            <a:spAutoFit/>
          </a:bodyPr>
          <a:lstStyle/>
          <a:p>
            <a:pPr algn="l"/>
            <a:r>
              <a:rPr sz="1600" b="1" i="0">
                <a:solidFill>
                  <a:srgbClr val="0F172A"/>
                </a:solidFill>
              </a:rPr>
              <a:t>High engagement: 75% of beta users returning for contract generation.</a:t>
            </a:r>
          </a:p>
        </p:txBody>
      </p:sp>
      <p:sp>
        <p:nvSpPr>
          <p:cNvPr id="14" name="TextBox 13"/>
          <p:cNvSpPr txBox="1"/>
          <p:nvPr/>
        </p:nvSpPr>
        <p:spPr>
          <a:xfrm>
            <a:off x="502920" y="3410712"/>
            <a:ext cx="11064240" cy="411480"/>
          </a:xfrm>
          <a:prstGeom prst="rect">
            <a:avLst/>
          </a:prstGeom>
          <a:noFill/>
        </p:spPr>
        <p:txBody>
          <a:bodyPr wrap="square">
            <a:spAutoFit/>
          </a:bodyPr>
          <a:lstStyle/>
          <a:p>
            <a:pPr algn="l"/>
            <a:r>
              <a:rPr sz="1200" b="0" i="0">
                <a:solidFill>
                  <a:srgbClr val="64748B"/>
                </a:solidFill>
              </a:rPr>
              <a:t>Indicates high satisfaction and value perception.</a:t>
            </a:r>
          </a:p>
        </p:txBody>
      </p:sp>
      <p:sp>
        <p:nvSpPr>
          <p:cNvPr id="15" name="Rectangle 14"/>
          <p:cNvSpPr/>
          <p:nvPr/>
        </p:nvSpPr>
        <p:spPr>
          <a:xfrm>
            <a:off x="320040" y="4754880"/>
            <a:ext cx="11521440" cy="109728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846320"/>
            <a:ext cx="11064240" cy="914400"/>
          </a:xfrm>
          <a:prstGeom prst="rect">
            <a:avLst/>
          </a:prstGeom>
          <a:noFill/>
        </p:spPr>
        <p:txBody>
          <a:bodyPr wrap="square">
            <a:spAutoFit/>
          </a:bodyPr>
          <a:lstStyle/>
          <a:p>
            <a:pPr algn="l"/>
            <a:r>
              <a:rPr sz="1200" b="0" i="1">
                <a:solidFill>
                  <a:srgbClr val="FFFFFF"/>
                </a:solidFill>
              </a:rPr>
              <a:t>""CertaFolio transformed how I draft contracts! I finally feel in control." — Sophie, Freelance Consultant"</a:t>
            </a:r>
          </a:p>
        </p:txBody>
      </p:sp>
      <p:sp>
        <p:nvSpPr>
          <p:cNvPr id="17" name="TextBox 16"/>
          <p:cNvSpPr txBox="1"/>
          <p:nvPr/>
        </p:nvSpPr>
        <p:spPr>
          <a:xfrm>
            <a:off x="320040" y="5989320"/>
            <a:ext cx="2743200" cy="365760"/>
          </a:xfrm>
          <a:prstGeom prst="rect">
            <a:avLst/>
          </a:prstGeom>
          <a:noFill/>
        </p:spPr>
        <p:txBody>
          <a:bodyPr wrap="square">
            <a:spAutoFit/>
          </a:bodyPr>
          <a:lstStyle/>
          <a:p>
            <a:pPr algn="l"/>
            <a:r>
              <a:rPr sz="1100" b="1" i="0">
                <a:solidFill>
                  <a:srgbClr val="0F172A"/>
                </a:solidFill>
              </a:rPr>
              <a:t>Next Milestones:</a:t>
            </a:r>
          </a:p>
        </p:txBody>
      </p:sp>
      <p:sp>
        <p:nvSpPr>
          <p:cNvPr id="18" name="TextBox 17"/>
          <p:cNvSpPr txBox="1"/>
          <p:nvPr/>
        </p:nvSpPr>
        <p:spPr>
          <a:xfrm>
            <a:off x="2286000" y="5989320"/>
            <a:ext cx="9601200" cy="365760"/>
          </a:xfrm>
          <a:prstGeom prst="rect">
            <a:avLst/>
          </a:prstGeom>
          <a:noFill/>
        </p:spPr>
        <p:txBody>
          <a:bodyPr wrap="square">
            <a:spAutoFit/>
          </a:bodyPr>
          <a:lstStyle/>
          <a:p>
            <a:pPr algn="l"/>
            <a:r>
              <a:rPr sz="1100" b="0" i="0">
                <a:solidFill>
                  <a:srgbClr val="64748B"/>
                </a:solidFill>
              </a:rPr>
              <a:t>Break-even by Month 10  ·  Launch promotional campaigns enhancing organic growth.  ·  Expand feature set based on user feedback leading to first paid tiers.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0" y="182880"/>
            <a:ext cx="2377440" cy="320040"/>
          </a:xfrm>
          <a:prstGeom prst="rect">
            <a:avLst/>
          </a:prstGeom>
          <a:noFill/>
        </p:spPr>
        <p:txBody>
          <a:bodyPr wrap="square">
            <a:spAutoFit/>
          </a:bodyPr>
          <a:lstStyle/>
          <a:p>
            <a:pPr algn="r"/>
            <a:r>
              <a:rPr sz="800" b="0" i="0">
                <a:solidFill>
                  <a:srgbClr val="64748B"/>
                </a:solidFill>
              </a:rPr>
              <a:t>COMPETITION</a:t>
            </a:r>
          </a:p>
        </p:txBody>
      </p:sp>
      <p:sp>
        <p:nvSpPr>
          <p:cNvPr id="4" name="TextBox 3"/>
          <p:cNvSpPr txBox="1"/>
          <p:nvPr/>
        </p:nvSpPr>
        <p:spPr>
          <a:xfrm>
            <a:off x="320040" y="228600"/>
            <a:ext cx="11430000" cy="685800"/>
          </a:xfrm>
          <a:prstGeom prst="rect">
            <a:avLst/>
          </a:prstGeom>
          <a:noFill/>
        </p:spPr>
        <p:txBody>
          <a:bodyPr wrap="square">
            <a:spAutoFit/>
          </a:bodyPr>
          <a:lstStyle/>
          <a:p>
            <a:pPr algn="l"/>
            <a:r>
              <a:rPr sz="2800" b="1" i="0">
                <a:solidFill>
                  <a:srgbClr val="0F172A"/>
                </a:solidFill>
              </a:rPr>
              <a:t>Innovating where others fall short.</a:t>
            </a:r>
          </a:p>
        </p:txBody>
      </p:sp>
      <p:sp>
        <p:nvSpPr>
          <p:cNvPr id="5" name="Rectangle 4"/>
          <p:cNvSpPr/>
          <p:nvPr/>
        </p:nvSpPr>
        <p:spPr>
          <a:xfrm>
            <a:off x="320040" y="1234440"/>
            <a:ext cx="1152144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371600"/>
            <a:ext cx="2286000" cy="5029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1371600"/>
            <a:ext cx="2286000" cy="502920"/>
          </a:xfrm>
          <a:prstGeom prst="rect">
            <a:avLst/>
          </a:prstGeom>
          <a:noFill/>
        </p:spPr>
        <p:txBody>
          <a:bodyPr wrap="square">
            <a:spAutoFit/>
          </a:bodyPr>
          <a:lstStyle/>
          <a:p>
            <a:pPr algn="ctr"/>
            <a:r>
              <a:rPr sz="1100" b="1" i="0">
                <a:solidFill>
                  <a:srgbClr val="FFFFFF"/>
                </a:solidFill>
              </a:rPr>
              <a:t>Competitor</a:t>
            </a:r>
          </a:p>
        </p:txBody>
      </p:sp>
      <p:sp>
        <p:nvSpPr>
          <p:cNvPr id="8" name="Rectangle 7"/>
          <p:cNvSpPr/>
          <p:nvPr/>
        </p:nvSpPr>
        <p:spPr>
          <a:xfrm>
            <a:off x="2606040" y="1371600"/>
            <a:ext cx="1737360" cy="5029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606040" y="1371600"/>
            <a:ext cx="1737360" cy="502920"/>
          </a:xfrm>
          <a:prstGeom prst="rect">
            <a:avLst/>
          </a:prstGeom>
          <a:noFill/>
        </p:spPr>
        <p:txBody>
          <a:bodyPr wrap="square">
            <a:spAutoFit/>
          </a:bodyPr>
          <a:lstStyle/>
          <a:p>
            <a:pPr algn="ctr"/>
            <a:r>
              <a:rPr sz="1000" b="1" i="0">
                <a:solidFill>
                  <a:srgbClr val="FFFFFF"/>
                </a:solidFill>
              </a:rPr>
              <a:t>WhatsApp</a:t>
            </a:r>
          </a:p>
        </p:txBody>
      </p:sp>
      <p:sp>
        <p:nvSpPr>
          <p:cNvPr id="10" name="Rectangle 9"/>
          <p:cNvSpPr/>
          <p:nvPr/>
        </p:nvSpPr>
        <p:spPr>
          <a:xfrm>
            <a:off x="4343400" y="1371600"/>
            <a:ext cx="1737360" cy="5029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43400" y="1371600"/>
            <a:ext cx="1737360" cy="502920"/>
          </a:xfrm>
          <a:prstGeom prst="rect">
            <a:avLst/>
          </a:prstGeom>
          <a:noFill/>
        </p:spPr>
        <p:txBody>
          <a:bodyPr wrap="square">
            <a:spAutoFit/>
          </a:bodyPr>
          <a:lstStyle/>
          <a:p>
            <a:pPr algn="ctr"/>
            <a:r>
              <a:rPr sz="1000" b="1" i="0">
                <a:solidFill>
                  <a:srgbClr val="FFFFFF"/>
                </a:solidFill>
              </a:rPr>
              <a:t>GST</a:t>
            </a:r>
          </a:p>
        </p:txBody>
      </p:sp>
      <p:sp>
        <p:nvSpPr>
          <p:cNvPr id="12" name="Rectangle 11"/>
          <p:cNvSpPr/>
          <p:nvPr/>
        </p:nvSpPr>
        <p:spPr>
          <a:xfrm>
            <a:off x="6080760" y="1371600"/>
            <a:ext cx="1737360" cy="5029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80760" y="1371600"/>
            <a:ext cx="1737360" cy="502920"/>
          </a:xfrm>
          <a:prstGeom prst="rect">
            <a:avLst/>
          </a:prstGeom>
          <a:noFill/>
        </p:spPr>
        <p:txBody>
          <a:bodyPr wrap="square">
            <a:spAutoFit/>
          </a:bodyPr>
          <a:lstStyle/>
          <a:p>
            <a:pPr algn="ctr"/>
            <a:r>
              <a:rPr sz="1000" b="1" i="0">
                <a:solidFill>
                  <a:srgbClr val="FFFFFF"/>
                </a:solidFill>
              </a:rPr>
              <a:t>Auto-Remind</a:t>
            </a:r>
          </a:p>
        </p:txBody>
      </p:sp>
      <p:sp>
        <p:nvSpPr>
          <p:cNvPr id="14" name="Rectangle 13"/>
          <p:cNvSpPr/>
          <p:nvPr/>
        </p:nvSpPr>
        <p:spPr>
          <a:xfrm>
            <a:off x="7818120" y="1371600"/>
            <a:ext cx="1737360" cy="5029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18120" y="1371600"/>
            <a:ext cx="1737360" cy="502920"/>
          </a:xfrm>
          <a:prstGeom prst="rect">
            <a:avLst/>
          </a:prstGeom>
          <a:noFill/>
        </p:spPr>
        <p:txBody>
          <a:bodyPr wrap="square">
            <a:spAutoFit/>
          </a:bodyPr>
          <a:lstStyle/>
          <a:p>
            <a:pPr algn="ctr"/>
            <a:r>
              <a:rPr sz="1000" b="1" i="0">
                <a:solidFill>
                  <a:srgbClr val="FFFFFF"/>
                </a:solidFill>
              </a:rPr>
              <a:t>Freelancer</a:t>
            </a:r>
          </a:p>
        </p:txBody>
      </p:sp>
      <p:sp>
        <p:nvSpPr>
          <p:cNvPr id="16" name="Rectangle 15"/>
          <p:cNvSpPr/>
          <p:nvPr/>
        </p:nvSpPr>
        <p:spPr>
          <a:xfrm>
            <a:off x="9555480" y="1371600"/>
            <a:ext cx="1737360" cy="5029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555480" y="1371600"/>
            <a:ext cx="1737360" cy="502920"/>
          </a:xfrm>
          <a:prstGeom prst="rect">
            <a:avLst/>
          </a:prstGeom>
          <a:noFill/>
        </p:spPr>
        <p:txBody>
          <a:bodyPr wrap="square">
            <a:spAutoFit/>
          </a:bodyPr>
          <a:lstStyle/>
          <a:p>
            <a:pPr algn="ctr"/>
            <a:r>
              <a:rPr sz="1000" b="1" i="0">
                <a:solidFill>
                  <a:srgbClr val="FFFFFF"/>
                </a:solidFill>
              </a:rPr>
              <a:t>₹ Affordable</a:t>
            </a:r>
          </a:p>
        </p:txBody>
      </p:sp>
      <p:sp>
        <p:nvSpPr>
          <p:cNvPr id="18" name="Rectangle 17"/>
          <p:cNvSpPr/>
          <p:nvPr/>
        </p:nvSpPr>
        <p:spPr>
          <a:xfrm>
            <a:off x="320040" y="1874520"/>
            <a:ext cx="2286000" cy="5029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0040" y="1874520"/>
            <a:ext cx="2286000" cy="502920"/>
          </a:xfrm>
          <a:prstGeom prst="rect">
            <a:avLst/>
          </a:prstGeom>
          <a:noFill/>
        </p:spPr>
        <p:txBody>
          <a:bodyPr wrap="square">
            <a:spAutoFit/>
          </a:bodyPr>
          <a:lstStyle/>
          <a:p>
            <a:pPr algn="ctr"/>
            <a:r>
              <a:rPr sz="1100" b="0" i="0">
                <a:solidFill>
                  <a:srgbClr val="0F172A"/>
                </a:solidFill>
              </a:rPr>
              <a:t>DocuSign</a:t>
            </a:r>
          </a:p>
        </p:txBody>
      </p:sp>
      <p:sp>
        <p:nvSpPr>
          <p:cNvPr id="20" name="Rectangle 19"/>
          <p:cNvSpPr/>
          <p:nvPr/>
        </p:nvSpPr>
        <p:spPr>
          <a:xfrm>
            <a:off x="2606040" y="1874520"/>
            <a:ext cx="1737360" cy="5029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606040" y="1874520"/>
            <a:ext cx="1737360" cy="502920"/>
          </a:xfrm>
          <a:prstGeom prst="rect">
            <a:avLst/>
          </a:prstGeom>
          <a:noFill/>
        </p:spPr>
        <p:txBody>
          <a:bodyPr wrap="square">
            <a:spAutoFit/>
          </a:bodyPr>
          <a:lstStyle/>
          <a:p>
            <a:pPr algn="ctr"/>
            <a:r>
              <a:rPr sz="1600" b="1" i="0">
                <a:solidFill>
                  <a:srgbClr val="DC2626"/>
                </a:solidFill>
              </a:rPr>
              <a:t>✗</a:t>
            </a:r>
          </a:p>
        </p:txBody>
      </p:sp>
      <p:sp>
        <p:nvSpPr>
          <p:cNvPr id="22" name="Rectangle 21"/>
          <p:cNvSpPr/>
          <p:nvPr/>
        </p:nvSpPr>
        <p:spPr>
          <a:xfrm>
            <a:off x="4343400" y="1874520"/>
            <a:ext cx="1737360" cy="5029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43400" y="1874520"/>
            <a:ext cx="1737360" cy="502920"/>
          </a:xfrm>
          <a:prstGeom prst="rect">
            <a:avLst/>
          </a:prstGeom>
          <a:noFill/>
        </p:spPr>
        <p:txBody>
          <a:bodyPr wrap="square">
            <a:spAutoFit/>
          </a:bodyPr>
          <a:lstStyle/>
          <a:p>
            <a:pPr algn="ctr"/>
            <a:r>
              <a:rPr sz="1600" b="1" i="0">
                <a:solidFill>
                  <a:srgbClr val="DC2626"/>
                </a:solidFill>
              </a:rPr>
              <a:t>✗</a:t>
            </a:r>
          </a:p>
        </p:txBody>
      </p:sp>
      <p:sp>
        <p:nvSpPr>
          <p:cNvPr id="24" name="Rectangle 23"/>
          <p:cNvSpPr/>
          <p:nvPr/>
        </p:nvSpPr>
        <p:spPr>
          <a:xfrm>
            <a:off x="6080760" y="1874520"/>
            <a:ext cx="1737360" cy="5029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80760" y="1874520"/>
            <a:ext cx="1737360" cy="502920"/>
          </a:xfrm>
          <a:prstGeom prst="rect">
            <a:avLst/>
          </a:prstGeom>
          <a:noFill/>
        </p:spPr>
        <p:txBody>
          <a:bodyPr wrap="square">
            <a:spAutoFit/>
          </a:bodyPr>
          <a:lstStyle/>
          <a:p>
            <a:pPr algn="ctr"/>
            <a:r>
              <a:rPr sz="1600" b="1" i="0">
                <a:solidFill>
                  <a:srgbClr val="DC2626"/>
                </a:solidFill>
              </a:rPr>
              <a:t>✗</a:t>
            </a:r>
          </a:p>
        </p:txBody>
      </p:sp>
      <p:sp>
        <p:nvSpPr>
          <p:cNvPr id="26" name="Rectangle 25"/>
          <p:cNvSpPr/>
          <p:nvPr/>
        </p:nvSpPr>
        <p:spPr>
          <a:xfrm>
            <a:off x="7818120" y="1874520"/>
            <a:ext cx="1737360" cy="5029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18120" y="1874520"/>
            <a:ext cx="1737360" cy="502920"/>
          </a:xfrm>
          <a:prstGeom prst="rect">
            <a:avLst/>
          </a:prstGeom>
          <a:noFill/>
        </p:spPr>
        <p:txBody>
          <a:bodyPr wrap="square">
            <a:spAutoFit/>
          </a:bodyPr>
          <a:lstStyle/>
          <a:p>
            <a:pPr algn="ctr"/>
            <a:r>
              <a:rPr sz="1600" b="1" i="0">
                <a:solidFill>
                  <a:srgbClr val="DC2626"/>
                </a:solidFill>
              </a:rPr>
              <a:t>✗</a:t>
            </a:r>
          </a:p>
        </p:txBody>
      </p:sp>
      <p:sp>
        <p:nvSpPr>
          <p:cNvPr id="28" name="Rectangle 27"/>
          <p:cNvSpPr/>
          <p:nvPr/>
        </p:nvSpPr>
        <p:spPr>
          <a:xfrm>
            <a:off x="9555480" y="1874520"/>
            <a:ext cx="1737360" cy="5029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55480" y="1874520"/>
            <a:ext cx="1737360" cy="502920"/>
          </a:xfrm>
          <a:prstGeom prst="rect">
            <a:avLst/>
          </a:prstGeom>
          <a:noFill/>
        </p:spPr>
        <p:txBody>
          <a:bodyPr wrap="square">
            <a:spAutoFit/>
          </a:bodyPr>
          <a:lstStyle/>
          <a:p>
            <a:pPr algn="ctr"/>
            <a:r>
              <a:rPr sz="1600" b="1" i="0">
                <a:solidFill>
                  <a:srgbClr val="DC2626"/>
                </a:solidFill>
              </a:rPr>
              <a:t>✗</a:t>
            </a:r>
          </a:p>
        </p:txBody>
      </p:sp>
      <p:sp>
        <p:nvSpPr>
          <p:cNvPr id="30" name="Rectangle 29"/>
          <p:cNvSpPr/>
          <p:nvPr/>
        </p:nvSpPr>
        <p:spPr>
          <a:xfrm>
            <a:off x="320040" y="2377440"/>
            <a:ext cx="2286000" cy="5029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0040" y="2377440"/>
            <a:ext cx="2286000" cy="502920"/>
          </a:xfrm>
          <a:prstGeom prst="rect">
            <a:avLst/>
          </a:prstGeom>
          <a:noFill/>
        </p:spPr>
        <p:txBody>
          <a:bodyPr wrap="square">
            <a:spAutoFit/>
          </a:bodyPr>
          <a:lstStyle/>
          <a:p>
            <a:pPr algn="ctr"/>
            <a:r>
              <a:rPr sz="1100" b="0" i="0">
                <a:solidFill>
                  <a:srgbClr val="0F172A"/>
                </a:solidFill>
              </a:rPr>
              <a:t>ContractSafe</a:t>
            </a:r>
          </a:p>
        </p:txBody>
      </p:sp>
      <p:sp>
        <p:nvSpPr>
          <p:cNvPr id="32" name="Rectangle 31"/>
          <p:cNvSpPr/>
          <p:nvPr/>
        </p:nvSpPr>
        <p:spPr>
          <a:xfrm>
            <a:off x="2606040" y="2377440"/>
            <a:ext cx="1737360" cy="5029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606040" y="2377440"/>
            <a:ext cx="1737360" cy="502920"/>
          </a:xfrm>
          <a:prstGeom prst="rect">
            <a:avLst/>
          </a:prstGeom>
          <a:noFill/>
        </p:spPr>
        <p:txBody>
          <a:bodyPr wrap="square">
            <a:spAutoFit/>
          </a:bodyPr>
          <a:lstStyle/>
          <a:p>
            <a:pPr algn="ctr"/>
            <a:r>
              <a:rPr sz="1600" b="1" i="0">
                <a:solidFill>
                  <a:srgbClr val="DC2626"/>
                </a:solidFill>
              </a:rPr>
              <a:t>✗</a:t>
            </a:r>
          </a:p>
        </p:txBody>
      </p:sp>
      <p:sp>
        <p:nvSpPr>
          <p:cNvPr id="34" name="Rectangle 33"/>
          <p:cNvSpPr/>
          <p:nvPr/>
        </p:nvSpPr>
        <p:spPr>
          <a:xfrm>
            <a:off x="4343400" y="2377440"/>
            <a:ext cx="1737360" cy="5029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343400" y="2377440"/>
            <a:ext cx="1737360" cy="502920"/>
          </a:xfrm>
          <a:prstGeom prst="rect">
            <a:avLst/>
          </a:prstGeom>
          <a:noFill/>
        </p:spPr>
        <p:txBody>
          <a:bodyPr wrap="square">
            <a:spAutoFit/>
          </a:bodyPr>
          <a:lstStyle/>
          <a:p>
            <a:pPr algn="ctr"/>
            <a:r>
              <a:rPr sz="1600" b="1" i="0">
                <a:solidFill>
                  <a:srgbClr val="DC2626"/>
                </a:solidFill>
              </a:rPr>
              <a:t>✗</a:t>
            </a:r>
          </a:p>
        </p:txBody>
      </p:sp>
      <p:sp>
        <p:nvSpPr>
          <p:cNvPr id="36" name="Rectangle 35"/>
          <p:cNvSpPr/>
          <p:nvPr/>
        </p:nvSpPr>
        <p:spPr>
          <a:xfrm>
            <a:off x="6080760" y="2377440"/>
            <a:ext cx="1737360" cy="5029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080760" y="2377440"/>
            <a:ext cx="1737360" cy="502920"/>
          </a:xfrm>
          <a:prstGeom prst="rect">
            <a:avLst/>
          </a:prstGeom>
          <a:noFill/>
        </p:spPr>
        <p:txBody>
          <a:bodyPr wrap="square">
            <a:spAutoFit/>
          </a:bodyPr>
          <a:lstStyle/>
          <a:p>
            <a:pPr algn="ctr"/>
            <a:r>
              <a:rPr sz="1600" b="1" i="0">
                <a:solidFill>
                  <a:srgbClr val="DC2626"/>
                </a:solidFill>
              </a:rPr>
              <a:t>✗</a:t>
            </a:r>
          </a:p>
        </p:txBody>
      </p:sp>
      <p:sp>
        <p:nvSpPr>
          <p:cNvPr id="38" name="Rectangle 37"/>
          <p:cNvSpPr/>
          <p:nvPr/>
        </p:nvSpPr>
        <p:spPr>
          <a:xfrm>
            <a:off x="7818120" y="2377440"/>
            <a:ext cx="1737360" cy="5029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18120" y="2377440"/>
            <a:ext cx="1737360" cy="502920"/>
          </a:xfrm>
          <a:prstGeom prst="rect">
            <a:avLst/>
          </a:prstGeom>
          <a:noFill/>
        </p:spPr>
        <p:txBody>
          <a:bodyPr wrap="square">
            <a:spAutoFit/>
          </a:bodyPr>
          <a:lstStyle/>
          <a:p>
            <a:pPr algn="ctr"/>
            <a:r>
              <a:rPr sz="1600" b="1" i="0">
                <a:solidFill>
                  <a:srgbClr val="DC2626"/>
                </a:solidFill>
              </a:rPr>
              <a:t>✗</a:t>
            </a:r>
          </a:p>
        </p:txBody>
      </p:sp>
      <p:sp>
        <p:nvSpPr>
          <p:cNvPr id="40" name="Rectangle 39"/>
          <p:cNvSpPr/>
          <p:nvPr/>
        </p:nvSpPr>
        <p:spPr>
          <a:xfrm>
            <a:off x="9555480" y="2377440"/>
            <a:ext cx="1737360" cy="5029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555480" y="2377440"/>
            <a:ext cx="1737360" cy="502920"/>
          </a:xfrm>
          <a:prstGeom prst="rect">
            <a:avLst/>
          </a:prstGeom>
          <a:noFill/>
        </p:spPr>
        <p:txBody>
          <a:bodyPr wrap="square">
            <a:spAutoFit/>
          </a:bodyPr>
          <a:lstStyle/>
          <a:p>
            <a:pPr algn="ctr"/>
            <a:r>
              <a:rPr sz="1600" b="1" i="0">
                <a:solidFill>
                  <a:srgbClr val="16A34A"/>
                </a:solidFill>
              </a:rPr>
              <a:t>✓</a:t>
            </a:r>
          </a:p>
        </p:txBody>
      </p:sp>
      <p:sp>
        <p:nvSpPr>
          <p:cNvPr id="42" name="Rectangle 41"/>
          <p:cNvSpPr/>
          <p:nvPr/>
        </p:nvSpPr>
        <p:spPr>
          <a:xfrm>
            <a:off x="320040" y="2880360"/>
            <a:ext cx="2286000" cy="5029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20040" y="2880360"/>
            <a:ext cx="2286000" cy="502920"/>
          </a:xfrm>
          <a:prstGeom prst="rect">
            <a:avLst/>
          </a:prstGeom>
          <a:noFill/>
        </p:spPr>
        <p:txBody>
          <a:bodyPr wrap="square">
            <a:spAutoFit/>
          </a:bodyPr>
          <a:lstStyle/>
          <a:p>
            <a:pPr algn="ctr"/>
            <a:r>
              <a:rPr sz="1100" b="0" i="0">
                <a:solidFill>
                  <a:srgbClr val="0F172A"/>
                </a:solidFill>
              </a:rPr>
              <a:t>Fiverr Workspace</a:t>
            </a:r>
          </a:p>
        </p:txBody>
      </p:sp>
      <p:sp>
        <p:nvSpPr>
          <p:cNvPr id="44" name="Rectangle 43"/>
          <p:cNvSpPr/>
          <p:nvPr/>
        </p:nvSpPr>
        <p:spPr>
          <a:xfrm>
            <a:off x="2606040" y="2880360"/>
            <a:ext cx="1737360" cy="5029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606040" y="2880360"/>
            <a:ext cx="1737360" cy="502920"/>
          </a:xfrm>
          <a:prstGeom prst="rect">
            <a:avLst/>
          </a:prstGeom>
          <a:noFill/>
        </p:spPr>
        <p:txBody>
          <a:bodyPr wrap="square">
            <a:spAutoFit/>
          </a:bodyPr>
          <a:lstStyle/>
          <a:p>
            <a:pPr algn="ctr"/>
            <a:r>
              <a:rPr sz="1600" b="1" i="0">
                <a:solidFill>
                  <a:srgbClr val="DC2626"/>
                </a:solidFill>
              </a:rPr>
              <a:t>✗</a:t>
            </a:r>
          </a:p>
        </p:txBody>
      </p:sp>
      <p:sp>
        <p:nvSpPr>
          <p:cNvPr id="46" name="Rectangle 45"/>
          <p:cNvSpPr/>
          <p:nvPr/>
        </p:nvSpPr>
        <p:spPr>
          <a:xfrm>
            <a:off x="4343400" y="2880360"/>
            <a:ext cx="1737360" cy="5029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343400" y="2880360"/>
            <a:ext cx="1737360" cy="502920"/>
          </a:xfrm>
          <a:prstGeom prst="rect">
            <a:avLst/>
          </a:prstGeom>
          <a:noFill/>
        </p:spPr>
        <p:txBody>
          <a:bodyPr wrap="square">
            <a:spAutoFit/>
          </a:bodyPr>
          <a:lstStyle/>
          <a:p>
            <a:pPr algn="ctr"/>
            <a:r>
              <a:rPr sz="1600" b="1" i="0">
                <a:solidFill>
                  <a:srgbClr val="DC2626"/>
                </a:solidFill>
              </a:rPr>
              <a:t>✗</a:t>
            </a:r>
          </a:p>
        </p:txBody>
      </p:sp>
      <p:sp>
        <p:nvSpPr>
          <p:cNvPr id="48" name="Rectangle 47"/>
          <p:cNvSpPr/>
          <p:nvPr/>
        </p:nvSpPr>
        <p:spPr>
          <a:xfrm>
            <a:off x="6080760" y="2880360"/>
            <a:ext cx="1737360" cy="5029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080760" y="2880360"/>
            <a:ext cx="1737360" cy="502920"/>
          </a:xfrm>
          <a:prstGeom prst="rect">
            <a:avLst/>
          </a:prstGeom>
          <a:noFill/>
        </p:spPr>
        <p:txBody>
          <a:bodyPr wrap="square">
            <a:spAutoFit/>
          </a:bodyPr>
          <a:lstStyle/>
          <a:p>
            <a:pPr algn="ctr"/>
            <a:r>
              <a:rPr sz="1600" b="1" i="0">
                <a:solidFill>
                  <a:srgbClr val="DC2626"/>
                </a:solidFill>
              </a:rPr>
              <a:t>✗</a:t>
            </a:r>
          </a:p>
        </p:txBody>
      </p:sp>
      <p:sp>
        <p:nvSpPr>
          <p:cNvPr id="50" name="Rectangle 49"/>
          <p:cNvSpPr/>
          <p:nvPr/>
        </p:nvSpPr>
        <p:spPr>
          <a:xfrm>
            <a:off x="7818120" y="2880360"/>
            <a:ext cx="1737360" cy="5029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818120" y="2880360"/>
            <a:ext cx="1737360" cy="502920"/>
          </a:xfrm>
          <a:prstGeom prst="rect">
            <a:avLst/>
          </a:prstGeom>
          <a:noFill/>
        </p:spPr>
        <p:txBody>
          <a:bodyPr wrap="square">
            <a:spAutoFit/>
          </a:bodyPr>
          <a:lstStyle/>
          <a:p>
            <a:pPr algn="ctr"/>
            <a:r>
              <a:rPr sz="1600" b="1" i="0">
                <a:solidFill>
                  <a:srgbClr val="16A34A"/>
                </a:solidFill>
              </a:rPr>
              <a:t>✓</a:t>
            </a:r>
          </a:p>
        </p:txBody>
      </p:sp>
      <p:sp>
        <p:nvSpPr>
          <p:cNvPr id="52" name="Rectangle 51"/>
          <p:cNvSpPr/>
          <p:nvPr/>
        </p:nvSpPr>
        <p:spPr>
          <a:xfrm>
            <a:off x="9555480" y="2880360"/>
            <a:ext cx="1737360" cy="5029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555480" y="2880360"/>
            <a:ext cx="1737360" cy="502920"/>
          </a:xfrm>
          <a:prstGeom prst="rect">
            <a:avLst/>
          </a:prstGeom>
          <a:noFill/>
        </p:spPr>
        <p:txBody>
          <a:bodyPr wrap="square">
            <a:spAutoFit/>
          </a:bodyPr>
          <a:lstStyle/>
          <a:p>
            <a:pPr algn="ctr"/>
            <a:r>
              <a:rPr sz="1600" b="1" i="0">
                <a:solidFill>
                  <a:srgbClr val="16A34A"/>
                </a:solidFill>
              </a:rPr>
              <a:t>✓</a:t>
            </a:r>
          </a:p>
        </p:txBody>
      </p:sp>
      <p:sp>
        <p:nvSpPr>
          <p:cNvPr id="54" name="Rectangle 53"/>
          <p:cNvSpPr/>
          <p:nvPr/>
        </p:nvSpPr>
        <p:spPr>
          <a:xfrm>
            <a:off x="320040" y="3383280"/>
            <a:ext cx="2286000" cy="5029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20040" y="3383280"/>
            <a:ext cx="2286000" cy="502920"/>
          </a:xfrm>
          <a:prstGeom prst="rect">
            <a:avLst/>
          </a:prstGeom>
          <a:noFill/>
        </p:spPr>
        <p:txBody>
          <a:bodyPr wrap="square">
            <a:spAutoFit/>
          </a:bodyPr>
          <a:lstStyle/>
          <a:p>
            <a:pPr algn="ctr"/>
            <a:r>
              <a:rPr sz="1100" b="0" i="0">
                <a:solidFill>
                  <a:srgbClr val="0F172A"/>
                </a:solidFill>
              </a:rPr>
              <a:t>Ironclad</a:t>
            </a:r>
          </a:p>
        </p:txBody>
      </p:sp>
      <p:sp>
        <p:nvSpPr>
          <p:cNvPr id="56" name="Rectangle 55"/>
          <p:cNvSpPr/>
          <p:nvPr/>
        </p:nvSpPr>
        <p:spPr>
          <a:xfrm>
            <a:off x="2606040" y="3383280"/>
            <a:ext cx="1737360" cy="5029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606040" y="3383280"/>
            <a:ext cx="1737360" cy="502920"/>
          </a:xfrm>
          <a:prstGeom prst="rect">
            <a:avLst/>
          </a:prstGeom>
          <a:noFill/>
        </p:spPr>
        <p:txBody>
          <a:bodyPr wrap="square">
            <a:spAutoFit/>
          </a:bodyPr>
          <a:lstStyle/>
          <a:p>
            <a:pPr algn="ctr"/>
            <a:r>
              <a:rPr sz="1600" b="1" i="0">
                <a:solidFill>
                  <a:srgbClr val="DC2626"/>
                </a:solidFill>
              </a:rPr>
              <a:t>✗</a:t>
            </a:r>
          </a:p>
        </p:txBody>
      </p:sp>
      <p:sp>
        <p:nvSpPr>
          <p:cNvPr id="58" name="Rectangle 57"/>
          <p:cNvSpPr/>
          <p:nvPr/>
        </p:nvSpPr>
        <p:spPr>
          <a:xfrm>
            <a:off x="4343400" y="3383280"/>
            <a:ext cx="1737360" cy="5029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343400" y="3383280"/>
            <a:ext cx="1737360" cy="502920"/>
          </a:xfrm>
          <a:prstGeom prst="rect">
            <a:avLst/>
          </a:prstGeom>
          <a:noFill/>
        </p:spPr>
        <p:txBody>
          <a:bodyPr wrap="square">
            <a:spAutoFit/>
          </a:bodyPr>
          <a:lstStyle/>
          <a:p>
            <a:pPr algn="ctr"/>
            <a:r>
              <a:rPr sz="1600" b="1" i="0">
                <a:solidFill>
                  <a:srgbClr val="DC2626"/>
                </a:solidFill>
              </a:rPr>
              <a:t>✗</a:t>
            </a:r>
          </a:p>
        </p:txBody>
      </p:sp>
      <p:sp>
        <p:nvSpPr>
          <p:cNvPr id="60" name="Rectangle 59"/>
          <p:cNvSpPr/>
          <p:nvPr/>
        </p:nvSpPr>
        <p:spPr>
          <a:xfrm>
            <a:off x="6080760" y="3383280"/>
            <a:ext cx="1737360" cy="5029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080760" y="3383280"/>
            <a:ext cx="1737360" cy="502920"/>
          </a:xfrm>
          <a:prstGeom prst="rect">
            <a:avLst/>
          </a:prstGeom>
          <a:noFill/>
        </p:spPr>
        <p:txBody>
          <a:bodyPr wrap="square">
            <a:spAutoFit/>
          </a:bodyPr>
          <a:lstStyle/>
          <a:p>
            <a:pPr algn="ctr"/>
            <a:r>
              <a:rPr sz="1600" b="1" i="0">
                <a:solidFill>
                  <a:srgbClr val="DC2626"/>
                </a:solidFill>
              </a:rPr>
              <a:t>✗</a:t>
            </a:r>
          </a:p>
        </p:txBody>
      </p:sp>
      <p:sp>
        <p:nvSpPr>
          <p:cNvPr id="62" name="Rectangle 61"/>
          <p:cNvSpPr/>
          <p:nvPr/>
        </p:nvSpPr>
        <p:spPr>
          <a:xfrm>
            <a:off x="7818120" y="3383280"/>
            <a:ext cx="1737360" cy="5029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818120" y="3383280"/>
            <a:ext cx="1737360" cy="502920"/>
          </a:xfrm>
          <a:prstGeom prst="rect">
            <a:avLst/>
          </a:prstGeom>
          <a:noFill/>
        </p:spPr>
        <p:txBody>
          <a:bodyPr wrap="square">
            <a:spAutoFit/>
          </a:bodyPr>
          <a:lstStyle/>
          <a:p>
            <a:pPr algn="ctr"/>
            <a:r>
              <a:rPr sz="1600" b="1" i="0">
                <a:solidFill>
                  <a:srgbClr val="DC2626"/>
                </a:solidFill>
              </a:rPr>
              <a:t>✗</a:t>
            </a:r>
          </a:p>
        </p:txBody>
      </p:sp>
      <p:sp>
        <p:nvSpPr>
          <p:cNvPr id="64" name="Rectangle 63"/>
          <p:cNvSpPr/>
          <p:nvPr/>
        </p:nvSpPr>
        <p:spPr>
          <a:xfrm>
            <a:off x="9555480" y="3383280"/>
            <a:ext cx="1737360" cy="5029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555480" y="3383280"/>
            <a:ext cx="1737360" cy="502920"/>
          </a:xfrm>
          <a:prstGeom prst="rect">
            <a:avLst/>
          </a:prstGeom>
          <a:noFill/>
        </p:spPr>
        <p:txBody>
          <a:bodyPr wrap="square">
            <a:spAutoFit/>
          </a:bodyPr>
          <a:lstStyle/>
          <a:p>
            <a:pPr algn="ctr"/>
            <a:r>
              <a:rPr sz="1600" b="1" i="0">
                <a:solidFill>
                  <a:srgbClr val="DC2626"/>
                </a:solidFill>
              </a:rPr>
              <a:t>✗</a:t>
            </a:r>
          </a:p>
        </p:txBody>
      </p:sp>
      <p:sp>
        <p:nvSpPr>
          <p:cNvPr id="66" name="Rectangle 65"/>
          <p:cNvSpPr/>
          <p:nvPr/>
        </p:nvSpPr>
        <p:spPr>
          <a:xfrm>
            <a:off x="320040" y="3886200"/>
            <a:ext cx="2286000" cy="5029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20040" y="3886200"/>
            <a:ext cx="2286000" cy="502920"/>
          </a:xfrm>
          <a:prstGeom prst="rect">
            <a:avLst/>
          </a:prstGeom>
          <a:noFill/>
        </p:spPr>
        <p:txBody>
          <a:bodyPr wrap="square">
            <a:spAutoFit/>
          </a:bodyPr>
          <a:lstStyle/>
          <a:p>
            <a:pPr algn="ctr"/>
            <a:r>
              <a:rPr sz="1100" b="1" i="0">
                <a:solidFill>
                  <a:srgbClr val="FFFFFF"/>
                </a:solidFill>
              </a:rPr>
              <a:t>✦ Us - CertaFolio</a:t>
            </a:r>
          </a:p>
        </p:txBody>
      </p:sp>
      <p:sp>
        <p:nvSpPr>
          <p:cNvPr id="68" name="Rectangle 67"/>
          <p:cNvSpPr/>
          <p:nvPr/>
        </p:nvSpPr>
        <p:spPr>
          <a:xfrm>
            <a:off x="2606040" y="3886200"/>
            <a:ext cx="1737360" cy="5029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2606040" y="3886200"/>
            <a:ext cx="1737360" cy="502920"/>
          </a:xfrm>
          <a:prstGeom prst="rect">
            <a:avLst/>
          </a:prstGeom>
          <a:noFill/>
        </p:spPr>
        <p:txBody>
          <a:bodyPr wrap="square">
            <a:spAutoFit/>
          </a:bodyPr>
          <a:lstStyle/>
          <a:p>
            <a:pPr algn="ctr"/>
            <a:r>
              <a:rPr sz="1600" b="1" i="0">
                <a:solidFill>
                  <a:srgbClr val="FFFFFF"/>
                </a:solidFill>
              </a:rPr>
              <a:t>✓</a:t>
            </a:r>
          </a:p>
        </p:txBody>
      </p:sp>
      <p:sp>
        <p:nvSpPr>
          <p:cNvPr id="70" name="Rectangle 69"/>
          <p:cNvSpPr/>
          <p:nvPr/>
        </p:nvSpPr>
        <p:spPr>
          <a:xfrm>
            <a:off x="4343400" y="3886200"/>
            <a:ext cx="1737360" cy="5029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4343400" y="3886200"/>
            <a:ext cx="1737360" cy="502920"/>
          </a:xfrm>
          <a:prstGeom prst="rect">
            <a:avLst/>
          </a:prstGeom>
          <a:noFill/>
        </p:spPr>
        <p:txBody>
          <a:bodyPr wrap="square">
            <a:spAutoFit/>
          </a:bodyPr>
          <a:lstStyle/>
          <a:p>
            <a:pPr algn="ctr"/>
            <a:r>
              <a:rPr sz="1600" b="1" i="0">
                <a:solidFill>
                  <a:srgbClr val="FFFFFF"/>
                </a:solidFill>
              </a:rPr>
              <a:t>✓</a:t>
            </a:r>
          </a:p>
        </p:txBody>
      </p:sp>
      <p:sp>
        <p:nvSpPr>
          <p:cNvPr id="72" name="Rectangle 71"/>
          <p:cNvSpPr/>
          <p:nvPr/>
        </p:nvSpPr>
        <p:spPr>
          <a:xfrm>
            <a:off x="6080760" y="3886200"/>
            <a:ext cx="1737360" cy="5029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080760" y="3886200"/>
            <a:ext cx="1737360" cy="502920"/>
          </a:xfrm>
          <a:prstGeom prst="rect">
            <a:avLst/>
          </a:prstGeom>
          <a:noFill/>
        </p:spPr>
        <p:txBody>
          <a:bodyPr wrap="square">
            <a:spAutoFit/>
          </a:bodyPr>
          <a:lstStyle/>
          <a:p>
            <a:pPr algn="ctr"/>
            <a:r>
              <a:rPr sz="1600" b="1" i="0">
                <a:solidFill>
                  <a:srgbClr val="FFFFFF"/>
                </a:solidFill>
              </a:rPr>
              <a:t>✓</a:t>
            </a:r>
          </a:p>
        </p:txBody>
      </p:sp>
      <p:sp>
        <p:nvSpPr>
          <p:cNvPr id="74" name="Rectangle 73"/>
          <p:cNvSpPr/>
          <p:nvPr/>
        </p:nvSpPr>
        <p:spPr>
          <a:xfrm>
            <a:off x="7818120" y="3886200"/>
            <a:ext cx="1737360" cy="5029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7818120" y="3886200"/>
            <a:ext cx="1737360" cy="502920"/>
          </a:xfrm>
          <a:prstGeom prst="rect">
            <a:avLst/>
          </a:prstGeom>
          <a:noFill/>
        </p:spPr>
        <p:txBody>
          <a:bodyPr wrap="square">
            <a:spAutoFit/>
          </a:bodyPr>
          <a:lstStyle/>
          <a:p>
            <a:pPr algn="ctr"/>
            <a:r>
              <a:rPr sz="1600" b="1" i="0">
                <a:solidFill>
                  <a:srgbClr val="FFFFFF"/>
                </a:solidFill>
              </a:rPr>
              <a:t>✓</a:t>
            </a:r>
          </a:p>
        </p:txBody>
      </p:sp>
      <p:sp>
        <p:nvSpPr>
          <p:cNvPr id="76" name="Rectangle 75"/>
          <p:cNvSpPr/>
          <p:nvPr/>
        </p:nvSpPr>
        <p:spPr>
          <a:xfrm>
            <a:off x="9555480" y="3886200"/>
            <a:ext cx="1737360" cy="5029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9555480" y="3886200"/>
            <a:ext cx="1737360" cy="502920"/>
          </a:xfrm>
          <a:prstGeom prst="rect">
            <a:avLst/>
          </a:prstGeom>
          <a:noFill/>
        </p:spPr>
        <p:txBody>
          <a:bodyPr wrap="square">
            <a:spAutoFit/>
          </a:bodyPr>
          <a:lstStyle/>
          <a:p>
            <a:pPr algn="ctr"/>
            <a:r>
              <a:rPr sz="1600" b="1" i="0">
                <a:solidFill>
                  <a:srgbClr val="FFFFFF"/>
                </a:solidFill>
              </a:rPr>
              <a:t>✓</a:t>
            </a:r>
          </a:p>
        </p:txBody>
      </p:sp>
      <p:sp>
        <p:nvSpPr>
          <p:cNvPr id="78" name="Rectangle 77"/>
          <p:cNvSpPr/>
          <p:nvPr/>
        </p:nvSpPr>
        <p:spPr>
          <a:xfrm>
            <a:off x="320040" y="4617720"/>
            <a:ext cx="11521440" cy="6858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457200" y="4690872"/>
            <a:ext cx="11247120" cy="548640"/>
          </a:xfrm>
          <a:prstGeom prst="rect">
            <a:avLst/>
          </a:prstGeom>
          <a:noFill/>
        </p:spPr>
        <p:txBody>
          <a:bodyPr wrap="square">
            <a:spAutoFit/>
          </a:bodyPr>
          <a:lstStyle/>
          <a:p>
            <a:pPr algn="l"/>
            <a:r>
              <a:rPr sz="1200" b="1" i="0">
                <a:solidFill>
                  <a:srgbClr val="0F172A"/>
                </a:solidFill>
              </a:rPr>
              <a:t>Our Moat:  Real-time collaborative contract drafting tools are our key differentiators, allowing multiple parties to engage dynamically.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0" y="182880"/>
            <a:ext cx="2377440" cy="320040"/>
          </a:xfrm>
          <a:prstGeom prst="rect">
            <a:avLst/>
          </a:prstGeom>
          <a:noFill/>
        </p:spPr>
        <p:txBody>
          <a:bodyPr wrap="square">
            <a:spAutoFit/>
          </a:bodyPr>
          <a:lstStyle/>
          <a:p>
            <a:pPr algn="r"/>
            <a:r>
              <a:rPr sz="800" b="0" i="0">
                <a:solidFill>
                  <a:srgbClr val="64748B"/>
                </a:solidFill>
              </a:rPr>
              <a:t>GO-TO-MARKET</a:t>
            </a:r>
          </a:p>
        </p:txBody>
      </p:sp>
      <p:sp>
        <p:nvSpPr>
          <p:cNvPr id="4" name="TextBox 3"/>
          <p:cNvSpPr txBox="1"/>
          <p:nvPr/>
        </p:nvSpPr>
        <p:spPr>
          <a:xfrm>
            <a:off x="320040" y="228600"/>
            <a:ext cx="11430000" cy="685800"/>
          </a:xfrm>
          <a:prstGeom prst="rect">
            <a:avLst/>
          </a:prstGeom>
          <a:noFill/>
        </p:spPr>
        <p:txBody>
          <a:bodyPr wrap="square">
            <a:spAutoFit/>
          </a:bodyPr>
          <a:lstStyle/>
          <a:p>
            <a:pPr algn="l"/>
            <a:r>
              <a:rPr sz="2800" b="1" i="0">
                <a:solidFill>
                  <a:srgbClr val="0F172A"/>
                </a:solidFill>
              </a:rPr>
              <a:t>Stage-based growth strategy.</a:t>
            </a:r>
          </a:p>
        </p:txBody>
      </p:sp>
      <p:sp>
        <p:nvSpPr>
          <p:cNvPr id="5" name="Rectangle 4"/>
          <p:cNvSpPr/>
          <p:nvPr/>
        </p:nvSpPr>
        <p:spPr>
          <a:xfrm>
            <a:off x="320040" y="1234440"/>
            <a:ext cx="1152144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417320"/>
            <a:ext cx="3749039" cy="3657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1417320"/>
            <a:ext cx="3749039" cy="365760"/>
          </a:xfrm>
          <a:prstGeom prst="rect">
            <a:avLst/>
          </a:prstGeom>
          <a:noFill/>
        </p:spPr>
        <p:txBody>
          <a:bodyPr wrap="square">
            <a:spAutoFit/>
          </a:bodyPr>
          <a:lstStyle/>
          <a:p>
            <a:pPr algn="ctr"/>
            <a:r>
              <a:rPr sz="1100" b="1" i="0">
                <a:solidFill>
                  <a:srgbClr val="FFFFFF"/>
                </a:solidFill>
              </a:rPr>
              <a:t>Phase 1 · 0→100</a:t>
            </a:r>
          </a:p>
        </p:txBody>
      </p:sp>
      <p:sp>
        <p:nvSpPr>
          <p:cNvPr id="8" name="Rectangle 7"/>
          <p:cNvSpPr/>
          <p:nvPr/>
        </p:nvSpPr>
        <p:spPr>
          <a:xfrm>
            <a:off x="320040" y="1783080"/>
            <a:ext cx="3749039" cy="23774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874520"/>
            <a:ext cx="3566159" cy="2194560"/>
          </a:xfrm>
          <a:prstGeom prst="rect">
            <a:avLst/>
          </a:prstGeom>
          <a:noFill/>
        </p:spPr>
        <p:txBody>
          <a:bodyPr wrap="square">
            <a:spAutoFit/>
          </a:bodyPr>
          <a:lstStyle/>
          <a:p>
            <a:pPr algn="l"/>
            <a:r>
              <a:rPr sz="1100" b="0" i="0">
                <a:solidFill>
                  <a:srgbClr val="0F172A"/>
                </a:solidFill>
              </a:rPr>
              <a:t>0-100 users: Manual outreach and community platform engagement to showcase value directly.</a:t>
            </a:r>
          </a:p>
        </p:txBody>
      </p:sp>
      <p:sp>
        <p:nvSpPr>
          <p:cNvPr id="10" name="Rectangle 9"/>
          <p:cNvSpPr/>
          <p:nvPr/>
        </p:nvSpPr>
        <p:spPr>
          <a:xfrm>
            <a:off x="4251959" y="1417320"/>
            <a:ext cx="3749039" cy="3657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51959" y="1417320"/>
            <a:ext cx="3749039" cy="365760"/>
          </a:xfrm>
          <a:prstGeom prst="rect">
            <a:avLst/>
          </a:prstGeom>
          <a:noFill/>
        </p:spPr>
        <p:txBody>
          <a:bodyPr wrap="square">
            <a:spAutoFit/>
          </a:bodyPr>
          <a:lstStyle/>
          <a:p>
            <a:pPr algn="ctr"/>
            <a:r>
              <a:rPr sz="1100" b="1" i="0">
                <a:solidFill>
                  <a:srgbClr val="FFFFFF"/>
                </a:solidFill>
              </a:rPr>
              <a:t>Phase 2 · 100→1K</a:t>
            </a:r>
          </a:p>
        </p:txBody>
      </p:sp>
      <p:sp>
        <p:nvSpPr>
          <p:cNvPr id="12" name="Rectangle 11"/>
          <p:cNvSpPr/>
          <p:nvPr/>
        </p:nvSpPr>
        <p:spPr>
          <a:xfrm>
            <a:off x="4251959" y="1783080"/>
            <a:ext cx="3749039" cy="23774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43399" y="1874520"/>
            <a:ext cx="3566159" cy="2194560"/>
          </a:xfrm>
          <a:prstGeom prst="rect">
            <a:avLst/>
          </a:prstGeom>
          <a:noFill/>
        </p:spPr>
        <p:txBody>
          <a:bodyPr wrap="square">
            <a:spAutoFit/>
          </a:bodyPr>
          <a:lstStyle/>
          <a:p>
            <a:pPr algn="l"/>
            <a:r>
              <a:rPr sz="1100" b="0" i="0">
                <a:solidFill>
                  <a:srgbClr val="0F172A"/>
                </a:solidFill>
              </a:rPr>
              <a:t>100-1K users: Introduce referral programs to incentivize word-of-mouth growth.</a:t>
            </a:r>
          </a:p>
        </p:txBody>
      </p:sp>
      <p:sp>
        <p:nvSpPr>
          <p:cNvPr id="14" name="Rectangle 13"/>
          <p:cNvSpPr/>
          <p:nvPr/>
        </p:nvSpPr>
        <p:spPr>
          <a:xfrm>
            <a:off x="8183878" y="1417320"/>
            <a:ext cx="3749039" cy="36576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83878" y="1417320"/>
            <a:ext cx="3749039" cy="365760"/>
          </a:xfrm>
          <a:prstGeom prst="rect">
            <a:avLst/>
          </a:prstGeom>
          <a:noFill/>
        </p:spPr>
        <p:txBody>
          <a:bodyPr wrap="square">
            <a:spAutoFit/>
          </a:bodyPr>
          <a:lstStyle/>
          <a:p>
            <a:pPr algn="ctr"/>
            <a:r>
              <a:rPr sz="1100" b="1" i="0">
                <a:solidFill>
                  <a:srgbClr val="FFFFFF"/>
                </a:solidFill>
              </a:rPr>
              <a:t>Phase 3 · 1K→10K</a:t>
            </a:r>
          </a:p>
        </p:txBody>
      </p:sp>
      <p:sp>
        <p:nvSpPr>
          <p:cNvPr id="16" name="Rectangle 15"/>
          <p:cNvSpPr/>
          <p:nvPr/>
        </p:nvSpPr>
        <p:spPr>
          <a:xfrm>
            <a:off x="8183878" y="1783080"/>
            <a:ext cx="3749039" cy="23774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5318" y="1874520"/>
            <a:ext cx="3566159" cy="2194560"/>
          </a:xfrm>
          <a:prstGeom prst="rect">
            <a:avLst/>
          </a:prstGeom>
          <a:noFill/>
        </p:spPr>
        <p:txBody>
          <a:bodyPr wrap="square">
            <a:spAutoFit/>
          </a:bodyPr>
          <a:lstStyle/>
          <a:p>
            <a:pPr algn="l"/>
            <a:r>
              <a:rPr sz="1100" b="0" i="0">
                <a:solidFill>
                  <a:srgbClr val="0F172A"/>
                </a:solidFill>
              </a:rPr>
              <a:t>1K-10K users: Form partnerships with freelancer platforms for co-branding opportunities and expanded reach.</a:t>
            </a:r>
          </a:p>
        </p:txBody>
      </p:sp>
      <p:sp>
        <p:nvSpPr>
          <p:cNvPr id="18" name="TextBox 17"/>
          <p:cNvSpPr txBox="1"/>
          <p:nvPr/>
        </p:nvSpPr>
        <p:spPr>
          <a:xfrm>
            <a:off x="320040" y="4572000"/>
            <a:ext cx="2743200" cy="365760"/>
          </a:xfrm>
          <a:prstGeom prst="rect">
            <a:avLst/>
          </a:prstGeom>
          <a:noFill/>
        </p:spPr>
        <p:txBody>
          <a:bodyPr wrap="square">
            <a:spAutoFit/>
          </a:bodyPr>
          <a:lstStyle/>
          <a:p>
            <a:pPr algn="l"/>
            <a:r>
              <a:rPr sz="1200" b="1" i="0">
                <a:solidFill>
                  <a:srgbClr val="0F172A"/>
                </a:solidFill>
              </a:rPr>
              <a:t>Primary Channels:</a:t>
            </a:r>
          </a:p>
        </p:txBody>
      </p:sp>
      <p:sp>
        <p:nvSpPr>
          <p:cNvPr id="19" name="TextBox 18"/>
          <p:cNvSpPr txBox="1"/>
          <p:nvPr/>
        </p:nvSpPr>
        <p:spPr>
          <a:xfrm>
            <a:off x="2560320" y="4572000"/>
            <a:ext cx="9326880" cy="365760"/>
          </a:xfrm>
          <a:prstGeom prst="rect">
            <a:avLst/>
          </a:prstGeom>
          <a:noFill/>
        </p:spPr>
        <p:txBody>
          <a:bodyPr wrap="square">
            <a:spAutoFit/>
          </a:bodyPr>
          <a:lstStyle/>
          <a:p>
            <a:pPr algn="l"/>
            <a:r>
              <a:rPr sz="1200" b="0" i="0">
                <a:solidFill>
                  <a:srgbClr val="64748B"/>
                </a:solidFill>
              </a:rPr>
              <a:t>Community engagement and freelancer platforms  ·  Content marketing educating freelancers  ·  Social media campaigns targeting younger audiences.</a:t>
            </a:r>
          </a:p>
        </p:txBody>
      </p:sp>
      <p:sp>
        <p:nvSpPr>
          <p:cNvPr id="20" name="Rectangle 19"/>
          <p:cNvSpPr/>
          <p:nvPr/>
        </p:nvSpPr>
        <p:spPr>
          <a:xfrm>
            <a:off x="320040" y="5120640"/>
            <a:ext cx="11521440" cy="731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5193792"/>
            <a:ext cx="11155680" cy="548640"/>
          </a:xfrm>
          <a:prstGeom prst="rect">
            <a:avLst/>
          </a:prstGeom>
          <a:noFill/>
        </p:spPr>
        <p:txBody>
          <a:bodyPr wrap="square">
            <a:spAutoFit/>
          </a:bodyPr>
          <a:lstStyle/>
          <a:p>
            <a:pPr algn="l"/>
            <a:r>
              <a:rPr sz="1200" b="1" i="0">
                <a:solidFill>
                  <a:srgbClr val="F59E0B"/>
                </a:solidFill>
              </a:rPr>
              <a:t>⭐  Number of contracts generated accurately within 48 hours — this is our commitment to efficiency and clarity.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0" y="182880"/>
            <a:ext cx="2377440" cy="320040"/>
          </a:xfrm>
          <a:prstGeom prst="rect">
            <a:avLst/>
          </a:prstGeom>
          <a:noFill/>
        </p:spPr>
        <p:txBody>
          <a:bodyPr wrap="square">
            <a:spAutoFit/>
          </a:bodyPr>
          <a:lstStyle/>
          <a:p>
            <a:pPr algn="r"/>
            <a:r>
              <a:rPr sz="800" b="0" i="0">
                <a:solidFill>
                  <a:srgbClr val="64748B"/>
                </a:solidFill>
              </a:rPr>
              <a:t>TEAM</a:t>
            </a:r>
          </a:p>
        </p:txBody>
      </p:sp>
      <p:sp>
        <p:nvSpPr>
          <p:cNvPr id="4" name="TextBox 3"/>
          <p:cNvSpPr txBox="1"/>
          <p:nvPr/>
        </p:nvSpPr>
        <p:spPr>
          <a:xfrm>
            <a:off x="320040" y="228600"/>
            <a:ext cx="11430000" cy="685800"/>
          </a:xfrm>
          <a:prstGeom prst="rect">
            <a:avLst/>
          </a:prstGeom>
          <a:noFill/>
        </p:spPr>
        <p:txBody>
          <a:bodyPr wrap="square">
            <a:spAutoFit/>
          </a:bodyPr>
          <a:lstStyle/>
          <a:p>
            <a:pPr algn="l"/>
            <a:r>
              <a:rPr sz="2800" b="1" i="0">
                <a:solidFill>
                  <a:srgbClr val="0F172A"/>
                </a:solidFill>
              </a:rPr>
              <a:t>Built by freelancers, for freelancers.</a:t>
            </a:r>
          </a:p>
        </p:txBody>
      </p:sp>
      <p:sp>
        <p:nvSpPr>
          <p:cNvPr id="5" name="Rectangle 4"/>
          <p:cNvSpPr/>
          <p:nvPr/>
        </p:nvSpPr>
        <p:spPr>
          <a:xfrm>
            <a:off x="320040" y="1234440"/>
            <a:ext cx="1152144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417320"/>
            <a:ext cx="11521440" cy="18288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508760"/>
            <a:ext cx="11155680" cy="1600200"/>
          </a:xfrm>
          <a:prstGeom prst="rect">
            <a:avLst/>
          </a:prstGeom>
          <a:noFill/>
        </p:spPr>
        <p:txBody>
          <a:bodyPr wrap="square">
            <a:spAutoFit/>
          </a:bodyPr>
          <a:lstStyle/>
          <a:p>
            <a:pPr algn="l"/>
            <a:r>
              <a:rPr sz="1400" b="0" i="1">
                <a:solidFill>
                  <a:srgbClr val="FFFFFF"/>
                </a:solidFill>
              </a:rPr>
              <a:t>Our team of experienced freelancers and legal experts deeply understands the pain points in contract management, combining industry knowledge with technical prowess.</a:t>
            </a:r>
          </a:p>
        </p:txBody>
      </p:sp>
      <p:sp>
        <p:nvSpPr>
          <p:cNvPr id="8" name="TextBox 7"/>
          <p:cNvSpPr txBox="1"/>
          <p:nvPr/>
        </p:nvSpPr>
        <p:spPr>
          <a:xfrm>
            <a:off x="320040" y="3429000"/>
            <a:ext cx="5486400" cy="365760"/>
          </a:xfrm>
          <a:prstGeom prst="rect">
            <a:avLst/>
          </a:prstGeom>
          <a:noFill/>
        </p:spPr>
        <p:txBody>
          <a:bodyPr wrap="square">
            <a:spAutoFit/>
          </a:bodyPr>
          <a:lstStyle/>
          <a:p>
            <a:pPr algn="l"/>
            <a:r>
              <a:rPr sz="1400" b="1" i="0">
                <a:solidFill>
                  <a:srgbClr val="0F172A"/>
                </a:solidFill>
              </a:rPr>
              <a:t>Key Hires Needed</a:t>
            </a:r>
          </a:p>
        </p:txBody>
      </p:sp>
      <p:sp>
        <p:nvSpPr>
          <p:cNvPr id="9" name="Rectangle 8"/>
          <p:cNvSpPr/>
          <p:nvPr/>
        </p:nvSpPr>
        <p:spPr>
          <a:xfrm>
            <a:off x="320040" y="3931920"/>
            <a:ext cx="54864"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840480"/>
            <a:ext cx="11064240" cy="411480"/>
          </a:xfrm>
          <a:prstGeom prst="rect">
            <a:avLst/>
          </a:prstGeom>
          <a:noFill/>
        </p:spPr>
        <p:txBody>
          <a:bodyPr wrap="square">
            <a:spAutoFit/>
          </a:bodyPr>
          <a:lstStyle/>
          <a:p>
            <a:pPr algn="l"/>
            <a:r>
              <a:rPr sz="1200" b="0" i="0">
                <a:solidFill>
                  <a:srgbClr val="0F172A"/>
                </a:solidFill>
              </a:rPr>
              <a:t>UX/UI Designer to refine user experience</a:t>
            </a:r>
          </a:p>
        </p:txBody>
      </p:sp>
      <p:sp>
        <p:nvSpPr>
          <p:cNvPr id="11" name="Rectangle 10"/>
          <p:cNvSpPr/>
          <p:nvPr/>
        </p:nvSpPr>
        <p:spPr>
          <a:xfrm>
            <a:off x="320040" y="4407408"/>
            <a:ext cx="54864"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4315968"/>
            <a:ext cx="11064240" cy="411480"/>
          </a:xfrm>
          <a:prstGeom prst="rect">
            <a:avLst/>
          </a:prstGeom>
          <a:noFill/>
        </p:spPr>
        <p:txBody>
          <a:bodyPr wrap="square">
            <a:spAutoFit/>
          </a:bodyPr>
          <a:lstStyle/>
          <a:p>
            <a:pPr algn="l"/>
            <a:r>
              <a:rPr sz="1200" b="0" i="0">
                <a:solidFill>
                  <a:srgbClr val="0F172A"/>
                </a:solidFill>
              </a:rPr>
              <a:t>Marketing Specialist to scale outreach efforts</a:t>
            </a:r>
          </a:p>
        </p:txBody>
      </p:sp>
      <p:sp>
        <p:nvSpPr>
          <p:cNvPr id="13" name="Rectangle 12"/>
          <p:cNvSpPr/>
          <p:nvPr/>
        </p:nvSpPr>
        <p:spPr>
          <a:xfrm>
            <a:off x="320040" y="4882896"/>
            <a:ext cx="54864"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4791456"/>
            <a:ext cx="11064240" cy="411480"/>
          </a:xfrm>
          <a:prstGeom prst="rect">
            <a:avLst/>
          </a:prstGeom>
          <a:noFill/>
        </p:spPr>
        <p:txBody>
          <a:bodyPr wrap="square">
            <a:spAutoFit/>
          </a:bodyPr>
          <a:lstStyle/>
          <a:p>
            <a:pPr algn="l"/>
            <a:r>
              <a:rPr sz="1200" b="0" i="0">
                <a:solidFill>
                  <a:srgbClr val="0F172A"/>
                </a:solidFill>
              </a:rPr>
              <a:t>Legal Advisor to ensure compliance and support.</a:t>
            </a:r>
          </a:p>
        </p:txBody>
      </p:sp>
      <p:sp>
        <p:nvSpPr>
          <p:cNvPr id="15" name="Rectangle 14"/>
          <p:cNvSpPr/>
          <p:nvPr/>
        </p:nvSpPr>
        <p:spPr>
          <a:xfrm>
            <a:off x="320040" y="5577840"/>
            <a:ext cx="11521440" cy="86868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5669280"/>
            <a:ext cx="11155680" cy="685800"/>
          </a:xfrm>
          <a:prstGeom prst="rect">
            <a:avLst/>
          </a:prstGeom>
          <a:noFill/>
        </p:spPr>
        <p:txBody>
          <a:bodyPr wrap="square">
            <a:spAutoFit/>
          </a:bodyPr>
          <a:lstStyle/>
          <a:p>
            <a:pPr algn="l"/>
            <a:r>
              <a:rPr sz="1100" b="0" i="1">
                <a:solidFill>
                  <a:srgbClr val="64748B"/>
                </a:solidFill>
              </a:rPr>
              <a:t>Advisors / Supporters:  Seeking seasoned advisors in legaltech and freelance space to enhance our strategy and outreach.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0" y="182880"/>
            <a:ext cx="2377440" cy="320040"/>
          </a:xfrm>
          <a:prstGeom prst="rect">
            <a:avLst/>
          </a:prstGeom>
          <a:noFill/>
        </p:spPr>
        <p:txBody>
          <a:bodyPr wrap="square">
            <a:spAutoFit/>
          </a:bodyPr>
          <a:lstStyle/>
          <a:p>
            <a:pPr algn="r"/>
            <a:r>
              <a:rPr sz="800" b="0" i="0">
                <a:solidFill>
                  <a:srgbClr val="64748B"/>
                </a:solidFill>
              </a:rPr>
              <a:t>FINANCIALS</a:t>
            </a:r>
          </a:p>
        </p:txBody>
      </p:sp>
      <p:sp>
        <p:nvSpPr>
          <p:cNvPr id="4" name="TextBox 3"/>
          <p:cNvSpPr txBox="1"/>
          <p:nvPr/>
        </p:nvSpPr>
        <p:spPr>
          <a:xfrm>
            <a:off x="320040" y="228600"/>
            <a:ext cx="11430000" cy="685800"/>
          </a:xfrm>
          <a:prstGeom prst="rect">
            <a:avLst/>
          </a:prstGeom>
          <a:noFill/>
        </p:spPr>
        <p:txBody>
          <a:bodyPr wrap="square">
            <a:spAutoFit/>
          </a:bodyPr>
          <a:lstStyle/>
          <a:p>
            <a:pPr algn="l"/>
            <a:r>
              <a:rPr sz="2800" b="1" i="0">
                <a:solidFill>
                  <a:srgbClr val="0F172A"/>
                </a:solidFill>
              </a:rPr>
              <a:t>Sustainable growth with strong financial metrics.</a:t>
            </a:r>
          </a:p>
        </p:txBody>
      </p:sp>
      <p:sp>
        <p:nvSpPr>
          <p:cNvPr id="5" name="Rectangle 4"/>
          <p:cNvSpPr/>
          <p:nvPr/>
        </p:nvSpPr>
        <p:spPr>
          <a:xfrm>
            <a:off x="320040" y="1234440"/>
            <a:ext cx="1152144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417320"/>
            <a:ext cx="2743200" cy="13716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1554480"/>
            <a:ext cx="2743200" cy="594360"/>
          </a:xfrm>
          <a:prstGeom prst="rect">
            <a:avLst/>
          </a:prstGeom>
          <a:noFill/>
        </p:spPr>
        <p:txBody>
          <a:bodyPr wrap="square">
            <a:spAutoFit/>
          </a:bodyPr>
          <a:lstStyle/>
          <a:p>
            <a:pPr algn="ctr"/>
            <a:r>
              <a:rPr sz="2800" b="1" i="0">
                <a:solidFill>
                  <a:srgbClr val="FFFFFF"/>
                </a:solidFill>
              </a:rPr>
              <a:t>$34,800 ARR</a:t>
            </a:r>
          </a:p>
        </p:txBody>
      </p:sp>
      <p:sp>
        <p:nvSpPr>
          <p:cNvPr id="8" name="TextBox 7"/>
          <p:cNvSpPr txBox="1"/>
          <p:nvPr/>
        </p:nvSpPr>
        <p:spPr>
          <a:xfrm>
            <a:off x="320040" y="2103120"/>
            <a:ext cx="2743200" cy="365760"/>
          </a:xfrm>
          <a:prstGeom prst="rect">
            <a:avLst/>
          </a:prstGeom>
          <a:noFill/>
        </p:spPr>
        <p:txBody>
          <a:bodyPr wrap="square">
            <a:spAutoFit/>
          </a:bodyPr>
          <a:lstStyle/>
          <a:p>
            <a:pPr algn="ctr"/>
            <a:r>
              <a:rPr sz="1000" b="0" i="0">
                <a:solidFill>
                  <a:srgbClr val="FFFFFF"/>
                </a:solidFill>
              </a:rPr>
              <a:t>ARR · Month 12</a:t>
            </a:r>
          </a:p>
        </p:txBody>
      </p:sp>
      <p:sp>
        <p:nvSpPr>
          <p:cNvPr id="9" name="Rectangle 8"/>
          <p:cNvSpPr/>
          <p:nvPr/>
        </p:nvSpPr>
        <p:spPr>
          <a:xfrm>
            <a:off x="3227832" y="1417320"/>
            <a:ext cx="2743200" cy="13716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27832" y="1554480"/>
            <a:ext cx="2743200" cy="594360"/>
          </a:xfrm>
          <a:prstGeom prst="rect">
            <a:avLst/>
          </a:prstGeom>
          <a:noFill/>
        </p:spPr>
        <p:txBody>
          <a:bodyPr wrap="square">
            <a:spAutoFit/>
          </a:bodyPr>
          <a:lstStyle/>
          <a:p>
            <a:pPr algn="ctr"/>
            <a:r>
              <a:rPr sz="2800" b="1" i="0">
                <a:solidFill>
                  <a:srgbClr val="FFFFFF"/>
                </a:solidFill>
              </a:rPr>
              <a:t>100 paying users</a:t>
            </a:r>
          </a:p>
        </p:txBody>
      </p:sp>
      <p:sp>
        <p:nvSpPr>
          <p:cNvPr id="11" name="TextBox 10"/>
          <p:cNvSpPr txBox="1"/>
          <p:nvPr/>
        </p:nvSpPr>
        <p:spPr>
          <a:xfrm>
            <a:off x="3227832" y="2103120"/>
            <a:ext cx="2743200" cy="365760"/>
          </a:xfrm>
          <a:prstGeom prst="rect">
            <a:avLst/>
          </a:prstGeom>
          <a:noFill/>
        </p:spPr>
        <p:txBody>
          <a:bodyPr wrap="square">
            <a:spAutoFit/>
          </a:bodyPr>
          <a:lstStyle/>
          <a:p>
            <a:pPr algn="ctr"/>
            <a:r>
              <a:rPr sz="1000" b="0" i="0">
                <a:solidFill>
                  <a:srgbClr val="FFFFFF"/>
                </a:solidFill>
              </a:rPr>
              <a:t>Paying Users · M12</a:t>
            </a:r>
          </a:p>
        </p:txBody>
      </p:sp>
      <p:sp>
        <p:nvSpPr>
          <p:cNvPr id="12" name="Rectangle 11"/>
          <p:cNvSpPr/>
          <p:nvPr/>
        </p:nvSpPr>
        <p:spPr>
          <a:xfrm>
            <a:off x="6135624" y="1417320"/>
            <a:ext cx="2743200" cy="13716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35624" y="1554480"/>
            <a:ext cx="2743200" cy="594360"/>
          </a:xfrm>
          <a:prstGeom prst="rect">
            <a:avLst/>
          </a:prstGeom>
          <a:noFill/>
        </p:spPr>
        <p:txBody>
          <a:bodyPr wrap="square">
            <a:spAutoFit/>
          </a:bodyPr>
          <a:lstStyle/>
          <a:p>
            <a:pPr algn="ctr"/>
            <a:r>
              <a:rPr sz="2800" b="1" i="0">
                <a:solidFill>
                  <a:srgbClr val="FFFFFF"/>
                </a:solidFill>
              </a:rPr>
              <a:t>12.08:1 LTV:CAC</a:t>
            </a:r>
          </a:p>
        </p:txBody>
      </p:sp>
      <p:sp>
        <p:nvSpPr>
          <p:cNvPr id="14" name="TextBox 13"/>
          <p:cNvSpPr txBox="1"/>
          <p:nvPr/>
        </p:nvSpPr>
        <p:spPr>
          <a:xfrm>
            <a:off x="6135624" y="2103120"/>
            <a:ext cx="2743200" cy="365760"/>
          </a:xfrm>
          <a:prstGeom prst="rect">
            <a:avLst/>
          </a:prstGeom>
          <a:noFill/>
        </p:spPr>
        <p:txBody>
          <a:bodyPr wrap="square">
            <a:spAutoFit/>
          </a:bodyPr>
          <a:lstStyle/>
          <a:p>
            <a:pPr algn="ctr"/>
            <a:r>
              <a:rPr sz="1000" b="0" i="0">
                <a:solidFill>
                  <a:srgbClr val="FFFFFF"/>
                </a:solidFill>
              </a:rPr>
              <a:t>LTV : CAC</a:t>
            </a:r>
          </a:p>
        </p:txBody>
      </p:sp>
      <p:sp>
        <p:nvSpPr>
          <p:cNvPr id="15" name="Rectangle 14"/>
          <p:cNvSpPr/>
          <p:nvPr/>
        </p:nvSpPr>
        <p:spPr>
          <a:xfrm>
            <a:off x="9043416" y="1417320"/>
            <a:ext cx="2743200" cy="13716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43416" y="1554480"/>
            <a:ext cx="2743200" cy="594360"/>
          </a:xfrm>
          <a:prstGeom prst="rect">
            <a:avLst/>
          </a:prstGeom>
          <a:noFill/>
        </p:spPr>
        <p:txBody>
          <a:bodyPr wrap="square">
            <a:spAutoFit/>
          </a:bodyPr>
          <a:lstStyle/>
          <a:p>
            <a:pPr algn="ctr"/>
            <a:r>
              <a:rPr sz="2800" b="1" i="0">
                <a:solidFill>
                  <a:srgbClr val="FFFFFF"/>
                </a:solidFill>
              </a:rPr>
              <a:t>Month 10</a:t>
            </a:r>
          </a:p>
        </p:txBody>
      </p:sp>
      <p:sp>
        <p:nvSpPr>
          <p:cNvPr id="17" name="TextBox 16"/>
          <p:cNvSpPr txBox="1"/>
          <p:nvPr/>
        </p:nvSpPr>
        <p:spPr>
          <a:xfrm>
            <a:off x="9043416" y="2103120"/>
            <a:ext cx="2743200" cy="365760"/>
          </a:xfrm>
          <a:prstGeom prst="rect">
            <a:avLst/>
          </a:prstGeom>
          <a:noFill/>
        </p:spPr>
        <p:txBody>
          <a:bodyPr wrap="square">
            <a:spAutoFit/>
          </a:bodyPr>
          <a:lstStyle/>
          <a:p>
            <a:pPr algn="ctr"/>
            <a:r>
              <a:rPr sz="1000" b="0" i="0">
                <a:solidFill>
                  <a:srgbClr val="FFFFFF"/>
                </a:solidFill>
              </a:rPr>
              <a:t>Break-Even</a:t>
            </a:r>
          </a:p>
        </p:txBody>
      </p:sp>
      <p:sp>
        <p:nvSpPr>
          <p:cNvPr id="18" name="Rectangle 17"/>
          <p:cNvSpPr/>
          <p:nvPr/>
        </p:nvSpPr>
        <p:spPr>
          <a:xfrm>
            <a:off x="320040" y="2953512"/>
            <a:ext cx="2743200" cy="109728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0040" y="3090672"/>
            <a:ext cx="2743200" cy="594360"/>
          </a:xfrm>
          <a:prstGeom prst="rect">
            <a:avLst/>
          </a:prstGeom>
          <a:noFill/>
        </p:spPr>
        <p:txBody>
          <a:bodyPr wrap="square">
            <a:spAutoFit/>
          </a:bodyPr>
          <a:lstStyle/>
          <a:p>
            <a:pPr algn="ctr"/>
            <a:r>
              <a:rPr sz="2800" b="1" i="0">
                <a:solidFill>
                  <a:srgbClr val="FFFFFF"/>
                </a:solidFill>
              </a:rPr>
              <a:t>$2,900 MRR</a:t>
            </a:r>
          </a:p>
        </p:txBody>
      </p:sp>
      <p:sp>
        <p:nvSpPr>
          <p:cNvPr id="20" name="TextBox 19"/>
          <p:cNvSpPr txBox="1"/>
          <p:nvPr/>
        </p:nvSpPr>
        <p:spPr>
          <a:xfrm>
            <a:off x="320040" y="3639312"/>
            <a:ext cx="2743200" cy="365760"/>
          </a:xfrm>
          <a:prstGeom prst="rect">
            <a:avLst/>
          </a:prstGeom>
          <a:noFill/>
        </p:spPr>
        <p:txBody>
          <a:bodyPr wrap="square">
            <a:spAutoFit/>
          </a:bodyPr>
          <a:lstStyle/>
          <a:p>
            <a:pPr algn="ctr"/>
            <a:r>
              <a:rPr sz="1000" b="0" i="0">
                <a:solidFill>
                  <a:srgbClr val="FFFFFF"/>
                </a:solidFill>
              </a:rPr>
              <a:t>MRR · Month 12</a:t>
            </a:r>
          </a:p>
        </p:txBody>
      </p:sp>
      <p:sp>
        <p:nvSpPr>
          <p:cNvPr id="21" name="Rectangle 20"/>
          <p:cNvSpPr/>
          <p:nvPr/>
        </p:nvSpPr>
        <p:spPr>
          <a:xfrm>
            <a:off x="3227832" y="2953512"/>
            <a:ext cx="2743200"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27832" y="3090672"/>
            <a:ext cx="2743200" cy="594360"/>
          </a:xfrm>
          <a:prstGeom prst="rect">
            <a:avLst/>
          </a:prstGeom>
          <a:noFill/>
        </p:spPr>
        <p:txBody>
          <a:bodyPr wrap="square">
            <a:spAutoFit/>
          </a:bodyPr>
          <a:lstStyle/>
          <a:p>
            <a:pPr algn="ctr"/>
            <a:r>
              <a:rPr sz="2800" b="1" i="0">
                <a:solidFill>
                  <a:srgbClr val="FFFFFF"/>
                </a:solidFill>
              </a:rPr>
              <a:t>75%</a:t>
            </a:r>
          </a:p>
        </p:txBody>
      </p:sp>
      <p:sp>
        <p:nvSpPr>
          <p:cNvPr id="23" name="TextBox 22"/>
          <p:cNvSpPr txBox="1"/>
          <p:nvPr/>
        </p:nvSpPr>
        <p:spPr>
          <a:xfrm>
            <a:off x="3227832" y="3639312"/>
            <a:ext cx="2743200" cy="365760"/>
          </a:xfrm>
          <a:prstGeom prst="rect">
            <a:avLst/>
          </a:prstGeom>
          <a:noFill/>
        </p:spPr>
        <p:txBody>
          <a:bodyPr wrap="square">
            <a:spAutoFit/>
          </a:bodyPr>
          <a:lstStyle/>
          <a:p>
            <a:pPr algn="ctr"/>
            <a:r>
              <a:rPr sz="1000" b="0" i="0">
                <a:solidFill>
                  <a:srgbClr val="FFFFFF"/>
                </a:solidFill>
              </a:rPr>
              <a:t>Gross Margin</a:t>
            </a:r>
          </a:p>
        </p:txBody>
      </p:sp>
      <p:sp>
        <p:nvSpPr>
          <p:cNvPr id="24" name="Rectangle 23"/>
          <p:cNvSpPr/>
          <p:nvPr/>
        </p:nvSpPr>
        <p:spPr>
          <a:xfrm>
            <a:off x="6135624" y="2953512"/>
            <a:ext cx="2743200" cy="109728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35624" y="3090672"/>
            <a:ext cx="2743200" cy="594360"/>
          </a:xfrm>
          <a:prstGeom prst="rect">
            <a:avLst/>
          </a:prstGeom>
          <a:noFill/>
        </p:spPr>
        <p:txBody>
          <a:bodyPr wrap="square">
            <a:spAutoFit/>
          </a:bodyPr>
          <a:lstStyle/>
          <a:p>
            <a:pPr algn="ctr"/>
            <a:r>
              <a:rPr sz="2800" b="1" i="0">
                <a:solidFill>
                  <a:srgbClr val="FFFFFF"/>
                </a:solidFill>
              </a:rPr>
              <a:t>-1.0 months</a:t>
            </a:r>
          </a:p>
        </p:txBody>
      </p:sp>
      <p:sp>
        <p:nvSpPr>
          <p:cNvPr id="26" name="TextBox 25"/>
          <p:cNvSpPr txBox="1"/>
          <p:nvPr/>
        </p:nvSpPr>
        <p:spPr>
          <a:xfrm>
            <a:off x="6135624" y="3639312"/>
            <a:ext cx="2743200" cy="365760"/>
          </a:xfrm>
          <a:prstGeom prst="rect">
            <a:avLst/>
          </a:prstGeom>
          <a:noFill/>
        </p:spPr>
        <p:txBody>
          <a:bodyPr wrap="square">
            <a:spAutoFit/>
          </a:bodyPr>
          <a:lstStyle/>
          <a:p>
            <a:pPr algn="ctr"/>
            <a:r>
              <a:rPr sz="1000" b="0" i="0">
                <a:solidFill>
                  <a:srgbClr val="FFFFFF"/>
                </a:solidFill>
              </a:rPr>
              <a:t>Runway</a:t>
            </a:r>
          </a:p>
        </p:txBody>
      </p:sp>
      <p:sp>
        <p:nvSpPr>
          <p:cNvPr id="27" name="Rectangle 26"/>
          <p:cNvSpPr/>
          <p:nvPr/>
        </p:nvSpPr>
        <p:spPr>
          <a:xfrm>
            <a:off x="9043416" y="2953512"/>
            <a:ext cx="2743200"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43416" y="3090672"/>
            <a:ext cx="2743200" cy="594360"/>
          </a:xfrm>
          <a:prstGeom prst="rect">
            <a:avLst/>
          </a:prstGeom>
          <a:noFill/>
        </p:spPr>
        <p:txBody>
          <a:bodyPr wrap="square">
            <a:spAutoFit/>
          </a:bodyPr>
          <a:lstStyle/>
          <a:p>
            <a:pPr algn="ctr"/>
            <a:r>
              <a:rPr sz="2800" b="1" i="0">
                <a:solidFill>
                  <a:srgbClr val="FFFFFF"/>
                </a:solidFill>
              </a:rPr>
              <a:t>$0</a:t>
            </a:r>
          </a:p>
        </p:txBody>
      </p:sp>
      <p:sp>
        <p:nvSpPr>
          <p:cNvPr id="29" name="TextBox 28"/>
          <p:cNvSpPr txBox="1"/>
          <p:nvPr/>
        </p:nvSpPr>
        <p:spPr>
          <a:xfrm>
            <a:off x="9043416" y="3639312"/>
            <a:ext cx="2743200" cy="365760"/>
          </a:xfrm>
          <a:prstGeom prst="rect">
            <a:avLst/>
          </a:prstGeom>
          <a:noFill/>
        </p:spPr>
        <p:txBody>
          <a:bodyPr wrap="square">
            <a:spAutoFit/>
          </a:bodyPr>
          <a:lstStyle/>
          <a:p>
            <a:pPr algn="ctr"/>
            <a:r>
              <a:rPr sz="1000" b="0" i="0">
                <a:solidFill>
                  <a:srgbClr val="FFFFFF"/>
                </a:solidFill>
              </a:rPr>
              <a:t>Raising</a:t>
            </a:r>
          </a:p>
        </p:txBody>
      </p:sp>
      <p:sp>
        <p:nvSpPr>
          <p:cNvPr id="30" name="TextBox 29"/>
          <p:cNvSpPr txBox="1"/>
          <p:nvPr/>
        </p:nvSpPr>
        <p:spPr>
          <a:xfrm>
            <a:off x="320040" y="4389120"/>
            <a:ext cx="11521440" cy="685800"/>
          </a:xfrm>
          <a:prstGeom prst="rect">
            <a:avLst/>
          </a:prstGeom>
          <a:noFill/>
        </p:spPr>
        <p:txBody>
          <a:bodyPr wrap="square">
            <a:spAutoFit/>
          </a:bodyPr>
          <a:lstStyle/>
          <a:p>
            <a:pPr algn="l"/>
            <a:r>
              <a:rPr sz="1200" b="0" i="1">
                <a:solidFill>
                  <a:srgbClr val="64748B"/>
                </a:solidFill>
              </a:rPr>
              <a:t>Our financial model indicates a stable transition to profitability by Month 10, driven primarily through organic growth as we refine our marketing strategies.</a:t>
            </a:r>
          </a:p>
        </p:txBody>
      </p:sp>
      <p:sp>
        <p:nvSpPr>
          <p:cNvPr id="31" name="Rectangle 30"/>
          <p:cNvSpPr/>
          <p:nvPr/>
        </p:nvSpPr>
        <p:spPr>
          <a:xfrm>
            <a:off x="320040" y="5212080"/>
            <a:ext cx="11521440" cy="5486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2920" y="5285232"/>
            <a:ext cx="11155680" cy="411480"/>
          </a:xfrm>
          <a:prstGeom prst="rect">
            <a:avLst/>
          </a:prstGeom>
          <a:noFill/>
        </p:spPr>
        <p:txBody>
          <a:bodyPr wrap="square">
            <a:spAutoFit/>
          </a:bodyPr>
          <a:lstStyle/>
          <a:p>
            <a:pPr algn="l"/>
            <a:r>
              <a:rPr sz="1000" b="0" i="0">
                <a:solidFill>
                  <a:srgbClr val="64748B"/>
                </a:solidFill>
              </a:rPr>
              <a:t>Assumptions:  Assuming steady user growth with an initial slow acquisition phase.  ·  Anticipated rise in conversion rates from free to paid plans.  ·  Maintaining churn significantly below industry average at 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E293B"/>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93408"/>
            <a:ext cx="12161520" cy="16459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0" y="182880"/>
            <a:ext cx="2377440" cy="320040"/>
          </a:xfrm>
          <a:prstGeom prst="rect">
            <a:avLst/>
          </a:prstGeom>
          <a:noFill/>
        </p:spPr>
        <p:txBody>
          <a:bodyPr wrap="square">
            <a:spAutoFit/>
          </a:bodyPr>
          <a:lstStyle/>
          <a:p>
            <a:pPr algn="r"/>
            <a:r>
              <a:rPr sz="800" b="0" i="0">
                <a:solidFill>
                  <a:srgbClr val="64748B"/>
                </a:solidFill>
              </a:rPr>
              <a:t>THE ASK</a:t>
            </a:r>
          </a:p>
        </p:txBody>
      </p:sp>
      <p:sp>
        <p:nvSpPr>
          <p:cNvPr id="5" name="TextBox 4"/>
          <p:cNvSpPr txBox="1"/>
          <p:nvPr/>
        </p:nvSpPr>
        <p:spPr>
          <a:xfrm>
            <a:off x="502920" y="274320"/>
            <a:ext cx="11430000" cy="731520"/>
          </a:xfrm>
          <a:prstGeom prst="rect">
            <a:avLst/>
          </a:prstGeom>
          <a:noFill/>
        </p:spPr>
        <p:txBody>
          <a:bodyPr wrap="square">
            <a:spAutoFit/>
          </a:bodyPr>
          <a:lstStyle/>
          <a:p>
            <a:pPr algn="l"/>
            <a:r>
              <a:rPr sz="2400" b="1" i="0">
                <a:solidFill>
                  <a:srgbClr val="FFFFFF"/>
                </a:solidFill>
              </a:rPr>
              <a:t>Join us in transforming freelance contracting.</a:t>
            </a:r>
          </a:p>
        </p:txBody>
      </p:sp>
      <p:sp>
        <p:nvSpPr>
          <p:cNvPr id="6" name="TextBox 5"/>
          <p:cNvSpPr txBox="1"/>
          <p:nvPr/>
        </p:nvSpPr>
        <p:spPr>
          <a:xfrm>
            <a:off x="502920" y="1005840"/>
            <a:ext cx="11430000" cy="685800"/>
          </a:xfrm>
          <a:prstGeom prst="rect">
            <a:avLst/>
          </a:prstGeom>
          <a:noFill/>
        </p:spPr>
        <p:txBody>
          <a:bodyPr wrap="square">
            <a:spAutoFit/>
          </a:bodyPr>
          <a:lstStyle/>
          <a:p>
            <a:pPr algn="l"/>
            <a:r>
              <a:rPr sz="3600" b="1" i="0">
                <a:solidFill>
                  <a:srgbClr val="F59E0B"/>
                </a:solidFill>
              </a:rPr>
              <a:t>$0 - Self-funded, focusing on organic growth.</a:t>
            </a:r>
          </a:p>
        </p:txBody>
      </p:sp>
      <p:sp>
        <p:nvSpPr>
          <p:cNvPr id="7" name="Rectangle 6"/>
          <p:cNvSpPr/>
          <p:nvPr/>
        </p:nvSpPr>
        <p:spPr>
          <a:xfrm>
            <a:off x="502920" y="1828800"/>
            <a:ext cx="2743200" cy="13716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920240"/>
            <a:ext cx="2560320" cy="1188720"/>
          </a:xfrm>
          <a:prstGeom prst="rect">
            <a:avLst/>
          </a:prstGeom>
          <a:noFill/>
        </p:spPr>
        <p:txBody>
          <a:bodyPr wrap="square">
            <a:spAutoFit/>
          </a:bodyPr>
          <a:lstStyle/>
          <a:p>
            <a:pPr algn="l"/>
            <a:r>
              <a:rPr sz="1100" b="0" i="0">
                <a:solidFill>
                  <a:srgbClr val="FFFFFF"/>
                </a:solidFill>
              </a:rPr>
              <a:t>Not applicable; bootstrapped model with a focus on organic strategies.</a:t>
            </a:r>
          </a:p>
        </p:txBody>
      </p:sp>
      <p:sp>
        <p:nvSpPr>
          <p:cNvPr id="9" name="Rectangle 8"/>
          <p:cNvSpPr/>
          <p:nvPr/>
        </p:nvSpPr>
        <p:spPr>
          <a:xfrm>
            <a:off x="3447288" y="1828800"/>
            <a:ext cx="2743200" cy="13716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38728" y="1920240"/>
            <a:ext cx="2560320" cy="1188720"/>
          </a:xfrm>
          <a:prstGeom prst="rect">
            <a:avLst/>
          </a:prstGeom>
          <a:noFill/>
        </p:spPr>
        <p:txBody>
          <a:bodyPr wrap="square">
            <a:spAutoFit/>
          </a:bodyPr>
          <a:lstStyle/>
          <a:p>
            <a:pPr algn="l"/>
            <a:r>
              <a:rPr sz="1100" b="0" i="0">
                <a:solidFill>
                  <a:srgbClr val="FFFFFF"/>
                </a:solidFill>
              </a:rPr>
              <a:t>Invest in user feedback to refine product.</a:t>
            </a:r>
          </a:p>
        </p:txBody>
      </p:sp>
      <p:sp>
        <p:nvSpPr>
          <p:cNvPr id="11" name="Rectangle 10"/>
          <p:cNvSpPr/>
          <p:nvPr/>
        </p:nvSpPr>
        <p:spPr>
          <a:xfrm>
            <a:off x="6391656" y="1828800"/>
            <a:ext cx="2743200" cy="13716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83096" y="1920240"/>
            <a:ext cx="2560320" cy="1188720"/>
          </a:xfrm>
          <a:prstGeom prst="rect">
            <a:avLst/>
          </a:prstGeom>
          <a:noFill/>
        </p:spPr>
        <p:txBody>
          <a:bodyPr wrap="square">
            <a:spAutoFit/>
          </a:bodyPr>
          <a:lstStyle/>
          <a:p>
            <a:pPr algn="l"/>
            <a:r>
              <a:rPr sz="1100" b="0" i="0">
                <a:solidFill>
                  <a:srgbClr val="FFFFFF"/>
                </a:solidFill>
              </a:rPr>
              <a:t>Minimize operational spending until breakeven is achieved.</a:t>
            </a:r>
          </a:p>
        </p:txBody>
      </p:sp>
      <p:sp>
        <p:nvSpPr>
          <p:cNvPr id="13" name="Rectangle 12"/>
          <p:cNvSpPr/>
          <p:nvPr/>
        </p:nvSpPr>
        <p:spPr>
          <a:xfrm>
            <a:off x="9336024" y="1828800"/>
            <a:ext cx="2743200" cy="13716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27464" y="1920240"/>
            <a:ext cx="2560320" cy="1188720"/>
          </a:xfrm>
          <a:prstGeom prst="rect">
            <a:avLst/>
          </a:prstGeom>
          <a:noFill/>
        </p:spPr>
        <p:txBody>
          <a:bodyPr wrap="square">
            <a:spAutoFit/>
          </a:bodyPr>
          <a:lstStyle/>
          <a:p>
            <a:pPr algn="l"/>
            <a:r>
              <a:rPr sz="1100" b="0" i="0">
                <a:solidFill>
                  <a:srgbClr val="FFFFFF"/>
                </a:solidFill>
              </a:rPr>
              <a:t>Realign marketing efforts focusing on community engagement.</a:t>
            </a:r>
          </a:p>
        </p:txBody>
      </p:sp>
      <p:sp>
        <p:nvSpPr>
          <p:cNvPr id="15" name="TextBox 14"/>
          <p:cNvSpPr txBox="1"/>
          <p:nvPr/>
        </p:nvSpPr>
        <p:spPr>
          <a:xfrm>
            <a:off x="502920" y="3383280"/>
            <a:ext cx="5486400" cy="365760"/>
          </a:xfrm>
          <a:prstGeom prst="rect">
            <a:avLst/>
          </a:prstGeom>
          <a:noFill/>
        </p:spPr>
        <p:txBody>
          <a:bodyPr wrap="square">
            <a:spAutoFit/>
          </a:bodyPr>
          <a:lstStyle/>
          <a:p>
            <a:pPr algn="l"/>
            <a:r>
              <a:rPr sz="1300" b="1" i="0">
                <a:solidFill>
                  <a:srgbClr val="E2E8F0"/>
                </a:solidFill>
              </a:rPr>
              <a:t>Milestones This Unlocks</a:t>
            </a:r>
          </a:p>
        </p:txBody>
      </p:sp>
      <p:sp>
        <p:nvSpPr>
          <p:cNvPr id="16" name="Rectangle 15"/>
          <p:cNvSpPr/>
          <p:nvPr/>
        </p:nvSpPr>
        <p:spPr>
          <a:xfrm>
            <a:off x="502920" y="3886200"/>
            <a:ext cx="54864"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3794760"/>
            <a:ext cx="11064240" cy="411480"/>
          </a:xfrm>
          <a:prstGeom prst="rect">
            <a:avLst/>
          </a:prstGeom>
          <a:noFill/>
        </p:spPr>
        <p:txBody>
          <a:bodyPr wrap="square">
            <a:spAutoFit/>
          </a:bodyPr>
          <a:lstStyle/>
          <a:p>
            <a:pPr algn="l"/>
            <a:r>
              <a:rPr sz="1200" b="0" i="0">
                <a:solidFill>
                  <a:srgbClr val="E2E8F0"/>
                </a:solidFill>
              </a:rPr>
              <a:t>Achieve breakeven by Month 10.</a:t>
            </a:r>
          </a:p>
        </p:txBody>
      </p:sp>
      <p:sp>
        <p:nvSpPr>
          <p:cNvPr id="18" name="Rectangle 17"/>
          <p:cNvSpPr/>
          <p:nvPr/>
        </p:nvSpPr>
        <p:spPr>
          <a:xfrm>
            <a:off x="502920" y="4343400"/>
            <a:ext cx="54864"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4251960"/>
            <a:ext cx="11064240" cy="411480"/>
          </a:xfrm>
          <a:prstGeom prst="rect">
            <a:avLst/>
          </a:prstGeom>
          <a:noFill/>
        </p:spPr>
        <p:txBody>
          <a:bodyPr wrap="square">
            <a:spAutoFit/>
          </a:bodyPr>
          <a:lstStyle/>
          <a:p>
            <a:pPr algn="l"/>
            <a:r>
              <a:rPr sz="1200" b="0" i="0">
                <a:solidFill>
                  <a:srgbClr val="E2E8F0"/>
                </a:solidFill>
              </a:rPr>
              <a:t>Expand user base to 1,000 by Month 12.</a:t>
            </a:r>
          </a:p>
        </p:txBody>
      </p:sp>
      <p:sp>
        <p:nvSpPr>
          <p:cNvPr id="20" name="Rectangle 19"/>
          <p:cNvSpPr/>
          <p:nvPr/>
        </p:nvSpPr>
        <p:spPr>
          <a:xfrm>
            <a:off x="502920" y="4800600"/>
            <a:ext cx="54864"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4709160"/>
            <a:ext cx="11064240" cy="411480"/>
          </a:xfrm>
          <a:prstGeom prst="rect">
            <a:avLst/>
          </a:prstGeom>
          <a:noFill/>
        </p:spPr>
        <p:txBody>
          <a:bodyPr wrap="square">
            <a:spAutoFit/>
          </a:bodyPr>
          <a:lstStyle/>
          <a:p>
            <a:pPr algn="l"/>
            <a:r>
              <a:rPr sz="1200" b="0" i="0">
                <a:solidFill>
                  <a:srgbClr val="E2E8F0"/>
                </a:solidFill>
              </a:rPr>
              <a:t>Roll out new features based on user insights and feedback.</a:t>
            </a:r>
          </a:p>
        </p:txBody>
      </p:sp>
      <p:sp>
        <p:nvSpPr>
          <p:cNvPr id="22" name="Rectangle 21"/>
          <p:cNvSpPr/>
          <p:nvPr/>
        </p:nvSpPr>
        <p:spPr>
          <a:xfrm>
            <a:off x="320040" y="5303520"/>
            <a:ext cx="11521440" cy="12801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5394960"/>
            <a:ext cx="11155680" cy="1097280"/>
          </a:xfrm>
          <a:prstGeom prst="rect">
            <a:avLst/>
          </a:prstGeom>
          <a:noFill/>
        </p:spPr>
        <p:txBody>
          <a:bodyPr wrap="square">
            <a:spAutoFit/>
          </a:bodyPr>
          <a:lstStyle/>
          <a:p>
            <a:pPr algn="ctr"/>
            <a:r>
              <a:rPr sz="1600" b="1" i="1">
                <a:solidFill>
                  <a:srgbClr val="FFFFFF"/>
                </a:solidFill>
              </a:rPr>
              <a:t>Freelancers across the U.S. are waiting for a smarter way to manage contracts. With CertaFolio, we’re not just meeting a need; we’re creating a movement. Join us in making contract management a breeze for every freelancer.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